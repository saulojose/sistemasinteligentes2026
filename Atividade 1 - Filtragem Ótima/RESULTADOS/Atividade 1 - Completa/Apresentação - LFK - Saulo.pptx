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7" r:id="rId2"/>
    <p:sldId id="270" r:id="rId3"/>
    <p:sldId id="325" r:id="rId4"/>
    <p:sldId id="324" r:id="rId5"/>
    <p:sldId id="333" r:id="rId6"/>
    <p:sldId id="332" r:id="rId7"/>
    <p:sldId id="334" r:id="rId8"/>
    <p:sldId id="335" r:id="rId9"/>
    <p:sldId id="379" r:id="rId10"/>
    <p:sldId id="328" r:id="rId11"/>
    <p:sldId id="338" r:id="rId12"/>
    <p:sldId id="351" r:id="rId13"/>
    <p:sldId id="353" r:id="rId14"/>
    <p:sldId id="354" r:id="rId15"/>
    <p:sldId id="352" r:id="rId16"/>
    <p:sldId id="339" r:id="rId17"/>
    <p:sldId id="355" r:id="rId18"/>
    <p:sldId id="368" r:id="rId19"/>
    <p:sldId id="367" r:id="rId20"/>
    <p:sldId id="340" r:id="rId21"/>
    <p:sldId id="369" r:id="rId22"/>
    <p:sldId id="370" r:id="rId23"/>
    <p:sldId id="371" r:id="rId24"/>
    <p:sldId id="341" r:id="rId25"/>
    <p:sldId id="372" r:id="rId26"/>
    <p:sldId id="373" r:id="rId27"/>
    <p:sldId id="374" r:id="rId28"/>
    <p:sldId id="342" r:id="rId29"/>
    <p:sldId id="375" r:id="rId30"/>
    <p:sldId id="376" r:id="rId31"/>
    <p:sldId id="377" r:id="rId32"/>
    <p:sldId id="329" r:id="rId33"/>
    <p:sldId id="378" r:id="rId34"/>
    <p:sldId id="380" r:id="rId35"/>
    <p:sldId id="273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191E"/>
    <a:srgbClr val="FFE5E5"/>
    <a:srgbClr val="E9F5FB"/>
    <a:srgbClr val="FFFFFF"/>
    <a:srgbClr val="2F9E41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5020" autoAdjust="0"/>
  </p:normalViewPr>
  <p:slideViewPr>
    <p:cSldViewPr snapToGrid="0">
      <p:cViewPr varScale="1">
        <p:scale>
          <a:sx n="78" d="100"/>
          <a:sy n="78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80AFB-2E3F-42DC-9796-A7A23E86EABD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C721C4-8263-461E-8B3B-AC8C523E11D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773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2AEAD-B871-745C-25F1-240FEA0AD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48777E-2E06-D8A3-057D-0141147A9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9C4ED1-A464-72AF-3406-3DB2072B3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F7D17D-DC9E-875A-D4F9-7EF647E1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675DBC-E339-37F0-1BCC-B3914BE6F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694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F1D6C-1D5D-A0B9-6455-90C4DF7F2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E15C5E-5A3E-97A0-E331-014C1F762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373B20-95FA-CCCD-76E7-7D1506497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73DA8-1764-085E-FBDF-BA8FED4E3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D27B59-8E2F-D65D-218D-8848CE64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039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25AEF6-BFCD-AF5F-E11F-05C2E54B3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63CFCD-BFFD-F010-885B-BA0231ED0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39062E-0F2F-9615-BE51-BB1C8F9B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04D0E3-D19E-8351-1C90-A9D248B8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91183-BC19-F62D-4919-CFDDADA9F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00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99B419-93F1-00B4-B822-0C6C55C31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ED323-33B2-1A19-3DE1-BE909EFB9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9B5E3E-5C8A-D639-F597-A7388C4DF0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A84E66-C891-2BDE-3196-3274E00BC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F74336-D9A7-389C-08F0-53DFF1BE8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DBB875-658F-3EAB-E4AC-177C7923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049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6AAA-0307-8322-5BA5-459C88AB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2A430E-ED16-B93D-C617-481CC93BB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107A939-EEE0-1546-EE90-BDE4279E4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6471581-0638-71C6-B3CF-1EBBB500D4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12D75F-1A72-DD02-134E-03270286B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78C5A5F-AAD8-5C1B-CBD2-154B017D4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F03B748-EFF7-51BA-F5D1-D723560F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05E4B8-92EC-8079-EEA1-0AFB07016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980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85FE2-55F1-168D-572C-199729C2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82A637A-7428-34D1-0CF0-A0E0825B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524F7-F631-DC22-1EE6-A65A457B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2D5828-13E0-BD36-EC26-45B02DE3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297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1EF7B4-754C-4D82-6EBA-C231A488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2FEDAF3-030A-AAE4-24FA-B8707B849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4F61E9-DD33-DD18-055B-A08C3F137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912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3F664C-4663-4CC6-64DC-4A1ED4EEA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A7D5E0-751D-22AC-6F81-DB39ECB5D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42A5B98-1D2E-7742-BD6E-6CD574205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25DA36-AA40-7B7E-E183-6EFFC1745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549C72-4A58-531F-134E-B2974359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E04949-A313-4E38-BDFD-E93CB5C2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374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4092F-5896-D22D-2112-8016CDCD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8022BE-5115-E31E-9DBA-C1838FDB5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686221-8440-F759-3714-3E267B5D7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E3106F-8AC5-86E3-5393-AAD57E1B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A6A1E77-1BFB-BFDE-4EAC-7EE39E9A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AF6B004-A6F2-C6BE-E0E6-AF3E44AA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51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2688D-1D26-B34B-8F01-8AEED2E2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01A4866-3D79-D6DA-78A0-6600A45AC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6EDC72-9E83-F7D4-353E-608AFE16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0120ED-27F9-F2F8-F5C8-E8431AD68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48F66A-490A-4C93-6B43-07F79D71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438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3D5CE6-6FC6-9E20-0073-B14D2E261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DAF59E-354D-FB95-572B-E0F308EBC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178D85-ECB0-5C33-720F-4352A483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1145E7-F369-2451-D6BC-92D43076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4E07FA-E87C-CFFC-2EB4-CEE0F665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8509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A475304-372F-B050-AC47-29D153D5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60DDA8-A757-6423-C510-7514400FB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46EB7F-73AB-00AB-E52A-ABDD6F076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315B1-8A60-47FC-9A9C-8EB8FFA1BE11}" type="datetimeFigureOut">
              <a:rPr lang="pt-BR" smtClean="0"/>
              <a:t>23/03/2026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C1BDC2-8CEA-962F-B2F7-799979B86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4B85AF-5142-5959-614B-DD93B12A7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C7841B-2EA5-4339-B732-6512BDB7242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821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7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png"/><Relationship Id="rId7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56.png"/><Relationship Id="rId5" Type="http://schemas.openxmlformats.org/officeDocument/2006/relationships/image" Target="../media/image51.png"/><Relationship Id="rId10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5" Type="http://schemas.openxmlformats.org/officeDocument/2006/relationships/image" Target="../media/image52.png"/><Relationship Id="rId10" Type="http://schemas.openxmlformats.org/officeDocument/2006/relationships/image" Target="../media/image71.png"/><Relationship Id="rId4" Type="http://schemas.openxmlformats.org/officeDocument/2006/relationships/image" Target="../media/image35.png"/><Relationship Id="rId9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2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35.png"/><Relationship Id="rId10" Type="http://schemas.openxmlformats.org/officeDocument/2006/relationships/image" Target="../media/image88.png"/><Relationship Id="rId4" Type="http://schemas.openxmlformats.org/officeDocument/2006/relationships/image" Target="../media/image83.png"/><Relationship Id="rId9" Type="http://schemas.openxmlformats.org/officeDocument/2006/relationships/image" Target="../media/image8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106.png"/><Relationship Id="rId3" Type="http://schemas.openxmlformats.org/officeDocument/2006/relationships/image" Target="../media/image100.png"/><Relationship Id="rId7" Type="http://schemas.openxmlformats.org/officeDocument/2006/relationships/image" Target="../media/image86.png"/><Relationship Id="rId12" Type="http://schemas.openxmlformats.org/officeDocument/2006/relationships/image" Target="../media/image10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104.png"/><Relationship Id="rId5" Type="http://schemas.openxmlformats.org/officeDocument/2006/relationships/image" Target="../media/image35.png"/><Relationship Id="rId10" Type="http://schemas.openxmlformats.org/officeDocument/2006/relationships/image" Target="../media/image103.png"/><Relationship Id="rId4" Type="http://schemas.openxmlformats.org/officeDocument/2006/relationships/image" Target="../media/image101.png"/><Relationship Id="rId9" Type="http://schemas.openxmlformats.org/officeDocument/2006/relationships/image" Target="../media/image10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github.com/SauloJose/SistemasInteligentes202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36D3A2E-52AE-4705-B182-7D672A273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501" y="4012642"/>
            <a:ext cx="9461682" cy="81814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Professor: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Dr. Antônio Marcus Nogueira Lima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Aluno: 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04A5047E-7E22-4696-AED2-4B5A3BF6E2F0}"/>
              </a:ext>
            </a:extLst>
          </p:cNvPr>
          <p:cNvSpPr txBox="1">
            <a:spLocks/>
          </p:cNvSpPr>
          <p:nvPr/>
        </p:nvSpPr>
        <p:spPr>
          <a:xfrm>
            <a:off x="1365159" y="3039035"/>
            <a:ext cx="9461682" cy="7799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ANÁLISE DA MODELAGEM DE ESPAÇO DE ESTADOS NA ESTIMAÇÃO DE SINAIS SENOIDAIS VIA FILTROS DE KALMAN LINEAR E ESTENDIDO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4C55D7-217E-66E1-0BA4-DB510E93A830}"/>
              </a:ext>
            </a:extLst>
          </p:cNvPr>
          <p:cNvSpPr txBox="1"/>
          <p:nvPr/>
        </p:nvSpPr>
        <p:spPr>
          <a:xfrm>
            <a:off x="3785419" y="6155110"/>
            <a:ext cx="4463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dirty="0"/>
              <a:t>saulo.jose.silva@ee.ufcg.edu.br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Logomarcas">
            <a:extLst>
              <a:ext uri="{FF2B5EF4-FFF2-40B4-BE49-F238E27FC236}">
                <a16:creationId xmlns:a16="http://schemas.microsoft.com/office/drawing/2014/main" id="{2FA05E7E-E458-9BA7-D4BC-D3F4C6FF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5397D17-0CD9-2E8A-9A91-4304C151E554}"/>
              </a:ext>
            </a:extLst>
          </p:cNvPr>
          <p:cNvSpPr txBox="1"/>
          <p:nvPr/>
        </p:nvSpPr>
        <p:spPr>
          <a:xfrm>
            <a:off x="3048866" y="2476025"/>
            <a:ext cx="6094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b="1" dirty="0">
                <a:latin typeface="Arial Black" panose="020B0A04020102020204" pitchFamily="34" charset="0"/>
                <a:cs typeface="Arial" panose="020B0604020202020204" pitchFamily="34" charset="0"/>
              </a:rPr>
              <a:t>SISTEMAS INTELIGENTES</a:t>
            </a:r>
            <a:endParaRPr lang="pt-BR" sz="20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57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AB643-7218-2B01-BCDA-649ADFCB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4F2F874-FC0B-56C2-8CB8-AF9C780E919F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6B4EAFF-A4D5-F2CA-1FDA-5F545B089B4A}"/>
              </a:ext>
            </a:extLst>
          </p:cNvPr>
          <p:cNvSpPr txBox="1"/>
          <p:nvPr/>
        </p:nvSpPr>
        <p:spPr>
          <a:xfrm>
            <a:off x="1223682" y="88788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Sumário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C535880-AE30-AD40-3D1C-D2DDC19274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29E21E1-0ACB-1AEF-B647-FC8B575FD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336" y="1665002"/>
            <a:ext cx="9778548" cy="4064483"/>
          </a:xfrm>
        </p:spPr>
        <p:txBody>
          <a:bodyPr numCol="1">
            <a:normAutofit/>
          </a:bodyPr>
          <a:lstStyle/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Introdução e Problema</a:t>
            </a: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Metodologia de Testes</a:t>
            </a: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Estudo de Casos e Análise de Resultados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Análise do Modelo 1;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Análise do Modelo 2;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Análise do Modelo 3;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Análise do Modelo 4;</a:t>
            </a:r>
          </a:p>
          <a:p>
            <a:pPr marL="800100" lvl="1" indent="-342900" algn="l">
              <a:lnSpc>
                <a:spcPct val="100000"/>
              </a:lnSpc>
              <a:buAutoNum type="arabicPeriod"/>
            </a:pP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Análise do Modelo 5;</a:t>
            </a:r>
            <a:endParaRPr 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100000"/>
              </a:lnSpc>
              <a:buAutoNum type="arabicPeriod"/>
            </a:pPr>
            <a:r>
              <a:rPr lang="pt-BR" sz="1800" b="1" dirty="0">
                <a:latin typeface="Arial" panose="020B0604020202020204" pitchFamily="34" charset="0"/>
                <a:cs typeface="Arial" panose="020B0604020202020204" pitchFamily="34" charset="0"/>
              </a:rPr>
              <a:t>Resultados e Conclusões</a:t>
            </a:r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Logomarcas">
            <a:extLst>
              <a:ext uri="{FF2B5EF4-FFF2-40B4-BE49-F238E27FC236}">
                <a16:creationId xmlns:a16="http://schemas.microsoft.com/office/drawing/2014/main" id="{649A176D-48AC-0BE4-8D78-2B7EB3A40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79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9E346-2BA3-9278-B81B-F259CB356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4691F2D-5E67-27D7-11BB-FC65E9B04AB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026BC8-0626-F3D1-5DB0-6F3B24233303}"/>
              </a:ext>
            </a:extLst>
          </p:cNvPr>
          <p:cNvSpPr txBox="1"/>
          <p:nvPr/>
        </p:nvSpPr>
        <p:spPr>
          <a:xfrm>
            <a:off x="1223682" y="887884"/>
            <a:ext cx="6533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REFERÊNCIAS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84971F-2561-58D6-13E5-04ED208A1610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8AE08B-1571-01EC-2798-854321F7C781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43BF8568-5B18-51FC-7FD4-BD6C73A04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3160" y="4295826"/>
            <a:ext cx="3990774" cy="1674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E987B027-855C-20B3-B7C1-3FEBC0B5C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3160" y="1673565"/>
            <a:ext cx="4655127" cy="22265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2DD544C4-E719-F01B-A8F3-587BE7316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0694" y="1673565"/>
            <a:ext cx="2752709" cy="4096602"/>
          </a:xfrm>
          <a:prstGeom prst="rect">
            <a:avLst/>
          </a:prstGeom>
        </p:spPr>
      </p:pic>
      <p:pic>
        <p:nvPicPr>
          <p:cNvPr id="18" name="Picture 2" descr="Logomarcas">
            <a:extLst>
              <a:ext uri="{FF2B5EF4-FFF2-40B4-BE49-F238E27FC236}">
                <a16:creationId xmlns:a16="http://schemas.microsoft.com/office/drawing/2014/main" id="{441594AE-DE8A-30E5-CAFD-91C707AD1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045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99785-CA8B-8FA9-3AC5-67434E369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5502C1A-A18F-763A-FD2B-D4D60EE6761A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D89BF88-18AB-21E9-81E1-FA9DC2B99D0E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6FF989A-3649-1B60-379D-480D16599E39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BDA669-3CA4-0CD4-76C9-D8C4370F7EFF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45361DBB-DF7E-384F-14C1-4B5D354825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572E076A-F880-445E-C0F2-ACF2059595FA}"/>
                  </a:ext>
                </a:extLst>
              </p:cNvPr>
              <p:cNvSpPr txBox="1"/>
              <p:nvPr/>
            </p:nvSpPr>
            <p:spPr>
              <a:xfrm>
                <a:off x="2060195" y="2110074"/>
                <a:ext cx="270285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pt-B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000" b="1" i="0" smtClean="0">
                          <a:latin typeface="Cambria Math" panose="02040503050406030204" pitchFamily="18" charset="0"/>
                        </a:rPr>
                        <m:t>𝐬𝐢𝐧</m:t>
                      </m:r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pt-BR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572E076A-F880-445E-C0F2-ACF205959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0195" y="2110074"/>
                <a:ext cx="2702856" cy="307777"/>
              </a:xfrm>
              <a:prstGeom prst="rect">
                <a:avLst/>
              </a:prstGeom>
              <a:blipFill>
                <a:blip r:embed="rId3"/>
                <a:stretch>
                  <a:fillRect l="-2257" t="-1961" r="-3160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Agrupar 49">
            <a:extLst>
              <a:ext uri="{FF2B5EF4-FFF2-40B4-BE49-F238E27FC236}">
                <a16:creationId xmlns:a16="http://schemas.microsoft.com/office/drawing/2014/main" id="{02EFC573-2BE1-FCF6-8410-B0595EECF7B5}"/>
              </a:ext>
            </a:extLst>
          </p:cNvPr>
          <p:cNvGrpSpPr/>
          <p:nvPr/>
        </p:nvGrpSpPr>
        <p:grpSpPr>
          <a:xfrm>
            <a:off x="5449962" y="1886762"/>
            <a:ext cx="5819048" cy="4190476"/>
            <a:chOff x="2879001" y="2171624"/>
            <a:chExt cx="5819048" cy="4190476"/>
          </a:xfrm>
        </p:grpSpPr>
        <p:pic>
          <p:nvPicPr>
            <p:cNvPr id="45" name="Imagem 44">
              <a:extLst>
                <a:ext uri="{FF2B5EF4-FFF2-40B4-BE49-F238E27FC236}">
                  <a16:creationId xmlns:a16="http://schemas.microsoft.com/office/drawing/2014/main" id="{BDF2A05E-A6BF-6CB7-62BC-18A242A6C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79001" y="2171624"/>
              <a:ext cx="5819048" cy="4190476"/>
            </a:xfrm>
            <a:prstGeom prst="rect">
              <a:avLst/>
            </a:prstGeom>
          </p:spPr>
        </p:pic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40AA2160-F0BA-D5B1-7A3C-452180368220}"/>
                </a:ext>
              </a:extLst>
            </p:cNvPr>
            <p:cNvCxnSpPr/>
            <p:nvPr/>
          </p:nvCxnSpPr>
          <p:spPr>
            <a:xfrm>
              <a:off x="4670323" y="2543627"/>
              <a:ext cx="0" cy="1638644"/>
            </a:xfrm>
            <a:prstGeom prst="straightConnector1">
              <a:avLst/>
            </a:prstGeom>
            <a:ln w="38100">
              <a:solidFill>
                <a:srgbClr val="CD191E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de Seta Reta 24">
              <a:extLst>
                <a:ext uri="{FF2B5EF4-FFF2-40B4-BE49-F238E27FC236}">
                  <a16:creationId xmlns:a16="http://schemas.microsoft.com/office/drawing/2014/main" id="{0627F0F1-AB49-3C71-6CF3-CCAE89F39D15}"/>
                </a:ext>
              </a:extLst>
            </p:cNvPr>
            <p:cNvCxnSpPr>
              <a:cxnSpLocks/>
            </p:cNvCxnSpPr>
            <p:nvPr/>
          </p:nvCxnSpPr>
          <p:spPr>
            <a:xfrm>
              <a:off x="3647769" y="4241068"/>
              <a:ext cx="1022554" cy="0"/>
            </a:xfrm>
            <a:prstGeom prst="straightConnector1">
              <a:avLst/>
            </a:prstGeom>
            <a:ln w="38100">
              <a:solidFill>
                <a:srgbClr val="CD191E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759DE08B-3E08-DB44-978A-175765C71586}"/>
                    </a:ext>
                  </a:extLst>
                </p:cNvPr>
                <p:cNvSpPr txBox="1"/>
                <p:nvPr/>
              </p:nvSpPr>
              <p:spPr>
                <a:xfrm>
                  <a:off x="3982065" y="4306659"/>
                  <a:ext cx="93406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l-GR" sz="1800" b="1" dirty="0">
                      <a:solidFill>
                        <a:srgbClr val="FF0000"/>
                      </a:solidFill>
                    </a:rPr>
                    <a:t>Γ</a:t>
                  </a:r>
                  <a:r>
                    <a:rPr lang="pt-BR" sz="1800" b="1" dirty="0">
                      <a:solidFill>
                        <a:srgbClr val="FF0000"/>
                      </a:solidFill>
                    </a:rPr>
                    <a:t>(</a:t>
                  </a:r>
                  <a14:m>
                    <m:oMath xmlns:m="http://schemas.openxmlformats.org/officeDocument/2006/math">
                      <m:r>
                        <a:rPr lang="pt-BR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𝝓</m:t>
                      </m:r>
                      <m:r>
                        <a:rPr lang="pt-BR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pt-BR" sz="1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pt-BR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CaixaDeTexto 32">
                  <a:extLst>
                    <a:ext uri="{FF2B5EF4-FFF2-40B4-BE49-F238E27FC236}">
                      <a16:creationId xmlns:a16="http://schemas.microsoft.com/office/drawing/2014/main" id="{759DE08B-3E08-DB44-978A-175765C715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2065" y="4306659"/>
                  <a:ext cx="93406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5882" t="-8333" b="-28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EAC8C837-DD1F-B671-2601-45E211C91347}"/>
                    </a:ext>
                  </a:extLst>
                </p:cNvPr>
                <p:cNvSpPr txBox="1"/>
                <p:nvPr/>
              </p:nvSpPr>
              <p:spPr>
                <a:xfrm>
                  <a:off x="4744571" y="3362949"/>
                  <a:ext cx="35855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pt-BR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𝒎</m:t>
                            </m:r>
                          </m:sub>
                        </m:sSub>
                      </m:oMath>
                    </m:oMathPara>
                  </a14:m>
                  <a:endParaRPr lang="pt-BR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CaixaDeTexto 33">
                  <a:extLst>
                    <a:ext uri="{FF2B5EF4-FFF2-40B4-BE49-F238E27FC236}">
                      <a16:creationId xmlns:a16="http://schemas.microsoft.com/office/drawing/2014/main" id="{EAC8C837-DD1F-B671-2601-45E211C913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4571" y="3362949"/>
                  <a:ext cx="358555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2203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1CF11F94-3ECA-4DCF-6CAB-EC298C76F7E5}"/>
                  </a:ext>
                </a:extLst>
              </p:cNvPr>
              <p:cNvSpPr txBox="1"/>
              <p:nvPr/>
            </p:nvSpPr>
            <p:spPr>
              <a:xfrm>
                <a:off x="1376273" y="2727981"/>
                <a:ext cx="3495360" cy="1945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chemeClr val="tx1"/>
                    </a:solidFill>
                  </a:rPr>
                  <a:t> – Amplitude;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pt-BR" sz="1600" dirty="0">
                    <a:solidFill>
                      <a:schemeClr val="tx1"/>
                    </a:solidFill>
                  </a:rPr>
                  <a:t> – frequência angular;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pt-BR" sz="1600" dirty="0">
                    <a:solidFill>
                      <a:schemeClr val="tx1"/>
                    </a:solidFill>
                  </a:rPr>
                  <a:t>- Defasagem angular;</a:t>
                </a:r>
              </a:p>
              <a:p>
                <a:pPr>
                  <a:lnSpc>
                    <a:spcPct val="150000"/>
                  </a:lnSpc>
                </a:pPr>
                <a:r>
                  <a:rPr lang="el-GR" sz="1600" dirty="0">
                    <a:solidFill>
                      <a:schemeClr val="tx1"/>
                    </a:solidFill>
                  </a:rPr>
                  <a:t>Γ</a:t>
                </a:r>
                <a:r>
                  <a:rPr lang="pt-BR" sz="1600" dirty="0">
                    <a:solidFill>
                      <a:schemeClr val="tx1"/>
                    </a:solidFill>
                  </a:rPr>
                  <a:t> – atraso no tempo;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1600" dirty="0"/>
                  <a:t>T – Período;</a:t>
                </a:r>
                <a:endParaRPr lang="pt-BR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1CF11F94-3ECA-4DCF-6CAB-EC298C76F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273" y="2727981"/>
                <a:ext cx="3495360" cy="1945213"/>
              </a:xfrm>
              <a:prstGeom prst="rect">
                <a:avLst/>
              </a:prstGeom>
              <a:blipFill>
                <a:blip r:embed="rId7"/>
                <a:stretch>
                  <a:fillRect l="-1047" b="-9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51EAC0D2-51BB-4A21-EF63-C731F1828114}"/>
              </a:ext>
            </a:extLst>
          </p:cNvPr>
          <p:cNvCxnSpPr>
            <a:cxnSpLocks/>
          </p:cNvCxnSpPr>
          <p:nvPr/>
        </p:nvCxnSpPr>
        <p:spPr>
          <a:xfrm>
            <a:off x="6553026" y="3982000"/>
            <a:ext cx="0" cy="20058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05551F69-A2C7-B69F-E664-FAA5C31003F3}"/>
              </a:ext>
            </a:extLst>
          </p:cNvPr>
          <p:cNvCxnSpPr>
            <a:cxnSpLocks/>
          </p:cNvCxnSpPr>
          <p:nvPr/>
        </p:nvCxnSpPr>
        <p:spPr>
          <a:xfrm>
            <a:off x="9399464" y="3897409"/>
            <a:ext cx="0" cy="217982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DB531BC0-2962-9905-DB34-D9FA76253EC5}"/>
              </a:ext>
            </a:extLst>
          </p:cNvPr>
          <p:cNvCxnSpPr>
            <a:cxnSpLocks/>
          </p:cNvCxnSpPr>
          <p:nvPr/>
        </p:nvCxnSpPr>
        <p:spPr>
          <a:xfrm>
            <a:off x="6553026" y="5996399"/>
            <a:ext cx="2846438" cy="0"/>
          </a:xfrm>
          <a:prstGeom prst="straightConnector1">
            <a:avLst/>
          </a:prstGeom>
          <a:ln w="38100">
            <a:solidFill>
              <a:srgbClr val="CD191E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5D1861AC-157D-3640-DD12-2F4A9B8F2E34}"/>
                  </a:ext>
                </a:extLst>
              </p:cNvPr>
              <p:cNvSpPr txBox="1"/>
              <p:nvPr/>
            </p:nvSpPr>
            <p:spPr>
              <a:xfrm>
                <a:off x="7796967" y="5996399"/>
                <a:ext cx="35855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</m:oMath>
                  </m:oMathPara>
                </a14:m>
                <a:endParaRPr lang="pt-BR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0" name="CaixaDeTexto 59">
                <a:extLst>
                  <a:ext uri="{FF2B5EF4-FFF2-40B4-BE49-F238E27FC236}">
                    <a16:creationId xmlns:a16="http://schemas.microsoft.com/office/drawing/2014/main" id="{5D1861AC-157D-3640-DD12-2F4A9B8F2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967" y="5996399"/>
                <a:ext cx="35855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5CD7E9C2-D419-3EE6-587B-FBEEF8FD731B}"/>
              </a:ext>
            </a:extLst>
          </p:cNvPr>
          <p:cNvSpPr txBox="1"/>
          <p:nvPr/>
        </p:nvSpPr>
        <p:spPr>
          <a:xfrm>
            <a:off x="1160530" y="1433489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Ideal</a:t>
            </a:r>
            <a:endParaRPr lang="pt-BR" sz="1400" b="1" u="sng" dirty="0"/>
          </a:p>
        </p:txBody>
      </p:sp>
    </p:spTree>
    <p:extLst>
      <p:ext uri="{BB962C8B-B14F-4D97-AF65-F5344CB8AC3E}">
        <p14:creationId xmlns:p14="http://schemas.microsoft.com/office/powerpoint/2010/main" val="3241151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B0617-AF7B-0800-05D4-03EB748F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F7D34B0-5699-BC90-1165-15A3C4E7A694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C9D68E9-1F78-9980-04F7-A857298250D9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CD8DC5-E5CC-B564-C5A7-663ACA39862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DEE7B1-07D9-21AC-FBFF-D68ADF7D20A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7059172A-94B7-B514-2B48-BAA916192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12DA8E9-5D4E-4BA5-9E2D-4F9E35CEFC63}"/>
                  </a:ext>
                </a:extLst>
              </p:cNvPr>
              <p:cNvSpPr txBox="1"/>
              <p:nvPr/>
            </p:nvSpPr>
            <p:spPr>
              <a:xfrm>
                <a:off x="1784840" y="1937181"/>
                <a:ext cx="361054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pt-BR" sz="20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</m:sSub>
                      <m:d>
                        <m:dPr>
                          <m:ctrlPr>
                            <a:rPr lang="pt-BR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pt-BR" sz="2000" b="1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pt-BR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000" b="1">
                          <a:latin typeface="Cambria Math" panose="02040503050406030204" pitchFamily="18" charset="0"/>
                        </a:rPr>
                        <m:t>𝐬𝐢</m:t>
                      </m:r>
                      <m:func>
                        <m:funcPr>
                          <m:ctrlPr>
                            <a:rPr lang="pt-BR" sz="20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pt-BR" sz="2000" b="1">
                              <a:latin typeface="Cambria Math" panose="02040503050406030204" pitchFamily="18" charset="0"/>
                            </a:rPr>
                            <m:t>𝐧</m:t>
                          </m:r>
                        </m:fName>
                        <m:e>
                          <m:d>
                            <m:dPr>
                              <m:ctrlPr>
                                <a:rPr lang="pt-BR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  <m:r>
                                <a:rPr lang="pt-BR" sz="2000" b="1" i="1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  <m:r>
                                <a:rPr lang="pt-BR" sz="2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</m:d>
                        </m:e>
                      </m:func>
                      <m:r>
                        <a:rPr lang="pt-BR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t-BR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b="1" dirty="0"/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F12DA8E9-5D4E-4BA5-9E2D-4F9E35CEF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840" y="1937181"/>
                <a:ext cx="3610540" cy="307777"/>
              </a:xfrm>
              <a:prstGeom prst="rect">
                <a:avLst/>
              </a:prstGeom>
              <a:blipFill>
                <a:blip r:embed="rId3"/>
                <a:stretch>
                  <a:fillRect l="-1520" t="-2000" r="-2365" b="-3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E9AFC0EC-DB0A-1859-1670-99C9B88BD928}"/>
                  </a:ext>
                </a:extLst>
              </p:cNvPr>
              <p:cNvSpPr txBox="1"/>
              <p:nvPr/>
            </p:nvSpPr>
            <p:spPr>
              <a:xfrm>
                <a:off x="1354186" y="2537171"/>
                <a:ext cx="2954584" cy="2271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sz="1600" dirty="0">
                    <a:solidFill>
                      <a:schemeClr val="tx1"/>
                    </a:solidFill>
                  </a:rPr>
                  <a:t> – Amplitude;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pt-BR" sz="1600" dirty="0">
                    <a:solidFill>
                      <a:schemeClr val="tx1"/>
                    </a:solidFill>
                  </a:rPr>
                  <a:t> – frequência angular;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pt-BR" sz="1600" dirty="0">
                    <a:solidFill>
                      <a:schemeClr val="tx1"/>
                    </a:solidFill>
                  </a:rPr>
                  <a:t>- Defasagem angular;</a:t>
                </a:r>
              </a:p>
              <a:p>
                <a:pPr>
                  <a:lnSpc>
                    <a:spcPct val="150000"/>
                  </a:lnSpc>
                </a:pPr>
                <a:r>
                  <a:rPr lang="el-GR" sz="1600" dirty="0">
                    <a:solidFill>
                      <a:schemeClr val="tx1"/>
                    </a:solidFill>
                  </a:rPr>
                  <a:t>Γ</a:t>
                </a:r>
                <a:r>
                  <a:rPr lang="pt-BR" sz="1600" dirty="0">
                    <a:solidFill>
                      <a:schemeClr val="tx1"/>
                    </a:solidFill>
                  </a:rPr>
                  <a:t> – atraso no tempo;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1600" dirty="0">
                    <a:solidFill>
                      <a:schemeClr val="tx1"/>
                    </a:solidFill>
                  </a:rPr>
                  <a:t>T – Período;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1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pt-BR" sz="1600" dirty="0">
                    <a:solidFill>
                      <a:srgbClr val="FF0000"/>
                    </a:solidFill>
                  </a:rPr>
                  <a:t>- Erro na medição.</a:t>
                </a: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E9AFC0EC-DB0A-1859-1670-99C9B88B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186" y="2537171"/>
                <a:ext cx="2954584" cy="2271584"/>
              </a:xfrm>
              <a:prstGeom prst="rect">
                <a:avLst/>
              </a:prstGeom>
              <a:blipFill>
                <a:blip r:embed="rId4"/>
                <a:stretch>
                  <a:fillRect l="-1031" b="-24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075D715D-96FA-6EE1-4F59-2076AF94F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498" y="1879862"/>
            <a:ext cx="5727567" cy="429393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B6C0FB9-08CB-733E-D469-F14EBE1EF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186" y="5000327"/>
            <a:ext cx="4188754" cy="1030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400" b="1" dirty="0"/>
              <a:t>Questionamento: </a:t>
            </a:r>
            <a:r>
              <a:rPr lang="pt-BR" sz="1400" dirty="0"/>
              <a:t>Como realizar a estimação de parâmetros de um sinal a partir de dados de saída corrompidos por ruído?</a:t>
            </a:r>
            <a:endParaRPr kumimoji="0" lang="pt-BR" altLang="pt-BR" sz="1400" i="1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7DFF816-ED88-FC19-9DBB-0879935E3012}"/>
              </a:ext>
            </a:extLst>
          </p:cNvPr>
          <p:cNvSpPr txBox="1"/>
          <p:nvPr/>
        </p:nvSpPr>
        <p:spPr>
          <a:xfrm>
            <a:off x="1223682" y="1401771"/>
            <a:ext cx="36105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observado por um sensor</a:t>
            </a:r>
            <a:endParaRPr lang="pt-BR" sz="1400" b="1" u="sng" dirty="0"/>
          </a:p>
        </p:txBody>
      </p:sp>
    </p:spTree>
    <p:extLst>
      <p:ext uri="{BB962C8B-B14F-4D97-AF65-F5344CB8AC3E}">
        <p14:creationId xmlns:p14="http://schemas.microsoft.com/office/powerpoint/2010/main" val="385374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29003-5AC8-D96A-D4E9-0879E228F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m 45">
            <a:extLst>
              <a:ext uri="{FF2B5EF4-FFF2-40B4-BE49-F238E27FC236}">
                <a16:creationId xmlns:a16="http://schemas.microsoft.com/office/drawing/2014/main" id="{4BEAB005-8664-8B4B-4E94-643BB3D43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801" y="1406477"/>
            <a:ext cx="5639078" cy="2831987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9EF1ABD-2120-F986-D407-1996805629B7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A205B80-B68E-91C9-4E1E-CE521491FACE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7FF0CF-ADAD-3D7C-F99C-2BF594D5448E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51625F-BD7C-808E-5FF4-B4C5A2E17BD2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2BF6B07D-38B7-97DF-0EDA-F63F8B367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59077870-D1F0-DE83-781A-7667FEDE3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613" y="1284257"/>
            <a:ext cx="4845063" cy="710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Abordagem do Filtro de Kalman:</a:t>
            </a:r>
            <a:b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pt-BR" sz="1200" dirty="0"/>
              <a:t>Estimador Estocástico Recursivo de Mínima Variância</a:t>
            </a:r>
            <a:endParaRPr kumimoji="0" lang="pt-BR" altLang="pt-BR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C232066-E541-260F-7B46-2FAB2B868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079" y="2785383"/>
            <a:ext cx="2279688" cy="100389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215A56E-6ED7-826C-6192-544D2EFDC3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750" y="4888106"/>
            <a:ext cx="2418736" cy="831440"/>
          </a:xfrm>
          <a:prstGeom prst="rect">
            <a:avLst/>
          </a:prstGeom>
        </p:spPr>
      </p:pic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E176A0B0-4F41-1880-4DAD-9CC243BCB33D}"/>
              </a:ext>
            </a:extLst>
          </p:cNvPr>
          <p:cNvCxnSpPr>
            <a:cxnSpLocks/>
          </p:cNvCxnSpPr>
          <p:nvPr/>
        </p:nvCxnSpPr>
        <p:spPr>
          <a:xfrm flipH="1">
            <a:off x="4061741" y="2850249"/>
            <a:ext cx="303151" cy="143978"/>
          </a:xfrm>
          <a:prstGeom prst="straightConnector1">
            <a:avLst/>
          </a:prstGeom>
          <a:ln>
            <a:solidFill>
              <a:srgbClr val="CD19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1843C09E-6C4C-F334-E48A-E244DFE665E5}"/>
              </a:ext>
            </a:extLst>
          </p:cNvPr>
          <p:cNvCxnSpPr>
            <a:cxnSpLocks/>
          </p:cNvCxnSpPr>
          <p:nvPr/>
        </p:nvCxnSpPr>
        <p:spPr>
          <a:xfrm flipH="1" flipV="1">
            <a:off x="4034190" y="3604681"/>
            <a:ext cx="303151" cy="137617"/>
          </a:xfrm>
          <a:prstGeom prst="straightConnector1">
            <a:avLst/>
          </a:prstGeom>
          <a:ln>
            <a:solidFill>
              <a:srgbClr val="CD191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A009907-F016-C76D-EDBF-16D72EA618D6}"/>
              </a:ext>
            </a:extLst>
          </p:cNvPr>
          <p:cNvSpPr txBox="1"/>
          <p:nvPr/>
        </p:nvSpPr>
        <p:spPr>
          <a:xfrm>
            <a:off x="4355602" y="2544948"/>
            <a:ext cx="2261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Ruído do Modelo</a:t>
            </a:r>
            <a:endParaRPr lang="pt-BR" sz="1400" b="1" dirty="0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1086892-AF43-3BD5-B3FC-9D00827A5D1C}"/>
              </a:ext>
            </a:extLst>
          </p:cNvPr>
          <p:cNvSpPr txBox="1"/>
          <p:nvPr/>
        </p:nvSpPr>
        <p:spPr>
          <a:xfrm>
            <a:off x="4257267" y="3767635"/>
            <a:ext cx="22614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Ruído da Medição</a:t>
            </a:r>
            <a:endParaRPr lang="pt-BR" sz="1400" b="1" dirty="0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A49E4B36-A466-CDC2-D755-0E0724F46FD5}"/>
              </a:ext>
            </a:extLst>
          </p:cNvPr>
          <p:cNvSpPr txBox="1"/>
          <p:nvPr/>
        </p:nvSpPr>
        <p:spPr>
          <a:xfrm>
            <a:off x="1140574" y="2084855"/>
            <a:ext cx="47686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 – Modelar os Sistemas (Espaço de Estados)</a:t>
            </a:r>
            <a:endParaRPr lang="pt-BR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984753AB-220E-C7D8-020C-4F5133BB20E6}"/>
              </a:ext>
            </a:extLst>
          </p:cNvPr>
          <p:cNvSpPr txBox="1"/>
          <p:nvPr/>
        </p:nvSpPr>
        <p:spPr>
          <a:xfrm>
            <a:off x="2146257" y="2510045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Não-Linear</a:t>
            </a:r>
            <a:endParaRPr lang="pt-BR" sz="1400" b="1" u="sng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7208670-C598-A3D5-F955-483A29AA11E8}"/>
              </a:ext>
            </a:extLst>
          </p:cNvPr>
          <p:cNvSpPr txBox="1"/>
          <p:nvPr/>
        </p:nvSpPr>
        <p:spPr>
          <a:xfrm>
            <a:off x="1410417" y="4538562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Linear</a:t>
            </a:r>
            <a:endParaRPr lang="pt-BR" sz="1400" b="1" u="sng" dirty="0"/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9234316A-C553-2C92-75AC-ADFBE6EE73A8}"/>
              </a:ext>
            </a:extLst>
          </p:cNvPr>
          <p:cNvGrpSpPr/>
          <p:nvPr/>
        </p:nvGrpSpPr>
        <p:grpSpPr>
          <a:xfrm>
            <a:off x="3752719" y="5087367"/>
            <a:ext cx="1779639" cy="667073"/>
            <a:chOff x="1533832" y="5466425"/>
            <a:chExt cx="1779639" cy="667073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8B115811-19EC-5B82-9516-AA96244F0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13119" y="5466425"/>
              <a:ext cx="1469317" cy="313957"/>
            </a:xfrm>
            <a:prstGeom prst="rect">
              <a:avLst/>
            </a:prstGeom>
          </p:spPr>
        </p:pic>
        <p:pic>
          <p:nvPicPr>
            <p:cNvPr id="58" name="Imagem 57">
              <a:extLst>
                <a:ext uri="{FF2B5EF4-FFF2-40B4-BE49-F238E27FC236}">
                  <a16:creationId xmlns:a16="http://schemas.microsoft.com/office/drawing/2014/main" id="{21F09EF2-0A32-7508-B8BF-5F2B4DD8B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21588" y="5824031"/>
              <a:ext cx="1460848" cy="292169"/>
            </a:xfrm>
            <a:prstGeom prst="rect">
              <a:avLst/>
            </a:prstGeom>
          </p:spPr>
        </p:pic>
        <p:sp>
          <p:nvSpPr>
            <p:cNvPr id="59" name="Retângulo 58">
              <a:extLst>
                <a:ext uri="{FF2B5EF4-FFF2-40B4-BE49-F238E27FC236}">
                  <a16:creationId xmlns:a16="http://schemas.microsoft.com/office/drawing/2014/main" id="{2C8B85B7-E342-D79B-1A0E-7DA73849405B}"/>
                </a:ext>
              </a:extLst>
            </p:cNvPr>
            <p:cNvSpPr/>
            <p:nvPr/>
          </p:nvSpPr>
          <p:spPr>
            <a:xfrm>
              <a:off x="1533832" y="5466425"/>
              <a:ext cx="1779639" cy="667073"/>
            </a:xfrm>
            <a:prstGeom prst="rect">
              <a:avLst/>
            </a:prstGeom>
            <a:noFill/>
            <a:ln>
              <a:solidFill>
                <a:srgbClr val="CD19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9BE095DB-7ACE-5694-B810-666D451E4633}"/>
              </a:ext>
            </a:extLst>
          </p:cNvPr>
          <p:cNvSpPr txBox="1"/>
          <p:nvPr/>
        </p:nvSpPr>
        <p:spPr>
          <a:xfrm>
            <a:off x="3713353" y="4603877"/>
            <a:ext cx="1971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Ruídos Gaussianos</a:t>
            </a:r>
            <a:endParaRPr lang="pt-BR" sz="1400" b="1" u="sng" dirty="0"/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817AC32A-F923-BD0F-BCC7-F31577743A5F}"/>
              </a:ext>
            </a:extLst>
          </p:cNvPr>
          <p:cNvGrpSpPr/>
          <p:nvPr/>
        </p:nvGrpSpPr>
        <p:grpSpPr>
          <a:xfrm>
            <a:off x="7750592" y="4617520"/>
            <a:ext cx="2822775" cy="1667817"/>
            <a:chOff x="7840941" y="4582885"/>
            <a:chExt cx="2822775" cy="1667817"/>
          </a:xfrm>
        </p:grpSpPr>
        <p:pic>
          <p:nvPicPr>
            <p:cNvPr id="65" name="Imagem 64">
              <a:extLst>
                <a:ext uri="{FF2B5EF4-FFF2-40B4-BE49-F238E27FC236}">
                  <a16:creationId xmlns:a16="http://schemas.microsoft.com/office/drawing/2014/main" id="{C354BC9C-7219-3285-CD9F-088D39EFC7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90549" y="5222838"/>
              <a:ext cx="2573167" cy="1021629"/>
            </a:xfrm>
            <a:prstGeom prst="rect">
              <a:avLst/>
            </a:prstGeom>
          </p:spPr>
        </p:pic>
        <p:pic>
          <p:nvPicPr>
            <p:cNvPr id="67" name="Imagem 66">
              <a:extLst>
                <a:ext uri="{FF2B5EF4-FFF2-40B4-BE49-F238E27FC236}">
                  <a16:creationId xmlns:a16="http://schemas.microsoft.com/office/drawing/2014/main" id="{BE92E1A8-66F1-8A45-B160-FE3822295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3962" y="4599268"/>
              <a:ext cx="2506343" cy="707053"/>
            </a:xfrm>
            <a:prstGeom prst="rect">
              <a:avLst/>
            </a:prstGeom>
          </p:spPr>
        </p:pic>
        <p:sp>
          <p:nvSpPr>
            <p:cNvPr id="68" name="Chave Esquerda 67">
              <a:extLst>
                <a:ext uri="{FF2B5EF4-FFF2-40B4-BE49-F238E27FC236}">
                  <a16:creationId xmlns:a16="http://schemas.microsoft.com/office/drawing/2014/main" id="{8A8375AC-36AC-78DF-8F67-03A66FB6AE8E}"/>
                </a:ext>
              </a:extLst>
            </p:cNvPr>
            <p:cNvSpPr/>
            <p:nvPr/>
          </p:nvSpPr>
          <p:spPr>
            <a:xfrm>
              <a:off x="7840941" y="4582885"/>
              <a:ext cx="380643" cy="1667817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3A1C3681-B275-FC61-EB4C-34192D7F1258}"/>
              </a:ext>
            </a:extLst>
          </p:cNvPr>
          <p:cNvCxnSpPr/>
          <p:nvPr/>
        </p:nvCxnSpPr>
        <p:spPr>
          <a:xfrm>
            <a:off x="5997676" y="1595770"/>
            <a:ext cx="0" cy="46486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3AF21339-BE4B-E43F-954F-DEAEB7306241}"/>
              </a:ext>
            </a:extLst>
          </p:cNvPr>
          <p:cNvSpPr txBox="1"/>
          <p:nvPr/>
        </p:nvSpPr>
        <p:spPr>
          <a:xfrm>
            <a:off x="6403278" y="5000814"/>
            <a:ext cx="16309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Equações do Processo iterativo</a:t>
            </a:r>
            <a:endParaRPr lang="pt-BR" sz="1400" b="1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3EE1E9E1-8AFF-98FE-4645-BD9B1DEA8784}"/>
              </a:ext>
            </a:extLst>
          </p:cNvPr>
          <p:cNvSpPr txBox="1"/>
          <p:nvPr/>
        </p:nvSpPr>
        <p:spPr>
          <a:xfrm>
            <a:off x="6181505" y="1681778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Diagrama</a:t>
            </a:r>
            <a:endParaRPr lang="pt-BR" sz="1400" b="1" u="sng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E0869CB-7580-6641-E93F-72FD843F1275}"/>
              </a:ext>
            </a:extLst>
          </p:cNvPr>
          <p:cNvGrpSpPr/>
          <p:nvPr/>
        </p:nvGrpSpPr>
        <p:grpSpPr>
          <a:xfrm>
            <a:off x="10989067" y="4792978"/>
            <a:ext cx="988513" cy="1253410"/>
            <a:chOff x="10989067" y="4792978"/>
            <a:chExt cx="988513" cy="125341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1AFB62B-3C5A-58AA-6C0D-996C9DC0D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989067" y="4792978"/>
              <a:ext cx="988513" cy="602923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70ADA479-9241-0809-8E7E-63DA2201F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989067" y="5596626"/>
              <a:ext cx="234183" cy="285703"/>
            </a:xfrm>
            <a:prstGeom prst="rect">
              <a:avLst/>
            </a:prstGeom>
          </p:spPr>
        </p:pic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F9ECC9E3-F274-01A9-C2C3-13B3FBE84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1464818" y="5546424"/>
              <a:ext cx="512762" cy="491689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6E193D5-D0D0-8088-3F5B-D539AA6EC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23536" r="58478"/>
            <a:stretch>
              <a:fillRect/>
            </a:stretch>
          </p:blipFill>
          <p:spPr>
            <a:xfrm>
              <a:off x="11255134" y="5443465"/>
              <a:ext cx="177800" cy="60292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6747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B3AC9-0E14-963E-63FF-65E524AF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AC5F665-F17F-EC8B-B072-9CE3689ECF35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69D13F2-081A-72A6-8757-9483AE9270F5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E789FB5-76A4-B04B-2B6E-A92D7B293E4C}"/>
              </a:ext>
            </a:extLst>
          </p:cNvPr>
          <p:cNvSpPr txBox="1"/>
          <p:nvPr/>
        </p:nvSpPr>
        <p:spPr>
          <a:xfrm>
            <a:off x="11602065" y="6637807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663F36-0E68-3382-B01D-FDFB20D27074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39095391-9DA8-AED0-47E2-FDDD0C696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68AC982-E64F-BE90-FD19-8A244CAC5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130" y="2203211"/>
            <a:ext cx="2279688" cy="100389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5B4D97F-9F68-4C3B-75CD-8AF12EC34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9925" y="3764660"/>
            <a:ext cx="2418736" cy="831440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63DBC678-C264-14BE-57EC-0CF25D9D4388}"/>
              </a:ext>
            </a:extLst>
          </p:cNvPr>
          <p:cNvSpPr txBox="1"/>
          <p:nvPr/>
        </p:nvSpPr>
        <p:spPr>
          <a:xfrm>
            <a:off x="2797405" y="2008248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Não-Linear</a:t>
            </a:r>
            <a:endParaRPr lang="pt-BR" sz="1400" b="1" u="sng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031B26D-B6F9-06AB-01F7-67DBC90B389A}"/>
              </a:ext>
            </a:extLst>
          </p:cNvPr>
          <p:cNvSpPr txBox="1"/>
          <p:nvPr/>
        </p:nvSpPr>
        <p:spPr>
          <a:xfrm>
            <a:off x="2943487" y="3360790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Linear</a:t>
            </a:r>
            <a:endParaRPr lang="pt-BR" sz="1400" b="1" u="sng" dirty="0"/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5C881DE0-766B-2444-16F3-2B6D5E8B73FF}"/>
              </a:ext>
            </a:extLst>
          </p:cNvPr>
          <p:cNvGrpSpPr/>
          <p:nvPr/>
        </p:nvGrpSpPr>
        <p:grpSpPr>
          <a:xfrm>
            <a:off x="2807250" y="5229386"/>
            <a:ext cx="1779639" cy="667073"/>
            <a:chOff x="1533832" y="5466425"/>
            <a:chExt cx="1779639" cy="667073"/>
          </a:xfrm>
        </p:grpSpPr>
        <p:pic>
          <p:nvPicPr>
            <p:cNvPr id="56" name="Imagem 55">
              <a:extLst>
                <a:ext uri="{FF2B5EF4-FFF2-40B4-BE49-F238E27FC236}">
                  <a16:creationId xmlns:a16="http://schemas.microsoft.com/office/drawing/2014/main" id="{38E33253-840E-F431-7D93-5BD9213E5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13119" y="5466425"/>
              <a:ext cx="1469317" cy="313957"/>
            </a:xfrm>
            <a:prstGeom prst="rect">
              <a:avLst/>
            </a:prstGeom>
          </p:spPr>
        </p:pic>
        <p:pic>
          <p:nvPicPr>
            <p:cNvPr id="58" name="Imagem 57">
              <a:extLst>
                <a:ext uri="{FF2B5EF4-FFF2-40B4-BE49-F238E27FC236}">
                  <a16:creationId xmlns:a16="http://schemas.microsoft.com/office/drawing/2014/main" id="{BF6BE5BC-2D9E-D525-1D4C-E2FF1F377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21588" y="5824031"/>
              <a:ext cx="1460848" cy="292169"/>
            </a:xfrm>
            <a:prstGeom prst="rect">
              <a:avLst/>
            </a:prstGeom>
          </p:spPr>
        </p:pic>
        <p:sp>
          <p:nvSpPr>
            <p:cNvPr id="59" name="Retângulo 58">
              <a:extLst>
                <a:ext uri="{FF2B5EF4-FFF2-40B4-BE49-F238E27FC236}">
                  <a16:creationId xmlns:a16="http://schemas.microsoft.com/office/drawing/2014/main" id="{1F99C292-1857-C6D3-3F57-F757017F074C}"/>
                </a:ext>
              </a:extLst>
            </p:cNvPr>
            <p:cNvSpPr/>
            <p:nvPr/>
          </p:nvSpPr>
          <p:spPr>
            <a:xfrm>
              <a:off x="1533832" y="5466425"/>
              <a:ext cx="1779639" cy="667073"/>
            </a:xfrm>
            <a:prstGeom prst="rect">
              <a:avLst/>
            </a:prstGeom>
            <a:noFill/>
            <a:ln>
              <a:solidFill>
                <a:srgbClr val="CD19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BCA7942-C16C-AD22-56B7-046D21A81086}"/>
              </a:ext>
            </a:extLst>
          </p:cNvPr>
          <p:cNvSpPr txBox="1"/>
          <p:nvPr/>
        </p:nvSpPr>
        <p:spPr>
          <a:xfrm>
            <a:off x="2711169" y="4747463"/>
            <a:ext cx="1971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Ruídos Gaussianos</a:t>
            </a:r>
            <a:endParaRPr lang="pt-BR" sz="1400" b="1" u="sng" dirty="0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5D3EE82-053E-5A55-8D53-A3A367EEC961}"/>
              </a:ext>
            </a:extLst>
          </p:cNvPr>
          <p:cNvSpPr/>
          <p:nvPr/>
        </p:nvSpPr>
        <p:spPr>
          <a:xfrm>
            <a:off x="5769257" y="3761519"/>
            <a:ext cx="786581" cy="55189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4B71D2A-7555-5673-95A0-84687531CF92}"/>
              </a:ext>
            </a:extLst>
          </p:cNvPr>
          <p:cNvSpPr txBox="1"/>
          <p:nvPr/>
        </p:nvSpPr>
        <p:spPr>
          <a:xfrm>
            <a:off x="7764949" y="2008248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Não-Linear</a:t>
            </a:r>
            <a:endParaRPr lang="pt-BR" sz="1400" b="1" u="sng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4833824-9D26-D451-E138-40E92FFD0AFD}"/>
              </a:ext>
            </a:extLst>
          </p:cNvPr>
          <p:cNvSpPr txBox="1"/>
          <p:nvPr/>
        </p:nvSpPr>
        <p:spPr>
          <a:xfrm>
            <a:off x="7937420" y="3406259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Modelo Linear</a:t>
            </a:r>
            <a:endParaRPr lang="pt-BR" sz="1400" b="1" u="sng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1ACCDB8B-4757-AC37-B8AF-4B261D9C2379}"/>
              </a:ext>
            </a:extLst>
          </p:cNvPr>
          <p:cNvSpPr txBox="1"/>
          <p:nvPr/>
        </p:nvSpPr>
        <p:spPr>
          <a:xfrm>
            <a:off x="7721429" y="4843198"/>
            <a:ext cx="19718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u="sng" dirty="0">
                <a:latin typeface="Arial" panose="020B0604020202020204" pitchFamily="34" charset="0"/>
                <a:cs typeface="Arial" panose="020B0604020202020204" pitchFamily="34" charset="0"/>
              </a:rPr>
              <a:t>Ruídos Gaussianos</a:t>
            </a:r>
            <a:endParaRPr lang="pt-BR" sz="1400" b="1" u="sng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FA603DD8-648C-D2D8-4DE5-AE545DB2CD15}"/>
              </a:ext>
            </a:extLst>
          </p:cNvPr>
          <p:cNvSpPr txBox="1"/>
          <p:nvPr/>
        </p:nvSpPr>
        <p:spPr>
          <a:xfrm>
            <a:off x="5348311" y="3340175"/>
            <a:ext cx="15490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DISCRETIZAR</a:t>
            </a:r>
            <a:endParaRPr lang="pt-BR" sz="1600" b="1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8F3CAB9B-D848-EABA-B104-E14AE9BB3C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3858" y="2293743"/>
            <a:ext cx="2342893" cy="980910"/>
          </a:xfrm>
          <a:prstGeom prst="rect">
            <a:avLst/>
          </a:prstGeom>
        </p:spPr>
      </p:pic>
      <p:sp>
        <p:nvSpPr>
          <p:cNvPr id="38" name="Retângulo 37">
            <a:extLst>
              <a:ext uri="{FF2B5EF4-FFF2-40B4-BE49-F238E27FC236}">
                <a16:creationId xmlns:a16="http://schemas.microsoft.com/office/drawing/2014/main" id="{CE7B2301-614F-A5DE-D05C-98D840778BB1}"/>
              </a:ext>
            </a:extLst>
          </p:cNvPr>
          <p:cNvSpPr/>
          <p:nvPr/>
        </p:nvSpPr>
        <p:spPr>
          <a:xfrm>
            <a:off x="2315815" y="1911660"/>
            <a:ext cx="2769479" cy="42516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0E9048E0-AB8E-636D-3049-C4BC8114DAD0}"/>
              </a:ext>
            </a:extLst>
          </p:cNvPr>
          <p:cNvSpPr/>
          <p:nvPr/>
        </p:nvSpPr>
        <p:spPr>
          <a:xfrm>
            <a:off x="7239802" y="1911659"/>
            <a:ext cx="2769479" cy="42516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062328B0-4AC2-F15F-1BB5-67D5B924CC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3493" y="3777459"/>
            <a:ext cx="2302095" cy="865863"/>
          </a:xfrm>
          <a:prstGeom prst="rect">
            <a:avLst/>
          </a:prstGeom>
        </p:spPr>
      </p:pic>
      <p:grpSp>
        <p:nvGrpSpPr>
          <p:cNvPr id="62" name="Agrupar 61">
            <a:extLst>
              <a:ext uri="{FF2B5EF4-FFF2-40B4-BE49-F238E27FC236}">
                <a16:creationId xmlns:a16="http://schemas.microsoft.com/office/drawing/2014/main" id="{FABA96DA-EE1F-D4E6-C4B2-2756356B37BE}"/>
              </a:ext>
            </a:extLst>
          </p:cNvPr>
          <p:cNvGrpSpPr/>
          <p:nvPr/>
        </p:nvGrpSpPr>
        <p:grpSpPr>
          <a:xfrm>
            <a:off x="7807665" y="5219408"/>
            <a:ext cx="1713897" cy="796846"/>
            <a:chOff x="7764949" y="5256968"/>
            <a:chExt cx="1713897" cy="796846"/>
          </a:xfrm>
        </p:grpSpPr>
        <p:pic>
          <p:nvPicPr>
            <p:cNvPr id="50" name="Imagem 49">
              <a:extLst>
                <a:ext uri="{FF2B5EF4-FFF2-40B4-BE49-F238E27FC236}">
                  <a16:creationId xmlns:a16="http://schemas.microsoft.com/office/drawing/2014/main" id="{6D8F8F45-A5A8-A622-EBBA-F2745D76B34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44584" y="5266946"/>
              <a:ext cx="1440060" cy="446916"/>
            </a:xfrm>
            <a:prstGeom prst="rect">
              <a:avLst/>
            </a:prstGeom>
          </p:spPr>
        </p:pic>
        <p:pic>
          <p:nvPicPr>
            <p:cNvPr id="52" name="Imagem 51">
              <a:extLst>
                <a:ext uri="{FF2B5EF4-FFF2-40B4-BE49-F238E27FC236}">
                  <a16:creationId xmlns:a16="http://schemas.microsoft.com/office/drawing/2014/main" id="{777367C4-7852-2A8E-EEB8-D14959793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004364" y="5649912"/>
              <a:ext cx="1320500" cy="367497"/>
            </a:xfrm>
            <a:prstGeom prst="rect">
              <a:avLst/>
            </a:prstGeom>
          </p:spPr>
        </p:pic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id="{4C901CF5-E229-FED1-DCA5-364C880E62A9}"/>
                </a:ext>
              </a:extLst>
            </p:cNvPr>
            <p:cNvSpPr/>
            <p:nvPr/>
          </p:nvSpPr>
          <p:spPr>
            <a:xfrm>
              <a:off x="7764949" y="5256968"/>
              <a:ext cx="1713897" cy="796846"/>
            </a:xfrm>
            <a:prstGeom prst="rect">
              <a:avLst/>
            </a:prstGeom>
            <a:noFill/>
            <a:ln>
              <a:solidFill>
                <a:srgbClr val="CD191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54B7ADC2-B63D-7F43-7D23-B83598427C68}"/>
              </a:ext>
            </a:extLst>
          </p:cNvPr>
          <p:cNvSpPr txBox="1"/>
          <p:nvPr/>
        </p:nvSpPr>
        <p:spPr>
          <a:xfrm>
            <a:off x="7893900" y="1551332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Tempo Discreto</a:t>
            </a:r>
            <a:endParaRPr lang="pt-BR" sz="1400" b="1" dirty="0"/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DA72793B-D32C-7BB4-2188-AE4556BA3F84}"/>
              </a:ext>
            </a:extLst>
          </p:cNvPr>
          <p:cNvSpPr txBox="1"/>
          <p:nvPr/>
        </p:nvSpPr>
        <p:spPr>
          <a:xfrm>
            <a:off x="2883640" y="1558544"/>
            <a:ext cx="17993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Tempo Contínuo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65176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402D-EFFB-71AF-920B-380C57574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26308A1-15B9-A680-1AA2-C19827A6BB1A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29628CD-09C9-6B27-D695-8381F982DFFD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189437-FA18-4F1B-AE9F-FDED46C42617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4C470E-D79A-F635-73D3-5A67D23347CE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D33618DF-7EBA-94B1-4699-BC337D060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CA95CD9E-063D-74C8-9A78-3F35258C9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613" y="1301222"/>
            <a:ext cx="4845063" cy="4160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pt-BR" altLang="pt-B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Análise da Discretização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09F4258-1E1F-3F4F-2EDA-703EBECD7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302" y="5593807"/>
            <a:ext cx="2843617" cy="700248"/>
          </a:xfrm>
          <a:prstGeom prst="rect">
            <a:avLst/>
          </a:prstGeom>
          <a:ln>
            <a:solidFill>
              <a:srgbClr val="CD191E"/>
            </a:solidFill>
          </a:ln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8AAEF76-734F-7889-6963-C945EB1DB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627" y="1956550"/>
            <a:ext cx="2476561" cy="478773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3D1E0B4-5AF9-951F-4D4E-5E640FA449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0904" y="2489198"/>
            <a:ext cx="5798796" cy="859081"/>
          </a:xfrm>
          <a:prstGeom prst="rect">
            <a:avLst/>
          </a:prstGeom>
          <a:ln>
            <a:solidFill>
              <a:srgbClr val="CD191E"/>
            </a:solidFill>
          </a:ln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3F958322-D1B6-B044-3500-B83174A29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667" y="3691636"/>
            <a:ext cx="2382665" cy="501614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2063247F-7EAA-FBF3-1499-FFD1E9532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108" y="4193250"/>
            <a:ext cx="5845592" cy="841660"/>
          </a:xfrm>
          <a:prstGeom prst="rect">
            <a:avLst/>
          </a:prstGeom>
          <a:ln>
            <a:solidFill>
              <a:srgbClr val="CD191E"/>
            </a:solidFill>
          </a:ln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14D41AE2-1FDD-BB4C-9BE9-24F60655E3B9}"/>
              </a:ext>
            </a:extLst>
          </p:cNvPr>
          <p:cNvSpPr txBox="1"/>
          <p:nvPr/>
        </p:nvSpPr>
        <p:spPr>
          <a:xfrm>
            <a:off x="1152613" y="1813772"/>
            <a:ext cx="3302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1) Solução da transição de estados: </a:t>
            </a:r>
            <a:endParaRPr lang="pt-B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E2549EB-EB9B-6B57-AB40-C61C067F7D37}"/>
                  </a:ext>
                </a:extLst>
              </p:cNvPr>
              <p:cNvSpPr txBox="1"/>
              <p:nvPr/>
            </p:nvSpPr>
            <p:spPr>
              <a:xfrm>
                <a:off x="1152612" y="3407494"/>
                <a:ext cx="479928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2) Efeito da Discretização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40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1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sz="1400" b="0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k</m:t>
                        </m:r>
                      </m:sub>
                    </m:sSub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.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1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ΔT</m:t>
                    </m:r>
                    <m:r>
                      <a:rPr lang="pt-BR" sz="1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1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T</m:t>
                    </m:r>
                    <m:r>
                      <a:rPr lang="pt-BR" sz="14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pt-BR" sz="1400" dirty="0"/>
              </a:p>
            </p:txBody>
          </p:sp>
        </mc:Choice>
        <mc:Fallback xmlns=""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8E2549EB-EB9B-6B57-AB40-C61C067F7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612" y="3407494"/>
                <a:ext cx="4799283" cy="307777"/>
              </a:xfrm>
              <a:prstGeom prst="rect">
                <a:avLst/>
              </a:prstGeom>
              <a:blipFill>
                <a:blip r:embed="rId8"/>
                <a:stretch>
                  <a:fillRect l="-381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>
            <a:extLst>
              <a:ext uri="{FF2B5EF4-FFF2-40B4-BE49-F238E27FC236}">
                <a16:creationId xmlns:a16="http://schemas.microsoft.com/office/drawing/2014/main" id="{D49013F5-9A7B-1F83-EF93-D30CB129DC71}"/>
              </a:ext>
            </a:extLst>
          </p:cNvPr>
          <p:cNvSpPr txBox="1"/>
          <p:nvPr/>
        </p:nvSpPr>
        <p:spPr>
          <a:xfrm>
            <a:off x="1152613" y="5166890"/>
            <a:ext cx="3302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3) Covariância da Discretização:</a:t>
            </a:r>
            <a:endParaRPr lang="pt-B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BF38D751-8342-9BF7-4FC7-77BFA666B0B7}"/>
                  </a:ext>
                </a:extLst>
              </p:cNvPr>
              <p:cNvSpPr txBox="1"/>
              <p:nvPr/>
            </p:nvSpPr>
            <p:spPr>
              <a:xfrm>
                <a:off x="3812741" y="5777221"/>
                <a:ext cx="1601721" cy="2977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𝐐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pt-BR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1" i="0" smtClean="0">
                        <a:latin typeface="Cambria Math" panose="02040503050406030204" pitchFamily="18" charset="0"/>
                      </a:rPr>
                      <m:t>𝐄</m:t>
                    </m:r>
                    <m:r>
                      <a:rPr lang="pt-BR" b="1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pt-BR" b="1" i="0" smtClean="0">
                        <a:latin typeface="Cambria Math" panose="02040503050406030204" pitchFamily="18" charset="0"/>
                      </a:rPr>
                      <m:t>.</m:t>
                    </m:r>
                    <m:sSubSup>
                      <m:sSubSupPr>
                        <m:ctrlPr>
                          <a:rPr lang="pt-BR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𝐰</m:t>
                        </m:r>
                      </m:e>
                      <m:sub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𝐤</m:t>
                        </m:r>
                      </m:sub>
                      <m:sup>
                        <m:r>
                          <a:rPr lang="pt-BR" b="1" i="0" smtClean="0">
                            <a:latin typeface="Cambria Math" panose="02040503050406030204" pitchFamily="18" charset="0"/>
                          </a:rPr>
                          <m:t>𝐓</m:t>
                        </m:r>
                      </m:sup>
                    </m:sSubSup>
                  </m:oMath>
                </a14:m>
                <a:r>
                  <a:rPr lang="pt-BR" dirty="0"/>
                  <a:t>] </a:t>
                </a:r>
              </a:p>
            </p:txBody>
          </p:sp>
        </mc:Choice>
        <mc:Fallback xmlns="">
          <p:sp>
            <p:nvSpPr>
              <p:cNvPr id="30" name="CaixaDeTexto 29">
                <a:extLst>
                  <a:ext uri="{FF2B5EF4-FFF2-40B4-BE49-F238E27FC236}">
                    <a16:creationId xmlns:a16="http://schemas.microsoft.com/office/drawing/2014/main" id="{BF38D751-8342-9BF7-4FC7-77BFA666B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741" y="5777221"/>
                <a:ext cx="1601721" cy="297774"/>
              </a:xfrm>
              <a:prstGeom prst="rect">
                <a:avLst/>
              </a:prstGeom>
              <a:blipFill>
                <a:blip r:embed="rId9"/>
                <a:stretch>
                  <a:fillRect l="-6464" t="-18367" r="-7985" b="-4693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78FFF8AC-8809-2742-41E4-3ADB5D1BF523}"/>
              </a:ext>
            </a:extLst>
          </p:cNvPr>
          <p:cNvSpPr/>
          <p:nvPr/>
        </p:nvSpPr>
        <p:spPr>
          <a:xfrm>
            <a:off x="5625153" y="5830266"/>
            <a:ext cx="326743" cy="2526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5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79BC-9FA3-F517-9D35-FFE07205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CC78F7-7F7C-6681-EECF-CF0ECA3CF02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6C35E2-BEFB-35A6-EAC4-799648683099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 E PROBLEMA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5903CF-5014-17A1-CE59-E9ECF066612A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088918B-97E6-8DC5-7B9B-D4A1F1C5FAF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1855178D-8F41-BC4E-2154-427F0EE51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1BD216D-0ED1-4DA0-5726-AC777DE6E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2" y="1382667"/>
            <a:ext cx="4188754" cy="426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1600" b="1" dirty="0">
                <a:latin typeface="+mj-lt"/>
              </a:rPr>
              <a:t>OBJETIVO DO ESTUDO</a:t>
            </a:r>
            <a:endParaRPr kumimoji="0" lang="pt-BR" altLang="pt-BR" sz="160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242A09C-08A3-A8BB-F404-34D7F2731468}"/>
              </a:ext>
            </a:extLst>
          </p:cNvPr>
          <p:cNvSpPr txBox="1"/>
          <p:nvPr/>
        </p:nvSpPr>
        <p:spPr>
          <a:xfrm>
            <a:off x="1223682" y="2368620"/>
            <a:ext cx="97097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O objetivo deste trabalho consiste em realizar uma </a:t>
            </a:r>
            <a:r>
              <a:rPr lang="pt-BR" b="1" dirty="0"/>
              <a:t>análise comparativa </a:t>
            </a:r>
            <a:r>
              <a:rPr lang="pt-BR" dirty="0"/>
              <a:t>da </a:t>
            </a:r>
            <a:r>
              <a:rPr lang="pt-BR" b="1" dirty="0"/>
              <a:t>robustez</a:t>
            </a:r>
            <a:r>
              <a:rPr lang="pt-BR" dirty="0"/>
              <a:t> e </a:t>
            </a:r>
            <a:r>
              <a:rPr lang="pt-BR" b="1" dirty="0"/>
              <a:t>convergência</a:t>
            </a:r>
            <a:r>
              <a:rPr lang="pt-BR" dirty="0"/>
              <a:t> dos filtros </a:t>
            </a:r>
            <a:r>
              <a:rPr lang="pt-BR" b="1" dirty="0"/>
              <a:t>LKF</a:t>
            </a:r>
            <a:r>
              <a:rPr lang="pt-BR" dirty="0"/>
              <a:t> (Linear Kalman Filter) e </a:t>
            </a:r>
            <a:r>
              <a:rPr lang="pt-BR" b="1" dirty="0"/>
              <a:t>EKF</a:t>
            </a:r>
            <a:r>
              <a:rPr lang="pt-BR" dirty="0"/>
              <a:t> (</a:t>
            </a:r>
            <a:r>
              <a:rPr lang="pt-BR" dirty="0" err="1"/>
              <a:t>Extended</a:t>
            </a:r>
            <a:r>
              <a:rPr lang="pt-BR" dirty="0"/>
              <a:t> Kalman Filter) aplicados à estimação de </a:t>
            </a:r>
            <a:r>
              <a:rPr lang="pt-BR" b="1" dirty="0"/>
              <a:t>sinais</a:t>
            </a:r>
            <a:r>
              <a:rPr lang="pt-BR" dirty="0"/>
              <a:t> </a:t>
            </a:r>
            <a:r>
              <a:rPr lang="pt-BR" b="1" dirty="0"/>
              <a:t>senoidais associados a ruídos aleatórios;</a:t>
            </a:r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dirty="0"/>
              <a:t>Através de </a:t>
            </a:r>
            <a:r>
              <a:rPr lang="pt-BR" b="1" dirty="0"/>
              <a:t>cinco</a:t>
            </a:r>
            <a:r>
              <a:rPr lang="pt-BR" dirty="0"/>
              <a:t> </a:t>
            </a:r>
            <a:r>
              <a:rPr lang="pt-BR" b="1" dirty="0"/>
              <a:t>formulações</a:t>
            </a:r>
            <a:r>
              <a:rPr lang="pt-BR" dirty="0"/>
              <a:t> em </a:t>
            </a:r>
            <a:r>
              <a:rPr lang="pt-BR" b="1" dirty="0"/>
              <a:t>espaço</a:t>
            </a:r>
            <a:r>
              <a:rPr lang="pt-BR" dirty="0"/>
              <a:t> </a:t>
            </a:r>
            <a:r>
              <a:rPr lang="pt-BR" b="1" dirty="0"/>
              <a:t>de</a:t>
            </a:r>
            <a:r>
              <a:rPr lang="pt-BR" dirty="0"/>
              <a:t> </a:t>
            </a:r>
            <a:r>
              <a:rPr lang="pt-BR" b="1" dirty="0"/>
              <a:t>estados</a:t>
            </a:r>
            <a:r>
              <a:rPr lang="pt-BR" dirty="0"/>
              <a:t>, para o mesmo sinal, investiga-se a </a:t>
            </a:r>
            <a:r>
              <a:rPr lang="pt-BR" b="1" dirty="0"/>
              <a:t>sensibilidade</a:t>
            </a:r>
            <a:r>
              <a:rPr lang="pt-BR" dirty="0"/>
              <a:t> dos estimadores frente a </a:t>
            </a:r>
            <a:r>
              <a:rPr lang="pt-BR" b="1" dirty="0"/>
              <a:t>variações</a:t>
            </a:r>
            <a:r>
              <a:rPr lang="pt-BR" dirty="0"/>
              <a:t> nas </a:t>
            </a:r>
            <a:r>
              <a:rPr lang="pt-BR" b="1" dirty="0"/>
              <a:t>estimativas</a:t>
            </a:r>
            <a:r>
              <a:rPr lang="pt-BR" dirty="0"/>
              <a:t> </a:t>
            </a:r>
            <a:r>
              <a:rPr lang="pt-BR" b="1" dirty="0"/>
              <a:t>iniciais</a:t>
            </a:r>
            <a:r>
              <a:rPr lang="pt-BR" dirty="0"/>
              <a:t> e às </a:t>
            </a:r>
            <a:r>
              <a:rPr lang="pt-BR" b="1" dirty="0"/>
              <a:t>incertezas</a:t>
            </a:r>
            <a:r>
              <a:rPr lang="pt-BR" dirty="0"/>
              <a:t> </a:t>
            </a:r>
            <a:r>
              <a:rPr lang="pt-BR" b="1" dirty="0"/>
              <a:t>associadas</a:t>
            </a:r>
            <a:r>
              <a:rPr lang="pt-BR" dirty="0"/>
              <a:t> às covariâncias dos </a:t>
            </a:r>
            <a:r>
              <a:rPr lang="pt-BR" b="1" dirty="0"/>
              <a:t>ruídos</a:t>
            </a:r>
            <a:r>
              <a:rPr lang="pt-BR" dirty="0"/>
              <a:t> de </a:t>
            </a:r>
            <a:r>
              <a:rPr lang="pt-BR" b="1" dirty="0"/>
              <a:t>processo</a:t>
            </a:r>
            <a:r>
              <a:rPr lang="pt-BR" dirty="0"/>
              <a:t> e de </a:t>
            </a:r>
            <a:r>
              <a:rPr lang="pt-BR" b="1" dirty="0"/>
              <a:t>medição.</a:t>
            </a:r>
          </a:p>
        </p:txBody>
      </p:sp>
    </p:spTree>
    <p:extLst>
      <p:ext uri="{BB962C8B-B14F-4D97-AF65-F5344CB8AC3E}">
        <p14:creationId xmlns:p14="http://schemas.microsoft.com/office/powerpoint/2010/main" val="201884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1691E-0DB6-977A-2812-20DE0C16C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F4A77AE-98BF-6AB0-F12A-7C6E079269D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A9710B-BF0B-3D4E-0E41-FD3374605F7E}"/>
              </a:ext>
            </a:extLst>
          </p:cNvPr>
          <p:cNvSpPr txBox="1"/>
          <p:nvPr/>
        </p:nvSpPr>
        <p:spPr>
          <a:xfrm>
            <a:off x="1223682" y="887884"/>
            <a:ext cx="61701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2. METODOLOGIA DE TESTES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45CE97E-8B3E-E644-5E83-3B543B6AAC2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5403EF-73DD-01FA-8741-3BC7A54BCE43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A7F4A596-59DD-FBD7-5691-0A6049AB1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1">
            <a:extLst>
              <a:ext uri="{FF2B5EF4-FFF2-40B4-BE49-F238E27FC236}">
                <a16:creationId xmlns:a16="http://schemas.microsoft.com/office/drawing/2014/main" id="{8251D1FE-4E54-95BB-0133-C927E8DF6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681" y="1393583"/>
            <a:ext cx="9926099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Modelos Avaliados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1x Modelo Linear com Filtro </a:t>
            </a:r>
            <a:r>
              <a:rPr lang="pt-BR" altLang="pt-BR" sz="1400" b="1" dirty="0">
                <a:latin typeface="+mj-lt"/>
              </a:rPr>
              <a:t>LKF</a:t>
            </a:r>
            <a:r>
              <a:rPr lang="pt-BR" altLang="pt-BR" sz="1400" dirty="0">
                <a:latin typeface="+mj-lt"/>
              </a:rPr>
              <a:t> (</a:t>
            </a:r>
            <a:r>
              <a:rPr lang="pt-BR" sz="1400" dirty="0"/>
              <a:t>Linear Kalman Filter)</a:t>
            </a:r>
            <a:endParaRPr kumimoji="0" lang="pt-BR" altLang="pt-B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sz="1400" dirty="0">
                <a:latin typeface="+mj-lt"/>
              </a:rPr>
              <a:t>4x Modelos Não-Lineares com </a:t>
            </a:r>
            <a:r>
              <a:rPr lang="pt-BR" sz="1400" b="1" dirty="0">
                <a:latin typeface="+mj-lt"/>
              </a:rPr>
              <a:t>EKF</a:t>
            </a:r>
            <a:r>
              <a:rPr lang="pt-BR" sz="1400" dirty="0">
                <a:latin typeface="+mj-lt"/>
              </a:rPr>
              <a:t> (</a:t>
            </a:r>
            <a:r>
              <a:rPr lang="pt-BR" sz="1400" dirty="0" err="1"/>
              <a:t>Extended</a:t>
            </a:r>
            <a:r>
              <a:rPr lang="pt-BR" sz="1400" dirty="0"/>
              <a:t> Kalman Filter)</a:t>
            </a:r>
            <a:endParaRPr lang="pt-BR" sz="1400" dirty="0"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pt-BR" altLang="pt-BR" sz="14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b="1" i="1" u="sng" dirty="0">
                <a:latin typeface="+mj-lt"/>
              </a:rPr>
              <a:t>Avaliação de Sensibilidade</a:t>
            </a:r>
            <a:endParaRPr kumimoji="0" lang="pt-BR" altLang="pt-BR" sz="1600" b="1" i="1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Variação das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Estimativas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Iniciais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;</a:t>
            </a:r>
            <a:endParaRPr lang="pt-BR" altLang="pt-BR" sz="1400" dirty="0">
              <a:latin typeface="+mj-lt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Variação das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Covariâncias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dos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Ruídos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;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sz="1400" dirty="0"/>
              <a:t>Avaliação da </a:t>
            </a:r>
            <a:r>
              <a:rPr lang="pt-BR" sz="1400" b="1" dirty="0"/>
              <a:t>convergência</a:t>
            </a:r>
            <a:r>
              <a:rPr lang="pt-BR" sz="1400" dirty="0"/>
              <a:t> e </a:t>
            </a:r>
            <a:r>
              <a:rPr lang="pt-BR" sz="1400" b="1" dirty="0"/>
              <a:t>estabilidade</a:t>
            </a:r>
            <a:r>
              <a:rPr lang="pt-BR" sz="1400" dirty="0"/>
              <a:t>;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1" i="1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Teste de Estresse: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Alta incerteza no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Modelo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;</a:t>
            </a:r>
            <a:endParaRPr lang="pt-BR" sz="1400" dirty="0"/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Alta incerteza na </a:t>
            </a: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Medição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;</a:t>
            </a:r>
            <a:endParaRPr lang="pt-BR" sz="1400" dirty="0"/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pt-BR" altLang="pt-BR" sz="1400" dirty="0">
                <a:latin typeface="+mj-lt"/>
              </a:rPr>
              <a:t>Verificação da </a:t>
            </a:r>
            <a:r>
              <a:rPr lang="pt-BR" altLang="pt-BR" sz="1400" b="1" dirty="0">
                <a:latin typeface="+mj-lt"/>
              </a:rPr>
              <a:t>estabilidade</a:t>
            </a:r>
            <a:r>
              <a:rPr lang="pt-BR" altLang="pt-BR" sz="1400" dirty="0">
                <a:latin typeface="+mj-lt"/>
              </a:rPr>
              <a:t> do estimador;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Simula</a:t>
            </a:r>
            <a:r>
              <a:rPr lang="pt-BR" altLang="pt-BR" sz="1400" dirty="0">
                <a:latin typeface="+mj-lt"/>
              </a:rPr>
              <a:t>ção de </a:t>
            </a:r>
            <a:r>
              <a:rPr lang="pt-BR" altLang="pt-BR" sz="1400" b="1" dirty="0">
                <a:latin typeface="+mj-lt"/>
              </a:rPr>
              <a:t>Monte-Carlo</a:t>
            </a:r>
            <a:r>
              <a:rPr lang="pt-BR" altLang="pt-BR" sz="1400" dirty="0">
                <a:latin typeface="+mj-lt"/>
              </a:rPr>
              <a:t> para consistência dos resultados.</a:t>
            </a:r>
            <a:endParaRPr kumimoji="0" lang="pt-BR" altLang="pt-B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238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DE78A-67A9-8CF9-07E9-44410927E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06FF857-AB4C-32AA-8D48-2756516A8AB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22D907C-C32E-0E07-0418-97C3B4479AD6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04BF98D-088C-DF1F-D15E-AEDC02359485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82C4BE-44BB-87D2-D03D-67412D5ADE90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D4CED6DC-90D7-28DD-E7D9-F6E13F0D8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AC1457-1859-F010-DFBD-A834C5DB5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469" y="1956044"/>
            <a:ext cx="4054271" cy="17970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D1A6A463-EA5B-2498-674A-D464124DA4E6}"/>
                  </a:ext>
                </a:extLst>
              </p:cNvPr>
              <p:cNvSpPr txBox="1"/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1) Modelo 1 (Linear):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lit/>
                          </m:rP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r>
                          <a:rPr lang="pt-BR" sz="1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𝑿</m:t>
                        </m:r>
                        <m:r>
                          <a:rPr lang="pt-B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acc>
                              <m:accPr>
                                <m:chr m:val="̇"/>
                                <m:ctrlP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pt-BR" sz="1400" b="1" dirty="0"/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D1A6A463-EA5B-2498-674A-D464124DA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blipFill>
                <a:blip r:embed="rId4"/>
                <a:stretch>
                  <a:fillRect l="-296" b="-142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id="{721E344C-0B54-34E0-DDF5-4A3900E99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6993" y="4275389"/>
            <a:ext cx="1409242" cy="75239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686F38C-3FB1-E9F7-2106-1A45F90AF1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2351" y="5358055"/>
            <a:ext cx="3822508" cy="92155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23A582E-543A-A4AB-478A-45BE4F348486}"/>
              </a:ext>
            </a:extLst>
          </p:cNvPr>
          <p:cNvSpPr txBox="1"/>
          <p:nvPr/>
        </p:nvSpPr>
        <p:spPr>
          <a:xfrm>
            <a:off x="1378196" y="3934061"/>
            <a:ext cx="4363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e da medição: </a:t>
            </a:r>
            <a:endParaRPr lang="pt-BR" sz="14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1FED187-FBD8-DA96-F6CF-5660E4E4855F}"/>
              </a:ext>
            </a:extLst>
          </p:cNvPr>
          <p:cNvSpPr txBox="1"/>
          <p:nvPr/>
        </p:nvSpPr>
        <p:spPr>
          <a:xfrm>
            <a:off x="1378197" y="5061333"/>
            <a:ext cx="45998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discretizado: </a:t>
            </a:r>
            <a:endParaRPr lang="pt-BR" sz="1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4CEAF4-923B-0082-0BAD-E70B68D80F8D}"/>
              </a:ext>
            </a:extLst>
          </p:cNvPr>
          <p:cNvSpPr txBox="1"/>
          <p:nvPr/>
        </p:nvSpPr>
        <p:spPr>
          <a:xfrm>
            <a:off x="6450077" y="1642778"/>
            <a:ext cx="4518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Matrizes de transição de estado discretizada: </a:t>
            </a:r>
            <a:endParaRPr lang="pt-BR" sz="1400" b="1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32FCC7D1-6BA9-27FA-BC8A-33BC04724BB8}"/>
              </a:ext>
            </a:extLst>
          </p:cNvPr>
          <p:cNvCxnSpPr/>
          <p:nvPr/>
        </p:nvCxnSpPr>
        <p:spPr>
          <a:xfrm>
            <a:off x="6095999" y="1506111"/>
            <a:ext cx="0" cy="4698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agem 17">
            <a:extLst>
              <a:ext uri="{FF2B5EF4-FFF2-40B4-BE49-F238E27FC236}">
                <a16:creationId xmlns:a16="http://schemas.microsoft.com/office/drawing/2014/main" id="{67750880-318C-4C88-D5BE-DA7613187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111" y="1950555"/>
            <a:ext cx="1403776" cy="7625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083EAD9-A156-2EF1-E3A2-699751E83EE2}"/>
                  </a:ext>
                </a:extLst>
              </p:cNvPr>
              <p:cNvSpPr txBox="1"/>
              <p:nvPr/>
            </p:nvSpPr>
            <p:spPr>
              <a:xfrm>
                <a:off x="4333459" y="4438012"/>
                <a:ext cx="984647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𝑹</m:t>
                      </m:r>
                      <m:r>
                        <a:rPr lang="pt-BR" sz="18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pt-BR" sz="18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pt-B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pt-B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𝑚</m:t>
                          </m:r>
                        </m:sub>
                        <m:sup>
                          <m:r>
                            <a:rPr lang="pt-BR" sz="18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083EAD9-A156-2EF1-E3A2-699751E83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459" y="4438012"/>
                <a:ext cx="984647" cy="37555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Imagem 23">
            <a:extLst>
              <a:ext uri="{FF2B5EF4-FFF2-40B4-BE49-F238E27FC236}">
                <a16:creationId xmlns:a16="http://schemas.microsoft.com/office/drawing/2014/main" id="{652F8E49-E5B9-9765-20FF-F2480AA0D2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69921" y="2014075"/>
            <a:ext cx="946875" cy="663698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6A0AB80-EDBE-8B4F-B959-8A6648D54E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0163" y="3335476"/>
            <a:ext cx="4499986" cy="27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41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5D1F2-B860-EEF6-8BD8-2DD43E059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F0E4427-00A4-3BF8-8DD7-C82028228DE2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269BCE0-CC84-C294-4EDF-8EA38FD58B00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CA78E8-FE4E-BC92-EA07-F81515C2EA1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C54D4E-32E7-FF3E-A48C-92666D302273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041DE1E1-3315-7295-F74F-4DEAEF6D9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AF756B9-A4BE-4BAA-C52F-239D789DE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711" y="2262841"/>
            <a:ext cx="3794005" cy="390368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3AC5D2C-0AAA-2DCF-121F-1DD944A50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490" y="2133723"/>
            <a:ext cx="4593658" cy="403280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0713E0-DF4D-030D-F899-BC93BCAA91A9}"/>
              </a:ext>
            </a:extLst>
          </p:cNvPr>
          <p:cNvSpPr txBox="1"/>
          <p:nvPr/>
        </p:nvSpPr>
        <p:spPr>
          <a:xfrm>
            <a:off x="1236871" y="1441881"/>
            <a:ext cx="610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 1 –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x0 = [0,0]; 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(0.001, 0.001) e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=0.01 </a:t>
            </a:r>
            <a:endParaRPr lang="pt-BR" sz="1400" b="1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B926056-8511-DFE1-5FEA-EDFC044AAE33}"/>
              </a:ext>
            </a:extLst>
          </p:cNvPr>
          <p:cNvSpPr txBox="1"/>
          <p:nvPr/>
        </p:nvSpPr>
        <p:spPr>
          <a:xfrm>
            <a:off x="1932399" y="1896272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9617E76-F5B1-A6F1-8275-EFD5BBB91AFD}"/>
              </a:ext>
            </a:extLst>
          </p:cNvPr>
          <p:cNvSpPr txBox="1"/>
          <p:nvPr/>
        </p:nvSpPr>
        <p:spPr>
          <a:xfrm>
            <a:off x="7094916" y="1971478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629758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515F2-315F-DA25-A861-66B10AE0F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6C4460C-8F14-31B8-D4B4-3811FABCDB5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AA32CD7-17E1-76ED-2E1E-9022F8D0398F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9921D4-AF65-2D0C-967D-7593C91F94D4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C480A7-47BE-1A20-D080-C958922FF592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0F43C3F7-A393-DD7F-37FA-D2E372102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D17423A-9FDF-6CC2-F577-6E22DFA89C75}"/>
              </a:ext>
            </a:extLst>
          </p:cNvPr>
          <p:cNvSpPr txBox="1"/>
          <p:nvPr/>
        </p:nvSpPr>
        <p:spPr>
          <a:xfrm>
            <a:off x="1236871" y="1441881"/>
            <a:ext cx="610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 2 –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x0 = [0,1]; 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(0.001, 0.001) e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=0.01 </a:t>
            </a:r>
            <a:endParaRPr lang="pt-BR" sz="1400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293D46E-F2A9-F0F4-7E47-8DE873969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333" y="2187716"/>
            <a:ext cx="4436342" cy="392168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A0C5996-1B3D-913D-8F9F-F08FF9D6C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0185" y="2224972"/>
            <a:ext cx="3913055" cy="4026627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90C23240-4342-C849-F3C6-CB1B4AA669B6}"/>
              </a:ext>
            </a:extLst>
          </p:cNvPr>
          <p:cNvSpPr txBox="1"/>
          <p:nvPr/>
        </p:nvSpPr>
        <p:spPr>
          <a:xfrm>
            <a:off x="1932399" y="1896272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BDF981D-23F0-BA3A-72BC-912F5FFD9BFA}"/>
              </a:ext>
            </a:extLst>
          </p:cNvPr>
          <p:cNvSpPr txBox="1"/>
          <p:nvPr/>
        </p:nvSpPr>
        <p:spPr>
          <a:xfrm>
            <a:off x="7094916" y="1971478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5210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6C5BF-0778-4B26-BA1E-8979BC957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4FF27F5-84AD-86E1-FC67-0BE56DA652C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E17107E-AE11-7A59-1D97-4E90C39FDB5C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0A1587-FFA3-E866-8275-1D7527838BC1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6CF130-96D6-8C76-9453-ED8605DEC719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032D9A46-F7D1-914F-ED21-4C3374D88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3AC2B37E-D03E-6D9C-0057-276DD00898C8}"/>
              </a:ext>
            </a:extLst>
          </p:cNvPr>
          <p:cNvSpPr txBox="1"/>
          <p:nvPr/>
        </p:nvSpPr>
        <p:spPr>
          <a:xfrm>
            <a:off x="1236872" y="1441881"/>
            <a:ext cx="35001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 3 –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x0 = [5,2]; 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(1,1) e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=1 </a:t>
            </a:r>
            <a:endParaRPr lang="pt-BR" sz="1400" b="1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10F0DEF-005E-EA88-2D8A-BE6304C14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661" y="2231497"/>
            <a:ext cx="4814243" cy="396601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88D0F42-95D0-803C-9405-A7F8CE772D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4916" y="2247089"/>
            <a:ext cx="3805493" cy="3957307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DF7F5B9C-F993-3E32-A5FD-979B8D1D593C}"/>
              </a:ext>
            </a:extLst>
          </p:cNvPr>
          <p:cNvSpPr txBox="1"/>
          <p:nvPr/>
        </p:nvSpPr>
        <p:spPr>
          <a:xfrm>
            <a:off x="1932399" y="1896272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64A1360-C6F6-D7F7-1C6F-2DD62DF06AF6}"/>
              </a:ext>
            </a:extLst>
          </p:cNvPr>
          <p:cNvSpPr txBox="1"/>
          <p:nvPr/>
        </p:nvSpPr>
        <p:spPr>
          <a:xfrm>
            <a:off x="7094916" y="1971478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284648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8AFE6-A708-955C-F6C3-B738CF92D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A2EC510-4725-2C91-E177-5171AD7B45B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C40124E-9B0A-2F7E-CA12-1AC261ECDA98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5BE587-E748-9999-6243-C2BA2A2B62E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00D3E2-7E8D-ACA5-3E14-88CDD8BC32FA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3DB58489-B796-91E1-98D8-A413117D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0986D8E-A94F-8AA1-2C19-D807A9A41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928" y="2456538"/>
            <a:ext cx="4484951" cy="35064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3518B1F-C34C-9786-BCF2-478234628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083" y="2456538"/>
            <a:ext cx="4228199" cy="359397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0BFC0AB-28FE-5CD9-D7EC-88F718EF5B8F}"/>
              </a:ext>
            </a:extLst>
          </p:cNvPr>
          <p:cNvSpPr txBox="1"/>
          <p:nvPr/>
        </p:nvSpPr>
        <p:spPr>
          <a:xfrm>
            <a:off x="1236872" y="1441881"/>
            <a:ext cx="77596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 4 – 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Discretização da Matriz /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diag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(0.01, 0.1) e 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=0.1 </a:t>
            </a:r>
            <a:endParaRPr lang="pt-BR" sz="1400" b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DBEED1E-FBAA-641C-A917-FC7D13157035}"/>
              </a:ext>
            </a:extLst>
          </p:cNvPr>
          <p:cNvSpPr txBox="1"/>
          <p:nvPr/>
        </p:nvSpPr>
        <p:spPr>
          <a:xfrm>
            <a:off x="1528284" y="2027413"/>
            <a:ext cx="42602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Covariância do erro modelo discretizada (</a:t>
            </a:r>
            <a:r>
              <a:rPr lang="pt-B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Qk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sz="1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89BAC85-94B7-692C-EB71-E2D694D30784}"/>
              </a:ext>
            </a:extLst>
          </p:cNvPr>
          <p:cNvSpPr txBox="1"/>
          <p:nvPr/>
        </p:nvSpPr>
        <p:spPr>
          <a:xfrm>
            <a:off x="6951406" y="1899408"/>
            <a:ext cx="4013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Covariância do erro do modelo de tempo contínuo (</a:t>
            </a:r>
            <a:r>
              <a:rPr lang="pt-BR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Qc</a:t>
            </a: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876163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DB8B3-6902-B194-885B-1FA22CC3C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B8D3481-2CD0-689A-C53E-E1091CB2C38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F9A48CD-DAE6-F700-BCB3-7EB9C86A068D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E1A561-DE16-0130-C72C-4FD1615A5F6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7A1CE5-1B35-070A-01D4-D48E78E312DF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24F35FD0-7409-3113-4DFE-D3464115F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C0A49FD-121A-1BF7-2E69-E910D7F97627}"/>
                  </a:ext>
                </a:extLst>
              </p:cNvPr>
              <p:cNvSpPr txBox="1"/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1) Modelo 2 (não-Linear):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pt-BR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pt-BR" sz="16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𝜙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𝜔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pt-BR" sz="1400" b="1" dirty="0"/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9C0A49FD-121A-1BF7-2E69-E910D7F97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blipFill>
                <a:blip r:embed="rId3"/>
                <a:stretch>
                  <a:fillRect l="-296" b="-142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E5A83F4D-70D6-84DD-E6B6-D867899E1E3D}"/>
              </a:ext>
            </a:extLst>
          </p:cNvPr>
          <p:cNvSpPr txBox="1"/>
          <p:nvPr/>
        </p:nvSpPr>
        <p:spPr>
          <a:xfrm>
            <a:off x="1343327" y="3639995"/>
            <a:ext cx="4363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e da medição: </a:t>
            </a:r>
            <a:endParaRPr lang="pt-BR" sz="14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E4C1CA2-B1A3-E8D4-1115-7A115D4E9BAF}"/>
              </a:ext>
            </a:extLst>
          </p:cNvPr>
          <p:cNvSpPr txBox="1"/>
          <p:nvPr/>
        </p:nvSpPr>
        <p:spPr>
          <a:xfrm>
            <a:off x="1343327" y="4950102"/>
            <a:ext cx="4477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discretizado: </a:t>
            </a:r>
            <a:endParaRPr lang="pt-BR" sz="1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A4BB0F-0E27-68F3-CD6E-EB86D08265CC}"/>
              </a:ext>
            </a:extLst>
          </p:cNvPr>
          <p:cNvSpPr txBox="1"/>
          <p:nvPr/>
        </p:nvSpPr>
        <p:spPr>
          <a:xfrm>
            <a:off x="6450077" y="1642778"/>
            <a:ext cx="482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Matrizes de transição e Jacobiano</a:t>
            </a:r>
            <a:endParaRPr lang="pt-BR" sz="1400" b="1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A0ECE609-498B-844F-7E66-F19B1566FD7E}"/>
              </a:ext>
            </a:extLst>
          </p:cNvPr>
          <p:cNvCxnSpPr/>
          <p:nvPr/>
        </p:nvCxnSpPr>
        <p:spPr>
          <a:xfrm>
            <a:off x="6095999" y="1506111"/>
            <a:ext cx="0" cy="4698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4C046B09-B25F-6A54-F27A-5194DD78C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239" y="1934427"/>
            <a:ext cx="3864866" cy="1512339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CB78C31C-C7FD-DD8B-F97D-0982E803A8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715" y="5368569"/>
            <a:ext cx="1944595" cy="876541"/>
          </a:xfrm>
          <a:prstGeom prst="rect">
            <a:avLst/>
          </a:prstGeom>
        </p:spPr>
      </p:pic>
      <p:grpSp>
        <p:nvGrpSpPr>
          <p:cNvPr id="26" name="Agrupar 25">
            <a:extLst>
              <a:ext uri="{FF2B5EF4-FFF2-40B4-BE49-F238E27FC236}">
                <a16:creationId xmlns:a16="http://schemas.microsoft.com/office/drawing/2014/main" id="{1BC6A32D-B615-6D85-F370-D6DEA8FA03E4}"/>
              </a:ext>
            </a:extLst>
          </p:cNvPr>
          <p:cNvGrpSpPr/>
          <p:nvPr/>
        </p:nvGrpSpPr>
        <p:grpSpPr>
          <a:xfrm>
            <a:off x="1804501" y="3990979"/>
            <a:ext cx="3145132" cy="835932"/>
            <a:chOff x="1806993" y="4233620"/>
            <a:chExt cx="3145132" cy="835932"/>
          </a:xfrm>
        </p:grpSpPr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CC4C5CA3-F162-EB17-A832-3A0E856E6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06993" y="4317160"/>
              <a:ext cx="1409242" cy="7523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A85E36EA-7941-CDBC-1F2C-2AF4051CDC93}"/>
                    </a:ext>
                  </a:extLst>
                </p:cNvPr>
                <p:cNvSpPr txBox="1"/>
                <p:nvPr/>
              </p:nvSpPr>
              <p:spPr>
                <a:xfrm>
                  <a:off x="3967478" y="4467493"/>
                  <a:ext cx="984647" cy="375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  <m:r>
                          <a:rPr lang="pt-BR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bSup>
                          <m:sSubSupPr>
                            <m:ctrlPr>
                              <a:rPr lang="pt-BR" sz="18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A85E36EA-7941-CDBC-1F2C-2AF4051CDC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478" y="4467493"/>
                  <a:ext cx="984647" cy="37555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Imagem 22">
              <a:extLst>
                <a:ext uri="{FF2B5EF4-FFF2-40B4-BE49-F238E27FC236}">
                  <a16:creationId xmlns:a16="http://schemas.microsoft.com/office/drawing/2014/main" id="{119F8B44-F3B6-6115-DF79-EC36A7201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293555" y="4233620"/>
              <a:ext cx="922680" cy="835932"/>
            </a:xfrm>
            <a:prstGeom prst="rect">
              <a:avLst/>
            </a:prstGeom>
          </p:spPr>
        </p:pic>
      </p:grpSp>
      <p:pic>
        <p:nvPicPr>
          <p:cNvPr id="28" name="Imagem 27">
            <a:extLst>
              <a:ext uri="{FF2B5EF4-FFF2-40B4-BE49-F238E27FC236}">
                <a16:creationId xmlns:a16="http://schemas.microsoft.com/office/drawing/2014/main" id="{56180D52-03D8-A8A2-3521-847A40242E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3858" y="1868405"/>
            <a:ext cx="2359742" cy="883532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AE224019-53C3-913A-94D1-48763ABF5B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2693" y="2690596"/>
            <a:ext cx="3685190" cy="593878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9001DA84-3D77-61B0-C8F3-A03A44216D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3894" y="3618915"/>
            <a:ext cx="4733247" cy="2577062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A180C9D4-09F7-8F18-37B0-875550805152}"/>
              </a:ext>
            </a:extLst>
          </p:cNvPr>
          <p:cNvSpPr txBox="1"/>
          <p:nvPr/>
        </p:nvSpPr>
        <p:spPr>
          <a:xfrm>
            <a:off x="6441487" y="3284474"/>
            <a:ext cx="482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Testes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650030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2703C-BCC0-A3AF-FA27-B1F73DE1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A65BEF9-6C4E-4935-E7C9-82C7C2CB4048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606DAC3-F0A5-98A0-8718-002C040D87F6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A6DAEF-6438-91FD-4044-7C9DA579EA0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112260D-AA3A-2CB2-6E87-C1775588060E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F06AF432-78B5-1D2A-971D-7D7E3B6AC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8B5B882-11ED-1CD3-87A4-C3D55A75D37A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748434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M2: Teste 1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[0;1;1];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(0.001, 0.001,0.01)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38B5B882-11ED-1CD3-87A4-C3D55A75D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7484342" cy="307777"/>
              </a:xfrm>
              <a:prstGeom prst="rect">
                <a:avLst/>
              </a:prstGeom>
              <a:blipFill>
                <a:blip r:embed="rId3"/>
                <a:stretch>
                  <a:fillRect l="-244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Imagem 16">
            <a:extLst>
              <a:ext uri="{FF2B5EF4-FFF2-40B4-BE49-F238E27FC236}">
                <a16:creationId xmlns:a16="http://schemas.microsoft.com/office/drawing/2014/main" id="{DDFE70B1-714F-77FA-0EF0-AECF532EB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41" y="2292680"/>
            <a:ext cx="5501774" cy="286898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8A3AAD51-0BB7-EB8E-7B69-C7996CE84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6607" y="2323459"/>
            <a:ext cx="5645852" cy="2868980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F9B4C3E8-4049-4888-F534-7983FA829C17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1FA6C6F-106F-C222-97D6-5F196E4CCBF0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140787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5F91-17B7-17F2-193F-FD130CFCB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2A62B3D-F5C4-8A93-127A-5F9536A6302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7CAB870-6563-BBBE-357D-060897570A87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42390F4-D3B0-FD79-FFF3-0D110207D102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601E5F-3333-577C-B568-85BF9ABA4F95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4617BE1F-4045-1C54-10FD-36EB8BB7B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F14251F-D482-F30A-7156-8829464A818C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86284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M2: Teste 2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[0;1;-1];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(0.001, 0.001,0.01)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AF14251F-D482-F30A-7156-8829464A81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8628489" cy="307777"/>
              </a:xfrm>
              <a:prstGeom prst="rect">
                <a:avLst/>
              </a:prstGeom>
              <a:blipFill>
                <a:blip r:embed="rId3"/>
                <a:stretch>
                  <a:fillRect l="-212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A90C9C59-AC35-6FAE-5ED4-AF3C33C6C3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39" y="2314698"/>
            <a:ext cx="5667571" cy="292589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232A8D61-3FB1-D0E3-2309-10D27D7720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685" y="2314698"/>
            <a:ext cx="5634663" cy="2925896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14DC44-0378-ECD5-66AC-D0E49FB7DBE6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1A5400F-2140-2624-4646-D9004B47879B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DE44C56A-607F-5824-ADAB-A13428C97E0C}"/>
                  </a:ext>
                </a:extLst>
              </p:cNvPr>
              <p:cNvSpPr txBox="1"/>
              <p:nvPr/>
            </p:nvSpPr>
            <p:spPr>
              <a:xfrm>
                <a:off x="956130" y="5662339"/>
                <a:ext cx="43088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DE44C56A-607F-5824-ADAB-A13428C97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30" y="5662339"/>
                <a:ext cx="4308872" cy="307777"/>
              </a:xfrm>
              <a:prstGeom prst="rect">
                <a:avLst/>
              </a:prstGeom>
              <a:blipFill>
                <a:blip r:embed="rId6"/>
                <a:stretch>
                  <a:fillRect l="-1132" t="-2000" r="-1839" b="-3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160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5564-BF05-1019-88C8-8DE3B42E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D4BCF1F-FE81-5FEB-6F07-EA046351739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3DBC859-C709-2B7F-BAA1-E19D02B2277F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DC27ECA-DB6E-07DE-65DA-D014F24F6138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6F33E4-CE04-0138-5976-FE3172021130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45C06B7F-BB14-6F58-2A42-658D3C401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97FD99E-EE39-EB0D-8984-BA523AA2E7B5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91164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M2: Teste 3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[10;10;-10];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(0.001, 0.001,0.01)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497FD99E-EE39-EB0D-8984-BA523AA2E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9116497" cy="307777"/>
              </a:xfrm>
              <a:prstGeom prst="rect">
                <a:avLst/>
              </a:prstGeom>
              <a:blipFill>
                <a:blip r:embed="rId3"/>
                <a:stretch>
                  <a:fillRect l="-201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m 8">
            <a:extLst>
              <a:ext uri="{FF2B5EF4-FFF2-40B4-BE49-F238E27FC236}">
                <a16:creationId xmlns:a16="http://schemas.microsoft.com/office/drawing/2014/main" id="{D3B7CB8C-C5F5-0AB7-C686-579699D6A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41" y="2339855"/>
            <a:ext cx="5522324" cy="287828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28A6163-1599-2F11-19BE-5A629CCE64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483" y="2339856"/>
            <a:ext cx="5437865" cy="288350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80D46C12-26D7-701E-404C-E84001D3DC3C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4E5A005-2D8F-5E41-ABC9-B1F491596FDF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902FB95-83BA-9387-896A-C7791F97020B}"/>
                  </a:ext>
                </a:extLst>
              </p:cNvPr>
              <p:cNvSpPr txBox="1"/>
              <p:nvPr/>
            </p:nvSpPr>
            <p:spPr>
              <a:xfrm>
                <a:off x="956130" y="5662339"/>
                <a:ext cx="430887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d>
                        <m:dPr>
                          <m:ctrlP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d>
                        <m:dPr>
                          <m:ctrlP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𝝎</m:t>
                          </m:r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pt-BR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𝒔𝒊𝒏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𝝎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pt-BR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902FB95-83BA-9387-896A-C7791F970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130" y="5662339"/>
                <a:ext cx="4308872" cy="307777"/>
              </a:xfrm>
              <a:prstGeom prst="rect">
                <a:avLst/>
              </a:prstGeom>
              <a:blipFill>
                <a:blip r:embed="rId3"/>
                <a:stretch>
                  <a:fillRect l="-1132" t="-2000" r="-1839" b="-3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90992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29CFB-3F08-94DC-7CDC-132063538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F6A54BA-AD78-EA84-EDCA-01CACA988FF2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A04416-1B7E-1089-F7C4-88CC2DE2B6CF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59C28E9-82C9-6FC8-3D23-E63C5561D627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D03443-9AE8-8B76-F348-37801135D21D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F9173DE7-047C-41EE-362D-7F8F14083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6E3612A-F87A-F923-940F-DF3018B5378B}"/>
                  </a:ext>
                </a:extLst>
              </p:cNvPr>
              <p:cNvSpPr txBox="1"/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1) Modelo 3 (não-Linear):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pt-BR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6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𝜙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𝜔</m:t>
                            </m:r>
                          </m:e>
                        </m:d>
                      </m:e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pt-BR" sz="1400" b="1" dirty="0"/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86E3612A-F87A-F923-940F-DF3018B53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blipFill>
                <a:blip r:embed="rId3"/>
                <a:stretch>
                  <a:fillRect l="-296" b="-142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54A4E6-DD81-8881-DC76-36E1C036ED9C}"/>
              </a:ext>
            </a:extLst>
          </p:cNvPr>
          <p:cNvSpPr txBox="1"/>
          <p:nvPr/>
        </p:nvSpPr>
        <p:spPr>
          <a:xfrm>
            <a:off x="1343327" y="3503610"/>
            <a:ext cx="4363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e da medição: </a:t>
            </a:r>
            <a:endParaRPr lang="pt-BR" sz="14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F5D9A79-ED3D-168C-A388-69241DC0D331}"/>
              </a:ext>
            </a:extLst>
          </p:cNvPr>
          <p:cNvSpPr txBox="1"/>
          <p:nvPr/>
        </p:nvSpPr>
        <p:spPr>
          <a:xfrm>
            <a:off x="1343327" y="4950102"/>
            <a:ext cx="4477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discretizado: </a:t>
            </a:r>
            <a:endParaRPr lang="pt-BR" sz="1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990572-F11B-C12C-6AE9-E92A79921BDA}"/>
              </a:ext>
            </a:extLst>
          </p:cNvPr>
          <p:cNvSpPr txBox="1"/>
          <p:nvPr/>
        </p:nvSpPr>
        <p:spPr>
          <a:xfrm>
            <a:off x="6450077" y="1642778"/>
            <a:ext cx="482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Matrizes de transição de estado discretizada: </a:t>
            </a:r>
            <a:endParaRPr lang="pt-BR" sz="1400" b="1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07258591-203B-0E49-1EA6-AD63F7BE7CA9}"/>
              </a:ext>
            </a:extLst>
          </p:cNvPr>
          <p:cNvCxnSpPr/>
          <p:nvPr/>
        </p:nvCxnSpPr>
        <p:spPr>
          <a:xfrm>
            <a:off x="6095999" y="1506111"/>
            <a:ext cx="0" cy="4698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200EDE8B-ED67-02C7-408A-DB9E7D97DFA6}"/>
              </a:ext>
            </a:extLst>
          </p:cNvPr>
          <p:cNvGrpSpPr/>
          <p:nvPr/>
        </p:nvGrpSpPr>
        <p:grpSpPr>
          <a:xfrm>
            <a:off x="1804501" y="4074519"/>
            <a:ext cx="3145132" cy="752392"/>
            <a:chOff x="1806993" y="4317160"/>
            <a:chExt cx="3145132" cy="752392"/>
          </a:xfrm>
        </p:grpSpPr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D8427793-8854-7F6E-F22E-681CC19A9E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6993" y="4317160"/>
              <a:ext cx="1409242" cy="7523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E034B07B-4616-25F5-694E-ED946346E4EE}"/>
                    </a:ext>
                  </a:extLst>
                </p:cNvPr>
                <p:cNvSpPr txBox="1"/>
                <p:nvPr/>
              </p:nvSpPr>
              <p:spPr>
                <a:xfrm>
                  <a:off x="3967478" y="4467493"/>
                  <a:ext cx="984647" cy="375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  <m:r>
                          <a:rPr lang="pt-BR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bSup>
                          <m:sSubSupPr>
                            <m:ctrlPr>
                              <a:rPr lang="pt-BR" sz="18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E034B07B-4616-25F5-694E-ED946346E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478" y="4467493"/>
                  <a:ext cx="984647" cy="37555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07638933-E995-0BC8-B258-F1A103095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8408" y="1981137"/>
            <a:ext cx="3987205" cy="131305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A4A3188-E34A-C85E-22D9-C318603C71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329" y="4058958"/>
            <a:ext cx="883413" cy="74789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5679DB5-AC29-16B0-FD27-361EB283BC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9290" y="5381070"/>
            <a:ext cx="3997762" cy="68869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ECA0EA99-CE1B-DFFD-4033-BFCE7FD3D9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63838" y="2119032"/>
            <a:ext cx="2577978" cy="612058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F47E96CF-3AB1-44B0-1335-4759ED16F1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0345" y="2127945"/>
            <a:ext cx="1514670" cy="623991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ABEB57BD-F823-4C13-E05F-226CEE401B8B}"/>
              </a:ext>
            </a:extLst>
          </p:cNvPr>
          <p:cNvSpPr txBox="1"/>
          <p:nvPr/>
        </p:nvSpPr>
        <p:spPr>
          <a:xfrm>
            <a:off x="6484947" y="2960683"/>
            <a:ext cx="482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Testes</a:t>
            </a:r>
            <a:endParaRPr lang="pt-BR" sz="1400" b="1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068B9916-5A0E-7E43-782F-61BEFD316F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57157" y="3345873"/>
            <a:ext cx="4102207" cy="275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719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2AE4-FCDE-49E2-8C7D-6C88D05D9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E103E19-CB9D-469C-41AC-7151C12C5800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65C121-D6BF-B072-90BC-8330FF8F53F6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22CC08-51B9-961E-2B1E-4166242DFC8F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075940-0BFD-DFAF-79E8-CA14B5C43B62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E8E086F2-162D-5ECC-20FD-3835DA6C2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51DA8EF-37E7-D01A-833A-A0414BDD7AC4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691966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M3: Teste 1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(0, 0.001)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51DA8EF-37E7-D01A-833A-A0414BDD7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6919667" cy="307777"/>
              </a:xfrm>
              <a:prstGeom prst="rect">
                <a:avLst/>
              </a:prstGeom>
              <a:blipFill>
                <a:blip r:embed="rId3"/>
                <a:stretch>
                  <a:fillRect l="-264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0607456E-2F06-BE24-3625-528B19080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12" y="2220357"/>
            <a:ext cx="5736905" cy="295207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F814093-1554-B098-30F1-61BD2704DF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7104" y="2257679"/>
            <a:ext cx="5487244" cy="279829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9FBC1395-90B1-C820-1769-9F27D9B512AD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2A4EA60-146A-A160-A9DE-DA4FB5F555F2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87275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D085-6D81-3516-BAF3-BAF4DBBD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018ED3C-DF92-0292-3289-730C4630319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007C81D-0872-8BA6-5EA5-06BA1F501D3E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1A4735-7F47-AC93-C219-F13CCAF563C6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5B50C52-04F5-5AF2-4FB4-EDBFB17E2D0B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64C56EDA-94CD-3B31-E227-552EF46AE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95BA47B-CF8D-5E31-ACFE-A962FAB58C65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86284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M3: Teste 2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[0;-1];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(0, 0.001)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95BA47B-CF8D-5E31-ACFE-A962FAB58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8628489" cy="307777"/>
              </a:xfrm>
              <a:prstGeom prst="rect">
                <a:avLst/>
              </a:prstGeom>
              <a:blipFill>
                <a:blip r:embed="rId3"/>
                <a:stretch>
                  <a:fillRect l="-212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D482644A-6828-13AB-E4FE-03062CCE77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939" y="2185967"/>
            <a:ext cx="5708687" cy="3023747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AFCEAF7-A48E-ACC4-32C2-B4EF2DD21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483" y="2203396"/>
            <a:ext cx="5437865" cy="2934224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EF8C77F-E4CC-EDE4-B430-84464CDBDC8B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8E90213-4082-B842-43A9-2240E1FD2DB0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861766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8063-2AD4-9F58-AEDC-B69B12C39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37C6DBB-7BAD-FDF2-C1B8-E69D8CFE95A0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026DA67-0277-01D7-4109-6B9531824AA8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E3CED8-DCD7-DD0B-83B4-4219EECF5202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5F5F02-6273-B963-8446-2548F3C2C7EC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51940BF2-BEFA-76AD-68A5-011C742DB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F7D8905C-0DA9-EECF-5BEF-D36B44E596A7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91164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M3: Teste 3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(0, 0.001)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=−1.2 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F7D8905C-0DA9-EECF-5BEF-D36B44E59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9116497" cy="307777"/>
              </a:xfrm>
              <a:prstGeom prst="rect">
                <a:avLst/>
              </a:prstGeom>
              <a:blipFill>
                <a:blip r:embed="rId3"/>
                <a:stretch>
                  <a:fillRect l="-201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agem 15">
            <a:extLst>
              <a:ext uri="{FF2B5EF4-FFF2-40B4-BE49-F238E27FC236}">
                <a16:creationId xmlns:a16="http://schemas.microsoft.com/office/drawing/2014/main" id="{36D2076D-6CD1-9989-C759-8DC8FF0341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32" y="2220113"/>
            <a:ext cx="5472060" cy="2888229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AD2F8B31-B0E2-67A3-E4F1-098E71C22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831" y="2303204"/>
            <a:ext cx="5472059" cy="2785343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539D8922-9B19-98B8-518F-E52F822234B5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ADC7DF8-5DBD-DA54-89D5-8EF32AAF82B1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646102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6C0E-5BA2-0521-B38C-738423BE7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155691E-BD5C-5376-F1F0-0E05C3EFEB8A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744299-2853-828C-E23D-D79262F1C49A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4D950E6-2345-0F42-BE64-C55BB6EA9EFF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E621B8-509E-44FF-B1BF-289FD621645B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893DC9E2-A2C6-AB52-7F88-CD7475D8A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49111EE-6508-6333-7F65-98E6F5A1455E}"/>
                  </a:ext>
                </a:extLst>
              </p:cNvPr>
              <p:cNvSpPr txBox="1"/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1) Modelo 4 (não-Linear):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pt-BR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pt-BR" sz="16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acc>
                              <m:accPr>
                                <m:chr m:val="̇"/>
                                <m:ctrlP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𝜔</m:t>
                            </m:r>
                          </m:e>
                        </m:d>
                      </m:e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pt-BR" sz="1400" b="1" dirty="0"/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49111EE-6508-6333-7F65-98E6F5A14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blipFill>
                <a:blip r:embed="rId3"/>
                <a:stretch>
                  <a:fillRect l="-296" b="-142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F51C5AAF-1730-6338-E5B5-47AE73FF8F87}"/>
              </a:ext>
            </a:extLst>
          </p:cNvPr>
          <p:cNvSpPr txBox="1"/>
          <p:nvPr/>
        </p:nvSpPr>
        <p:spPr>
          <a:xfrm>
            <a:off x="1343327" y="3503610"/>
            <a:ext cx="4363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e da medição: </a:t>
            </a:r>
            <a:endParaRPr lang="pt-BR" sz="14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7A2ED39-138B-C4F6-F31D-2DC034CB7D72}"/>
              </a:ext>
            </a:extLst>
          </p:cNvPr>
          <p:cNvSpPr txBox="1"/>
          <p:nvPr/>
        </p:nvSpPr>
        <p:spPr>
          <a:xfrm>
            <a:off x="1343327" y="4950102"/>
            <a:ext cx="4477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discretizado: </a:t>
            </a:r>
            <a:endParaRPr lang="pt-BR" sz="1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6659D19-208C-3EF7-657A-98ECCBD5AAAB}"/>
              </a:ext>
            </a:extLst>
          </p:cNvPr>
          <p:cNvSpPr txBox="1"/>
          <p:nvPr/>
        </p:nvSpPr>
        <p:spPr>
          <a:xfrm>
            <a:off x="6450077" y="1642778"/>
            <a:ext cx="482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Matrizes de transição de estado discretizada: </a:t>
            </a:r>
            <a:endParaRPr lang="pt-BR" sz="1400" b="1" dirty="0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FE2B60C6-CF41-26D6-41DC-8B48A0312378}"/>
              </a:ext>
            </a:extLst>
          </p:cNvPr>
          <p:cNvCxnSpPr/>
          <p:nvPr/>
        </p:nvCxnSpPr>
        <p:spPr>
          <a:xfrm>
            <a:off x="6095999" y="1506111"/>
            <a:ext cx="0" cy="4698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agem 12">
            <a:extLst>
              <a:ext uri="{FF2B5EF4-FFF2-40B4-BE49-F238E27FC236}">
                <a16:creationId xmlns:a16="http://schemas.microsoft.com/office/drawing/2014/main" id="{3BC3F055-90FC-6E28-5866-B32EDCB73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160" y="5240376"/>
            <a:ext cx="2622057" cy="1031250"/>
          </a:xfrm>
          <a:prstGeom prst="rect">
            <a:avLst/>
          </a:prstGeom>
        </p:spPr>
      </p:pic>
      <p:grpSp>
        <p:nvGrpSpPr>
          <p:cNvPr id="19" name="Agrupar 18">
            <a:extLst>
              <a:ext uri="{FF2B5EF4-FFF2-40B4-BE49-F238E27FC236}">
                <a16:creationId xmlns:a16="http://schemas.microsoft.com/office/drawing/2014/main" id="{58859623-3CC1-C607-817F-42DE6EFCBB41}"/>
              </a:ext>
            </a:extLst>
          </p:cNvPr>
          <p:cNvGrpSpPr/>
          <p:nvPr/>
        </p:nvGrpSpPr>
        <p:grpSpPr>
          <a:xfrm>
            <a:off x="1952622" y="3936355"/>
            <a:ext cx="3145132" cy="876610"/>
            <a:chOff x="1804501" y="4035642"/>
            <a:chExt cx="3145132" cy="876610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553271F0-B398-F20B-6A4F-AA6D66125596}"/>
                </a:ext>
              </a:extLst>
            </p:cNvPr>
            <p:cNvGrpSpPr/>
            <p:nvPr/>
          </p:nvGrpSpPr>
          <p:grpSpPr>
            <a:xfrm>
              <a:off x="1804501" y="4074519"/>
              <a:ext cx="3145132" cy="752392"/>
              <a:chOff x="1806993" y="4317160"/>
              <a:chExt cx="3145132" cy="752392"/>
            </a:xfrm>
          </p:grpSpPr>
          <p:pic>
            <p:nvPicPr>
              <p:cNvPr id="25" name="Imagem 24">
                <a:extLst>
                  <a:ext uri="{FF2B5EF4-FFF2-40B4-BE49-F238E27FC236}">
                    <a16:creationId xmlns:a16="http://schemas.microsoft.com/office/drawing/2014/main" id="{6EB6822D-2A93-0BD5-2F0A-A62C51E9D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06993" y="4317160"/>
                <a:ext cx="1409242" cy="752392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CaixaDeTexto 19">
                    <a:extLst>
                      <a:ext uri="{FF2B5EF4-FFF2-40B4-BE49-F238E27FC236}">
                        <a16:creationId xmlns:a16="http://schemas.microsoft.com/office/drawing/2014/main" id="{FFD7BA4C-D515-6520-28F5-84416C497826}"/>
                      </a:ext>
                    </a:extLst>
                  </p:cNvPr>
                  <p:cNvSpPr txBox="1"/>
                  <p:nvPr/>
                </p:nvSpPr>
                <p:spPr>
                  <a:xfrm>
                    <a:off x="3967478" y="4467493"/>
                    <a:ext cx="984647" cy="37555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𝑹</m:t>
                          </m:r>
                          <m:r>
                            <a:rPr lang="pt-BR" sz="18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pt-BR" sz="180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SupPr>
                            <m:e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pt-BR" sz="1800" b="0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2</m:t>
                              </m:r>
                            </m:sup>
                          </m:sSubSup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0" name="CaixaDeTexto 19">
                    <a:extLst>
                      <a:ext uri="{FF2B5EF4-FFF2-40B4-BE49-F238E27FC236}">
                        <a16:creationId xmlns:a16="http://schemas.microsoft.com/office/drawing/2014/main" id="{FFD7BA4C-D515-6520-28F5-84416C49782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67478" y="4467493"/>
                    <a:ext cx="984647" cy="37555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723E150F-5F9A-B41C-1C4D-48754D0B4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90510" y="4035642"/>
              <a:ext cx="935051" cy="876610"/>
            </a:xfrm>
            <a:prstGeom prst="rect">
              <a:avLst/>
            </a:prstGeom>
          </p:spPr>
        </p:pic>
      </p:grpSp>
      <p:pic>
        <p:nvPicPr>
          <p:cNvPr id="23" name="Imagem 22">
            <a:extLst>
              <a:ext uri="{FF2B5EF4-FFF2-40B4-BE49-F238E27FC236}">
                <a16:creationId xmlns:a16="http://schemas.microsoft.com/office/drawing/2014/main" id="{504E2816-67FF-676E-1720-E4FD8ECD02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428" y="1936867"/>
            <a:ext cx="4324389" cy="145731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9ECEE2B1-C2ED-BEB2-585F-3152423046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4947" y="2112161"/>
            <a:ext cx="1637976" cy="686454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0F67BD39-5762-E2F5-905A-5F15673EBE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813" y="2212161"/>
            <a:ext cx="945675" cy="490066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2F60636C-777D-79AC-ED85-178BF66546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28378" y="2102916"/>
            <a:ext cx="2399827" cy="732415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1C16B2D1-CE36-2FC5-72F9-7CC3311B6BCD}"/>
              </a:ext>
            </a:extLst>
          </p:cNvPr>
          <p:cNvSpPr txBox="1"/>
          <p:nvPr/>
        </p:nvSpPr>
        <p:spPr>
          <a:xfrm>
            <a:off x="6484947" y="2960683"/>
            <a:ext cx="482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Testes</a:t>
            </a:r>
            <a:endParaRPr lang="pt-BR" sz="1400" b="1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A76EA8FE-9D54-BF13-2F50-C67B937BAF7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5241" y="3613978"/>
            <a:ext cx="4486494" cy="222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0250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574A-3601-D66B-3BD2-B7F0D3788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3D4DE701-F951-F946-F65D-159730B4DBD1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14E49C8-20B9-27C8-9801-A850FAAB3FF7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53542A2-425E-68DB-5FB4-D785446D3DCA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7C727E-488A-96B2-7CD1-6D371FD48302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CAD2E939-58B5-6C57-5978-D3E444DF1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2309558-6571-E0AB-72C4-F1578BBDE55E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805461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M4: Teste 1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[0;1;1];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(0.001, 0.001,0.01)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2309558-6571-E0AB-72C4-F1578BBDE5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8054613" cy="307777"/>
              </a:xfrm>
              <a:prstGeom prst="rect">
                <a:avLst/>
              </a:prstGeom>
              <a:blipFill>
                <a:blip r:embed="rId3"/>
                <a:stretch>
                  <a:fillRect l="-227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C7016F64-DDAE-E069-99DF-A8B772011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702" y="2257679"/>
            <a:ext cx="5570601" cy="291993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999B453-77E8-6507-3D31-D8C861F22F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864" y="2288457"/>
            <a:ext cx="5185440" cy="2765353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04BBC24-34D8-6F25-5B56-67A31C0C91A4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B9B223-CC0B-D2DD-30D0-34E50AE04D0D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711979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9BEDC-286B-1C1A-17DA-3BDC496FA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3FABDF8-687E-7A23-F9D3-3D422B59447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208E1BC-630A-AD48-980C-1FDAC1400ED3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D0B4548-6107-A3DD-4029-5AD1A9206263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FACD96B-35D8-6EB0-8CEF-D126BFD86545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DDAAADB1-6719-7868-8933-9F005E1D5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30017BB-6FEE-4C8D-3CD7-35C96DE3BBD3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86284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M4: Teste 2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[0;1;-1];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(0.001, 0.001,0.01)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30017BB-6FEE-4C8D-3CD7-35C96DE3B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8628489" cy="307777"/>
              </a:xfrm>
              <a:prstGeom prst="rect">
                <a:avLst/>
              </a:prstGeom>
              <a:blipFill>
                <a:blip r:embed="rId3"/>
                <a:stretch>
                  <a:fillRect l="-212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8D57308F-8F7A-89BB-6AE4-13D9BD5662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63" y="2150582"/>
            <a:ext cx="5490440" cy="290015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E9AB4A7-8082-BB35-3088-C197844C1E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483" y="2240250"/>
            <a:ext cx="5275352" cy="278816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7DF0324-3BA5-4556-3A76-4322F5B9FEEE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E2AD44F-A6EB-F95A-4FEA-2A2A3D11411B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4088198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906BC-89E2-A63F-F5E5-91E6C43B4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4E466A28-1FC5-7284-049E-CFE60356E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465" y="2223557"/>
            <a:ext cx="5584722" cy="2881759"/>
          </a:xfrm>
          <a:prstGeom prst="rect">
            <a:avLst/>
          </a:prstGeom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3C267BD-A8AB-A9CB-101E-B9ACBB47334B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F37490E-0120-0A21-9316-73362C97EA66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B669D4-CBBC-D3F2-C18A-A6550F96C031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4306B5-8ECE-CBC5-19B8-23B7290E6BC3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5A258FA6-8FCC-EFB1-C317-EEAAA96A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FCC77841-11F8-B61A-8406-60256E276A60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91164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M4: Teste 3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[2;5; 5];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(0.1, 0. 1,0.1)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 1.5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FCC77841-11F8-B61A-8406-60256E276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9116497" cy="307777"/>
              </a:xfrm>
              <a:prstGeom prst="rect">
                <a:avLst/>
              </a:prstGeom>
              <a:blipFill>
                <a:blip r:embed="rId4"/>
                <a:stretch>
                  <a:fillRect l="-201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m 14">
            <a:extLst>
              <a:ext uri="{FF2B5EF4-FFF2-40B4-BE49-F238E27FC236}">
                <a16:creationId xmlns:a16="http://schemas.microsoft.com/office/drawing/2014/main" id="{02B4E0FA-8666-D86A-60EC-8DF1189F1A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483" y="2240250"/>
            <a:ext cx="5305761" cy="2744705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1B9F7B52-C28A-D8D1-06CD-C7B93377C3CE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DB3F7D4-534A-86B3-D3A1-DAFED1542393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8393552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F4576-195D-D92C-D7A6-7F183EE7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96088E2-6069-1926-20AC-9C3F90350AB5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78C3F17-955C-A3F5-1D8A-E38FA1D653E9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980ACE8-33EF-6397-558F-E1BBC3337960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CCAD27-F37A-6EF2-37E2-4138D6114209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E9E20C44-D703-CA00-977C-22D0DB7A5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C18995E-93C9-EF90-9C6E-60DC56B1189A}"/>
                  </a:ext>
                </a:extLst>
              </p:cNvPr>
              <p:cNvSpPr txBox="1"/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1) Modelo 5 (não-Linear):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pt-BR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pt-BR" sz="1600" i="1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i="1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t-BR" sz="1600" b="0" i="1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pt-BR" sz="160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</m:t>
                            </m:r>
                          </m:sup>
                        </m:sSup>
                        <m:r>
                          <a:rPr lang="pt-BR" sz="16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acc>
                              <m:accPr>
                                <m:chr m:val="̇"/>
                                <m:ctrlP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accPr>
                              <m:e>
                                <m:r>
                                  <a:rPr lang="pt-BR" sz="1600" b="0" i="1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𝑦</m:t>
                                </m:r>
                              </m:e>
                            </m:acc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𝜔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²</m:t>
                            </m:r>
                          </m:e>
                        </m:d>
                      </m:e>
                      <m:sup>
                        <m:r>
                          <a:rPr lang="pt-BR" sz="16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</m:t>
                        </m:r>
                      </m:sup>
                    </m:sSup>
                  </m:oMath>
                </a14:m>
                <a:endParaRPr lang="pt-BR" sz="1400" b="1" dirty="0"/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C18995E-93C9-EF90-9C6E-60DC56B11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682" y="1488890"/>
                <a:ext cx="6170176" cy="338554"/>
              </a:xfrm>
              <a:prstGeom prst="rect">
                <a:avLst/>
              </a:prstGeom>
              <a:blipFill>
                <a:blip r:embed="rId3"/>
                <a:stretch>
                  <a:fillRect l="-296" b="-142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097D488-6862-12A2-1306-B30F9A63D8CD}"/>
              </a:ext>
            </a:extLst>
          </p:cNvPr>
          <p:cNvSpPr txBox="1"/>
          <p:nvPr/>
        </p:nvSpPr>
        <p:spPr>
          <a:xfrm>
            <a:off x="1343327" y="3503610"/>
            <a:ext cx="4363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e da medição: </a:t>
            </a:r>
            <a:endParaRPr lang="pt-BR" sz="1400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E5FDF60-57DC-251D-E0C0-ECEA4B23190E}"/>
              </a:ext>
            </a:extLst>
          </p:cNvPr>
          <p:cNvSpPr txBox="1"/>
          <p:nvPr/>
        </p:nvSpPr>
        <p:spPr>
          <a:xfrm>
            <a:off x="1343327" y="4950102"/>
            <a:ext cx="44773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Covariância do erro do modelo discretizado: </a:t>
            </a:r>
            <a:endParaRPr lang="pt-BR" sz="1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239F017-53BB-570B-CC00-7595B340EDAF}"/>
                  </a:ext>
                </a:extLst>
              </p:cNvPr>
              <p:cNvSpPr txBox="1"/>
              <p:nvPr/>
            </p:nvSpPr>
            <p:spPr>
              <a:xfrm>
                <a:off x="6450077" y="1642778"/>
                <a:ext cx="5004503" cy="312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Matrizes de transição de estado discretizada (</a:t>
                </a:r>
                <a14:m>
                  <m:oMath xmlns:m="http://schemas.openxmlformats.org/officeDocument/2006/math">
                    <m:r>
                      <a:rPr lang="pt-BR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𝒛</m:t>
                    </m:r>
                    <m:r>
                      <a:rPr lang="pt-BR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p>
                      <m:sSupPr>
                        <m:ctrlPr>
                          <a:rPr lang="pt-BR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pt-BR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𝝎</m:t>
                        </m:r>
                      </m:e>
                      <m:sup>
                        <m:r>
                          <a:rPr lang="pt-BR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):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239F017-53BB-570B-CC00-7595B340E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077" y="1642778"/>
                <a:ext cx="5004503" cy="312586"/>
              </a:xfrm>
              <a:prstGeom prst="rect">
                <a:avLst/>
              </a:prstGeom>
              <a:blipFill>
                <a:blip r:embed="rId4"/>
                <a:stretch>
                  <a:fillRect l="-122" t="-1923" r="-1218" b="-173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52932833-0A23-5DB6-B1E8-99F6B47644ED}"/>
              </a:ext>
            </a:extLst>
          </p:cNvPr>
          <p:cNvCxnSpPr/>
          <p:nvPr/>
        </p:nvCxnSpPr>
        <p:spPr>
          <a:xfrm>
            <a:off x="6095999" y="1506111"/>
            <a:ext cx="0" cy="46982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5BCBE205-C5B9-4DF5-2F0B-6594691AFF63}"/>
              </a:ext>
            </a:extLst>
          </p:cNvPr>
          <p:cNvGrpSpPr/>
          <p:nvPr/>
        </p:nvGrpSpPr>
        <p:grpSpPr>
          <a:xfrm>
            <a:off x="1952622" y="3975232"/>
            <a:ext cx="3145132" cy="752392"/>
            <a:chOff x="1806993" y="4317160"/>
            <a:chExt cx="3145132" cy="752392"/>
          </a:xfrm>
        </p:grpSpPr>
        <p:pic>
          <p:nvPicPr>
            <p:cNvPr id="25" name="Imagem 24">
              <a:extLst>
                <a:ext uri="{FF2B5EF4-FFF2-40B4-BE49-F238E27FC236}">
                  <a16:creationId xmlns:a16="http://schemas.microsoft.com/office/drawing/2014/main" id="{B6CC6CB7-5136-1A09-C756-865A9A59C2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06993" y="4317160"/>
              <a:ext cx="1409242" cy="7523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94F32BF1-3A8D-837C-ED0B-196B04AE0FD7}"/>
                    </a:ext>
                  </a:extLst>
                </p:cNvPr>
                <p:cNvSpPr txBox="1"/>
                <p:nvPr/>
              </p:nvSpPr>
              <p:spPr>
                <a:xfrm>
                  <a:off x="3967478" y="4467493"/>
                  <a:ext cx="984647" cy="37555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𝑹</m:t>
                        </m:r>
                        <m:r>
                          <a:rPr lang="pt-BR" sz="1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bSup>
                          <m:sSubSupPr>
                            <m:ctrlPr>
                              <a:rPr lang="pt-BR" sz="180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pt-BR" sz="18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0" name="CaixaDeTexto 19">
                  <a:extLst>
                    <a:ext uri="{FF2B5EF4-FFF2-40B4-BE49-F238E27FC236}">
                      <a16:creationId xmlns:a16="http://schemas.microsoft.com/office/drawing/2014/main" id="{94F32BF1-3A8D-837C-ED0B-196B04AE0F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7478" y="4467493"/>
                  <a:ext cx="984647" cy="37555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3" name="Imagem 22">
            <a:extLst>
              <a:ext uri="{FF2B5EF4-FFF2-40B4-BE49-F238E27FC236}">
                <a16:creationId xmlns:a16="http://schemas.microsoft.com/office/drawing/2014/main" id="{FBEFE493-3668-4E2F-4ABF-E656F5ABD7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6428" y="1936867"/>
            <a:ext cx="4324389" cy="1457319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74D1CCFE-8C2C-BDD5-86F0-EA0DD041ED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5133" y="2201685"/>
            <a:ext cx="1043001" cy="54050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95BBA93-877F-D39F-C281-48316A9AF9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8348" y="5314993"/>
            <a:ext cx="2172151" cy="97906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24238779-EC62-181C-0661-74C749B39E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2996" y="3920811"/>
            <a:ext cx="941758" cy="876981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550F3C26-0479-2199-4A34-E3E69F1E4D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0865" y="2109689"/>
            <a:ext cx="2009081" cy="71313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3451758-BFCF-6354-6A51-836C6EB3265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20232" y="2083659"/>
            <a:ext cx="1452170" cy="776742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8A70BD8-CCA1-4DD1-0607-D101E0948F41}"/>
              </a:ext>
            </a:extLst>
          </p:cNvPr>
          <p:cNvSpPr txBox="1"/>
          <p:nvPr/>
        </p:nvSpPr>
        <p:spPr>
          <a:xfrm>
            <a:off x="6484947" y="2960683"/>
            <a:ext cx="482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Testes</a:t>
            </a:r>
            <a:endParaRPr lang="pt-BR" sz="1400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FDF263E2-0D79-9E13-D7BA-AA4DA354BD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8940" y="3482229"/>
            <a:ext cx="4768159" cy="237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22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D274-ACB5-F152-EECF-E37F5775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C196A7EE-F6A8-B99E-6ED8-92673569FB8C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A984C54-0391-58F7-39A1-E610212091A3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586044D-B98F-9449-1494-72BEB9AC98E6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FEB70D-BA58-E753-B381-72F4E8BBDACA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5E52F4C2-A9AD-7797-75EC-3138F7E74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A1B31DC-CE1F-48CE-4D78-E36830A2B899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743518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M5: Teste 1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[0;1;1];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(0.001, 0.001,0.01)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EA1B31DC-CE1F-48CE-4D78-E36830A2B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7435181" cy="307777"/>
              </a:xfrm>
              <a:prstGeom prst="rect">
                <a:avLst/>
              </a:prstGeom>
              <a:blipFill>
                <a:blip r:embed="rId3"/>
                <a:stretch>
                  <a:fillRect l="-246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30939CDF-BF64-E8AB-E2DE-37DAE61B57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41" y="2233920"/>
            <a:ext cx="5316299" cy="277069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27E16CE-BDD0-B06A-8E4A-5F97AD59D8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427" y="2268158"/>
            <a:ext cx="5287877" cy="273645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A7C7BAA-26F1-E13E-03C8-50B63293C834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4AF8D3-C2C2-A085-59FB-7DF1C1FC72C9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1758219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89AF-3568-1023-1154-C5142C81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0482880-0589-0A35-6908-AEF6115C5136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FCF2142-5C11-FD74-66C0-8A4DFDC2880E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AE541E-8208-1C38-EB6E-8D3D76580506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A07280-15FB-E65C-48E4-38FB88B9CA04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5247D766-9207-A276-3DAC-8D2F7A7D3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119D158-7856-4BA3-4B32-2FDF4FA3E65D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862848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M5: Teste 2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[0;1;-1];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(0.001, 0.001,0.01)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2119D158-7856-4BA3-4B32-2FDF4FA3E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8628489" cy="307777"/>
              </a:xfrm>
              <a:prstGeom prst="rect">
                <a:avLst/>
              </a:prstGeom>
              <a:blipFill>
                <a:blip r:embed="rId3"/>
                <a:stretch>
                  <a:fillRect l="-212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AC19B70D-0A6B-73E6-3F82-1ACFD83186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42" y="2211112"/>
            <a:ext cx="5452614" cy="285061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F787B5E-F849-B909-4161-CDD1762E49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865" y="2274942"/>
            <a:ext cx="5354992" cy="2850617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5FE25C8-A7DF-63BA-9F3E-8E59589F3647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B6B0A98-E909-0D7B-390C-E288BBC08443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2844960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C6D6C-83E9-59B0-2DC9-3000035C9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09F9D738-5237-E66D-0FD9-1B66F6DCD0BE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7A016F-7140-3094-E4FB-9E5F5D3A25FF}"/>
              </a:ext>
            </a:extLst>
          </p:cNvPr>
          <p:cNvSpPr txBox="1"/>
          <p:nvPr/>
        </p:nvSpPr>
        <p:spPr>
          <a:xfrm>
            <a:off x="1223681" y="887884"/>
            <a:ext cx="6919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3. ESTUDO DE CASOS E MODELOS ANALISADOS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F12932-6F43-1EE4-B03D-011F0F5BE095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77FBAF-2416-F569-474E-456D5FDB71C8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ACE3337F-7BC9-32AE-E4D3-D593B5E2C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25374E7-5D8C-388C-3418-59E55C036ACA}"/>
                  </a:ext>
                </a:extLst>
              </p:cNvPr>
              <p:cNvSpPr txBox="1"/>
              <p:nvPr/>
            </p:nvSpPr>
            <p:spPr>
              <a:xfrm>
                <a:off x="1236871" y="1441881"/>
                <a:ext cx="91164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M5: Teste 3 – 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x0 = [10;10;-10]; 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Q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= </a:t>
                </a:r>
                <a:r>
                  <a:rPr lang="pt-BR" sz="1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diag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(0.001, 0.001,0.01) e </a:t>
                </a:r>
                <a:r>
                  <a:rPr lang="pt-BR" sz="1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=0.1 / A = 1.5 e </a:t>
                </a:r>
                <a14:m>
                  <m:oMath xmlns:m="http://schemas.openxmlformats.org/officeDocument/2006/math"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𝜔</m:t>
                    </m:r>
                    <m:r>
                      <a:rPr lang="pt-BR" sz="1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=1.2 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𝑟𝑎𝑑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r>
                      <a:rPr lang="pt-BR" sz="1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</m:t>
                    </m:r>
                  </m:oMath>
                </a14:m>
                <a:r>
                  <a:rPr lang="pt-BR" sz="1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pt-BR" sz="1400" b="1" dirty="0"/>
              </a:p>
            </p:txBody>
          </p:sp>
        </mc:Choice>
        <mc:Fallback xmlns="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C25374E7-5D8C-388C-3418-59E55C036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871" y="1441881"/>
                <a:ext cx="9116497" cy="307777"/>
              </a:xfrm>
              <a:prstGeom prst="rect">
                <a:avLst/>
              </a:prstGeom>
              <a:blipFill>
                <a:blip r:embed="rId3"/>
                <a:stretch>
                  <a:fillRect l="-201" t="-6000" b="-18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m 6">
            <a:extLst>
              <a:ext uri="{FF2B5EF4-FFF2-40B4-BE49-F238E27FC236}">
                <a16:creationId xmlns:a16="http://schemas.microsoft.com/office/drawing/2014/main" id="{1E743CA3-796C-4500-D450-0D2BB9420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05" y="2284599"/>
            <a:ext cx="5449471" cy="290683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6A63436-4BD4-91FA-9F29-D72BFDA8FA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664" y="2253171"/>
            <a:ext cx="5340292" cy="2855172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56A499E3-5E98-F44F-A9CD-F721113317F2}"/>
              </a:ext>
            </a:extLst>
          </p:cNvPr>
          <p:cNvSpPr txBox="1"/>
          <p:nvPr/>
        </p:nvSpPr>
        <p:spPr>
          <a:xfrm>
            <a:off x="751541" y="1932473"/>
            <a:ext cx="2358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a) Evolução dos Estados</a:t>
            </a:r>
            <a:endParaRPr lang="pt-BR" sz="1400" b="1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8C1EC2E-27F0-F59D-FFC4-0482ABB11CC5}"/>
              </a:ext>
            </a:extLst>
          </p:cNvPr>
          <p:cNvSpPr txBox="1"/>
          <p:nvPr/>
        </p:nvSpPr>
        <p:spPr>
          <a:xfrm>
            <a:off x="6616483" y="1949902"/>
            <a:ext cx="33435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cs typeface="Arial" panose="020B0604020202020204" pitchFamily="34" charset="0"/>
              </a:rPr>
              <a:t>b) Erro quadrático médio da saída</a:t>
            </a:r>
            <a:endParaRPr lang="pt-BR" sz="1400" b="1" dirty="0"/>
          </a:p>
        </p:txBody>
      </p:sp>
    </p:spTree>
    <p:extLst>
      <p:ext uri="{BB962C8B-B14F-4D97-AF65-F5344CB8AC3E}">
        <p14:creationId xmlns:p14="http://schemas.microsoft.com/office/powerpoint/2010/main" val="39063449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E523D-238F-40F4-DBC0-5B94CA48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4B702594-6419-1E86-4F80-92A8C8BE8F1A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3EB1222-C4B8-58E7-7062-A4247B7C61BB}"/>
              </a:ext>
            </a:extLst>
          </p:cNvPr>
          <p:cNvSpPr txBox="1"/>
          <p:nvPr/>
        </p:nvSpPr>
        <p:spPr>
          <a:xfrm>
            <a:off x="1223681" y="887884"/>
            <a:ext cx="82251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RESULTADOS E CONCLUSÕES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3EAF631-9966-2364-DC87-6B1C4DDFB70D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1ED5F0-3CBB-050B-300B-BEEBEAC212E7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3FC32C69-1A29-D120-182D-721BB0771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5DC4301-0CAC-DB32-927B-B06039A66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3700" y="2254814"/>
            <a:ext cx="7104598" cy="286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87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9993-DF40-0E9E-3507-4BB727D7F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D4CB9F0-AA9E-A2C3-31D4-166F4A6A8CA9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ED274F9-A4C6-384D-BD5D-600F563C7A75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4. CONCLUSÕES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642E1C5-0C61-78B3-E4C3-88DC9F78E13B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8D216E-00AB-23E0-E42D-166C472BF726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369FDF3B-9284-EE4A-ADB7-1E9D40B0D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879893DD-DB3F-1937-8DF5-B90C5F0850DB}"/>
              </a:ext>
            </a:extLst>
          </p:cNvPr>
          <p:cNvSpPr txBox="1"/>
          <p:nvPr/>
        </p:nvSpPr>
        <p:spPr>
          <a:xfrm>
            <a:off x="1618213" y="1957997"/>
            <a:ext cx="9129685" cy="30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A </a:t>
            </a:r>
            <a:r>
              <a:rPr lang="pt-BR" sz="1600" b="1" dirty="0"/>
              <a:t>modelagem e definição dos estados</a:t>
            </a:r>
            <a:r>
              <a:rPr lang="pt-BR" sz="1600" dirty="0"/>
              <a:t> são determinantes para a observabilidade e o desempenho do filtro;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sz="16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A </a:t>
            </a:r>
            <a:r>
              <a:rPr lang="pt-BR" sz="1600" b="1" dirty="0"/>
              <a:t>robustez à inicialização</a:t>
            </a:r>
            <a:r>
              <a:rPr lang="pt-BR" sz="1600" dirty="0"/>
              <a:t> é uma propriedade dependente da estrutura matemática escolhida para o modelo;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sz="1600" dirty="0"/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sz="1600" dirty="0"/>
              <a:t>O desempenho ótimo do estimador exige a </a:t>
            </a:r>
            <a:r>
              <a:rPr lang="pt-BR" sz="1600" b="1" dirty="0"/>
              <a:t>sintonia criteriosa</a:t>
            </a:r>
            <a:r>
              <a:rPr lang="pt-BR" sz="1600" dirty="0"/>
              <a:t> das matrizes de covariância do modelo e da medição.</a:t>
            </a:r>
            <a:endParaRPr lang="pt-BR" sz="16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6804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B1D3F-7EA7-0C8F-03E5-6DB5A485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FB44E4F-9DC8-5ECE-3C69-5376241FB813}"/>
              </a:ext>
            </a:extLst>
          </p:cNvPr>
          <p:cNvCxnSpPr>
            <a:cxnSpLocks/>
          </p:cNvCxnSpPr>
          <p:nvPr/>
        </p:nvCxnSpPr>
        <p:spPr>
          <a:xfrm>
            <a:off x="1223682" y="1342275"/>
            <a:ext cx="9129686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9568142-3BC4-B698-C318-824E3078F81C}"/>
              </a:ext>
            </a:extLst>
          </p:cNvPr>
          <p:cNvSpPr txBox="1"/>
          <p:nvPr/>
        </p:nvSpPr>
        <p:spPr>
          <a:xfrm>
            <a:off x="1223681" y="887884"/>
            <a:ext cx="8065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C02250-31F5-7510-A3EB-017E92734BAC}"/>
              </a:ext>
            </a:extLst>
          </p:cNvPr>
          <p:cNvSpPr txBox="1"/>
          <p:nvPr/>
        </p:nvSpPr>
        <p:spPr>
          <a:xfrm>
            <a:off x="11602065" y="6488668"/>
            <a:ext cx="4522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12599A-9E1E-2F55-FE5C-F1006F37361B}"/>
              </a:ext>
            </a:extLst>
          </p:cNvPr>
          <p:cNvSpPr txBox="1">
            <a:spLocks/>
          </p:cNvSpPr>
          <p:nvPr/>
        </p:nvSpPr>
        <p:spPr>
          <a:xfrm>
            <a:off x="-1" y="6457890"/>
            <a:ext cx="12192001" cy="40011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UNIVERSIDADE FEDERAL DE CAMPINA GRANDE (UFCG)</a:t>
            </a:r>
          </a:p>
        </p:txBody>
      </p:sp>
      <p:pic>
        <p:nvPicPr>
          <p:cNvPr id="3" name="Picture 2" descr="Logomarcas">
            <a:extLst>
              <a:ext uri="{FF2B5EF4-FFF2-40B4-BE49-F238E27FC236}">
                <a16:creationId xmlns:a16="http://schemas.microsoft.com/office/drawing/2014/main" id="{91301232-7129-EACB-B307-6D0B0D417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3716" y="269656"/>
            <a:ext cx="1210588" cy="123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38FBFD4-D38B-272A-9F3F-3096A6872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2094" y="1960502"/>
            <a:ext cx="9547809" cy="3388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BROWN, R. G.; HWANG, P. Y. C.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Introduction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Random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Signals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Applied Kalman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Filtering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4th ed.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Hoboken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John Wiley &amp; Sons, 2012.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GELB, A. et al.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Applied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Optimal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Estimation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Cambridge: MIT Press, 1974.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KALMAN, R. E.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 new approach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linear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filtering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prediction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problems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Transactions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ASME, v. 82, n. 1, p. 35-45, 1960.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OGATA, K.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Engenharia de Controle Moderno. 5. ed. São Paulo: Pearson Prentice Hall, 2010.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SILVA, S. J. A.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Atividades da Disciplina Sistemas Inteligentes - UFCG 2026. GitHub: 2026. Disponível em: 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3"/>
              </a:rPr>
              <a:t>https://github.com/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3"/>
              </a:rPr>
              <a:t>SauloJose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hlinkClick r:id="rId3"/>
              </a:rPr>
              <a:t>/SistemasInteligentes2026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SIMON, D.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Optimal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State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Estimation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Kalman, H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Infinity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and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Nonlinear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Approaches.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Hoboken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John Wiley &amp; Sons, 2006.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ZARCHAN, P.; MUSOFF, H.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Fundamentals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of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Kalman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Filtering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A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Practical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Approach. 4th ed. Reston: AIAA, 2015.</a:t>
            </a:r>
          </a:p>
        </p:txBody>
      </p:sp>
    </p:spTree>
    <p:extLst>
      <p:ext uri="{BB962C8B-B14F-4D97-AF65-F5344CB8AC3E}">
        <p14:creationId xmlns:p14="http://schemas.microsoft.com/office/powerpoint/2010/main" val="3487896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F8551-3138-3592-B2D0-9308D6CDA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68A7DB7-892C-1102-C509-196D4C020417}"/>
              </a:ext>
            </a:extLst>
          </p:cNvPr>
          <p:cNvSpPr txBox="1"/>
          <p:nvPr/>
        </p:nvSpPr>
        <p:spPr>
          <a:xfrm>
            <a:off x="4106775" y="5929511"/>
            <a:ext cx="3978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Saulo José Almeida Silva.</a:t>
            </a:r>
            <a:b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dirty="0"/>
              <a:t>saulo.jose.silva@ee.ufcg.edu.br</a:t>
            </a: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B606FD2-AEAE-EDB8-5E06-354AB7BEC804}"/>
              </a:ext>
            </a:extLst>
          </p:cNvPr>
          <p:cNvSpPr txBox="1"/>
          <p:nvPr/>
        </p:nvSpPr>
        <p:spPr>
          <a:xfrm>
            <a:off x="721889" y="2705725"/>
            <a:ext cx="1074821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8800" dirty="0"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6" name="Picture 4" descr="Logomarcas">
            <a:extLst>
              <a:ext uri="{FF2B5EF4-FFF2-40B4-BE49-F238E27FC236}">
                <a16:creationId xmlns:a16="http://schemas.microsoft.com/office/drawing/2014/main" id="{89AE256B-4357-1E17-0765-F165476FB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54" y="333558"/>
            <a:ext cx="1484176" cy="1515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7490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2363</TotalTime>
  <Words>2136</Words>
  <Application>Microsoft Office PowerPoint</Application>
  <PresentationFormat>Widescreen</PresentationFormat>
  <Paragraphs>265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2" baseType="lpstr">
      <vt:lpstr>Aptos</vt:lpstr>
      <vt:lpstr>Aptos Display</vt:lpstr>
      <vt:lpstr>Arial</vt:lpstr>
      <vt:lpstr>Arial Black</vt:lpstr>
      <vt:lpstr>Cambria Math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Saulo José Almeida Silva</dc:creator>
  <cp:lastModifiedBy>Saulo José Almeida Silva</cp:lastModifiedBy>
  <cp:revision>294</cp:revision>
  <dcterms:created xsi:type="dcterms:W3CDTF">2025-08-24T00:23:34Z</dcterms:created>
  <dcterms:modified xsi:type="dcterms:W3CDTF">2026-03-23T20:36:50Z</dcterms:modified>
</cp:coreProperties>
</file>