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70" r:id="rId3"/>
    <p:sldId id="325" r:id="rId4"/>
    <p:sldId id="379" r:id="rId5"/>
    <p:sldId id="328" r:id="rId6"/>
    <p:sldId id="393" r:id="rId7"/>
    <p:sldId id="378" r:id="rId8"/>
    <p:sldId id="380" r:id="rId9"/>
    <p:sldId id="273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191E"/>
    <a:srgbClr val="FFE5E5"/>
    <a:srgbClr val="E9F5FB"/>
    <a:srgbClr val="FFFFFF"/>
    <a:srgbClr val="2F9E41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5020" autoAdjust="0"/>
  </p:normalViewPr>
  <p:slideViewPr>
    <p:cSldViewPr snapToGrid="0">
      <p:cViewPr varScale="1">
        <p:scale>
          <a:sx n="74" d="100"/>
          <a:sy n="74" d="100"/>
        </p:scale>
        <p:origin x="119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80AFB-2E3F-42DC-9796-A7A23E86EABD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721C4-8263-461E-8B3B-AC8C523E1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77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C2AEAD-B871-745C-25F1-240FEA0AD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48777E-2E06-D8A3-057D-0141147A9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9C4ED1-A464-72AF-3406-3DB2072B3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F7D17D-DC9E-875A-D4F9-7EF647E1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675DBC-E339-37F0-1BCC-B3914BE6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94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F1D6C-1D5D-A0B9-6455-90C4DF7F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E15C5E-5A3E-97A0-E331-014C1F762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373B20-95FA-CCCD-76E7-7D1506497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373DA8-1764-085E-FBDF-BA8FED4E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D27B59-8E2F-D65D-218D-8848CE64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039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5AEF6-BFCD-AF5F-E11F-05C2E54B3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63CFCD-BFFD-F010-885B-BA0231ED0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39062E-0F2F-9615-BE51-BB1C8F9B6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04D0E3-D19E-8351-1C90-A9D248B8D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E91183-BC19-F62D-4919-CFDDADA9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00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9B419-93F1-00B4-B822-0C6C55C31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ED323-33B2-1A19-3DE1-BE909EFB9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9B5E3E-5C8A-D639-F597-A7388C4DF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A84E66-C891-2BDE-3196-3274E00BC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F74336-D9A7-389C-08F0-53DFF1BE8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DBB875-658F-3EAB-E4AC-177C79231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049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A6AAA-0307-8322-5BA5-459C88AB6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2A430E-ED16-B93D-C617-481CC93BB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07A939-EEE0-1546-EE90-BDE4279E4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6471581-0638-71C6-B3CF-1EBBB500D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A12D75F-1A72-DD02-134E-03270286BB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78C5A5F-AAD8-5C1B-CBD2-154B017D4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F03B748-EFF7-51BA-F5D1-D723560F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D05E4B8-92EC-8079-EEA1-0AFB0701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998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85FE2-55F1-168D-572C-199729C2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82A637A-7428-34D1-0CF0-A0E0825B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49524F7-F631-DC22-1EE6-A65A457B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02D5828-13E0-BD36-EC26-45B02DE3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297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1EF7B4-754C-4D82-6EBA-C231A4888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2FEDAF3-030A-AAE4-24FA-B8707B849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4F61E9-DD33-DD18-055B-A08C3F137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912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F664C-4663-4CC6-64DC-4A1ED4EEA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A7D5E0-751D-22AC-6F81-DB39ECB5D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2A5B98-1D2E-7742-BD6E-6CD574205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25DA36-AA40-7B7E-E183-6EFFC174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549C72-4A58-531F-134E-B2974359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E04949-A313-4E38-BDFD-E93CB5C20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374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4092F-5896-D22D-2112-8016CDCD2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D8022BE-5115-E31E-9DBA-C1838FDB5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686221-8440-F759-3714-3E267B5D7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E3106F-8AC5-86E3-5393-AAD57E1B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6A1E77-1BFB-BFDE-4EAC-7EE39E9A6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F6B004-A6F2-C6BE-E0E6-AF3E44AA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3513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2688D-1D26-B34B-8F01-8AEED2E27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1A4866-3D79-D6DA-78A0-6600A45AC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6EDC72-9E83-F7D4-353E-608AFE16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0120ED-27F9-F2F8-F5C8-E8431AD68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48F66A-490A-4C93-6B43-07F79D71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438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3D5CE6-6FC6-9E20-0073-B14D2E261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DAF59E-354D-FB95-572B-E0F308EBC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178D85-ECB0-5C33-720F-4352A4835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1145E7-F369-2451-D6BC-92D43076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4E07FA-E87C-CFFC-2EB4-CEE0F665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8509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A475304-372F-B050-AC47-29D153D5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60DDA8-A757-6423-C510-7514400FB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46EB7F-73AB-00AB-E52A-ABDD6F076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E315B1-8A60-47FC-9A9C-8EB8FFA1BE11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C1BDC2-8CEA-962F-B2F7-799979B86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4B85AF-5142-5959-614B-DD93B12A7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782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uloJose/SistemasInteligentes202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36D3A2E-52AE-4705-B182-7D672A273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501" y="4012642"/>
            <a:ext cx="9461682" cy="81814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Professor: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Dr. Antônio Marcus Nogueira Lima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Aluno: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Saulo José Almeida Silva</a:t>
            </a:r>
            <a:endParaRPr lang="pt-B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4A5047E-7E22-4696-AED2-4B5A3BF6E2F0}"/>
              </a:ext>
            </a:extLst>
          </p:cNvPr>
          <p:cNvSpPr txBox="1">
            <a:spLocks/>
          </p:cNvSpPr>
          <p:nvPr/>
        </p:nvSpPr>
        <p:spPr>
          <a:xfrm>
            <a:off x="1365159" y="3039035"/>
            <a:ext cx="9461682" cy="77992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Detecção de Falhas em processo industriais: Análise Comparativa de Abordagens baseadas em SVD e Redes </a:t>
            </a:r>
            <a:r>
              <a:rPr lang="pt-BR" b="1" dirty="0" err="1">
                <a:solidFill>
                  <a:schemeClr val="bg1"/>
                </a:solidFill>
              </a:rPr>
              <a:t>Autoencodificadas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A4C55D7-217E-66E1-0BA4-DB510E93A830}"/>
              </a:ext>
            </a:extLst>
          </p:cNvPr>
          <p:cNvSpPr txBox="1"/>
          <p:nvPr/>
        </p:nvSpPr>
        <p:spPr>
          <a:xfrm>
            <a:off x="3785419" y="6155110"/>
            <a:ext cx="4463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dirty="0"/>
              <a:t>saulo.jose.silva@ee.ufcg.edu.br</a:t>
            </a: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 descr="Logomarcas">
            <a:extLst>
              <a:ext uri="{FF2B5EF4-FFF2-40B4-BE49-F238E27FC236}">
                <a16:creationId xmlns:a16="http://schemas.microsoft.com/office/drawing/2014/main" id="{2FA05E7E-E458-9BA7-D4BC-D3F4C6FF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254" y="333558"/>
            <a:ext cx="1484176" cy="151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5397D17-0CD9-2E8A-9A91-4304C151E554}"/>
              </a:ext>
            </a:extLst>
          </p:cNvPr>
          <p:cNvSpPr txBox="1"/>
          <p:nvPr/>
        </p:nvSpPr>
        <p:spPr>
          <a:xfrm>
            <a:off x="3048866" y="2476025"/>
            <a:ext cx="6094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latin typeface="Arial Black" panose="020B0A04020102020204" pitchFamily="34" charset="0"/>
                <a:cs typeface="Arial" panose="020B0604020202020204" pitchFamily="34" charset="0"/>
              </a:rPr>
              <a:t>SISTEMAS INTELIGENTES</a:t>
            </a:r>
            <a:endParaRPr lang="pt-BR" sz="20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574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AB643-7218-2B01-BCDA-649ADFCBD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4F2F874-FC0B-56C2-8CB8-AF9C780E919F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6B4EAFF-A4D5-F2CA-1FDA-5F545B089B4A}"/>
              </a:ext>
            </a:extLst>
          </p:cNvPr>
          <p:cNvSpPr txBox="1"/>
          <p:nvPr/>
        </p:nvSpPr>
        <p:spPr>
          <a:xfrm>
            <a:off x="1223682" y="88788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Sumário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C535880-AE30-AD40-3D1C-D2DDC19274F6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429E21E1-0ACB-1AEF-B647-FC8B575FD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6336" y="1665002"/>
            <a:ext cx="9778548" cy="4064483"/>
          </a:xfrm>
        </p:spPr>
        <p:txBody>
          <a:bodyPr numCol="1">
            <a:normAutofit/>
          </a:bodyPr>
          <a:lstStyle/>
          <a:p>
            <a:pPr marL="342900" indent="-342900" algn="l">
              <a:lnSpc>
                <a:spcPct val="100000"/>
              </a:lnSpc>
              <a:buAutoNum type="arabicPeriod"/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Introdução e Problema</a:t>
            </a:r>
          </a:p>
          <a:p>
            <a:pPr marL="342900" indent="-342900" algn="l">
              <a:lnSpc>
                <a:spcPct val="100000"/>
              </a:lnSpc>
              <a:buAutoNum type="arabicPeriod"/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Metodologia de Testes</a:t>
            </a:r>
            <a:endParaRPr lang="pt-B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00000"/>
              </a:lnSpc>
              <a:buAutoNum type="arabicPeriod"/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</a:p>
          <a:p>
            <a:pPr marL="342900" indent="-342900" algn="l">
              <a:lnSpc>
                <a:spcPct val="100000"/>
              </a:lnSpc>
              <a:buAutoNum type="arabicPeriod"/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Conclusões</a:t>
            </a:r>
          </a:p>
          <a:p>
            <a:pPr marL="800100" lvl="1" indent="-342900" algn="l">
              <a:lnSpc>
                <a:spcPct val="100000"/>
              </a:lnSpc>
              <a:buAutoNum type="arabicPeriod"/>
            </a:pPr>
            <a:endParaRPr lang="pt-BR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649A176D-48AC-0BE4-8D78-2B7EB3A40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79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9E346-2BA3-9278-B81B-F259CB35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4691F2D-5E67-27D7-11BB-FC65E9B04AB9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3026BC8-0626-F3D1-5DB0-6F3B24233303}"/>
              </a:ext>
            </a:extLst>
          </p:cNvPr>
          <p:cNvSpPr txBox="1"/>
          <p:nvPr/>
        </p:nvSpPr>
        <p:spPr>
          <a:xfrm>
            <a:off x="1223682" y="887884"/>
            <a:ext cx="6533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REFERÊNCIAS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84971F-2561-58D6-13E5-04ED208A1610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8AE08B-1571-01EC-2798-854321F7C781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18" name="Picture 2" descr="Logomarcas">
            <a:extLst>
              <a:ext uri="{FF2B5EF4-FFF2-40B4-BE49-F238E27FC236}">
                <a16:creationId xmlns:a16="http://schemas.microsoft.com/office/drawing/2014/main" id="{441594AE-DE8A-30E5-CAFD-91C707AD1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41121F0-8E2F-3E23-0FF8-95C109221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903" y="1820487"/>
            <a:ext cx="4448493" cy="19009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2C7D740-635F-8A9A-D2BE-96AA6E1DA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438" y="2804043"/>
            <a:ext cx="4243053" cy="8798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C96B323-845B-F3FF-00C6-BB175CDC3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438" y="1820487"/>
            <a:ext cx="4650659" cy="725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C15C203-1486-CA90-1AD7-EBEA2685E0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2109" y="4152170"/>
            <a:ext cx="5920129" cy="17727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045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979BC-9FA3-F517-9D35-FFE072059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8CC78F7-7F7C-6681-EECF-CF0ECA3CF02B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6C35E2-BEFB-35A6-EAC4-799648683099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65903CF-5014-17A1-CE59-E9ECF066612A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88918B-97E6-8DC5-7B9B-D4A1F1C5FAF6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1855178D-8F41-BC4E-2154-427F0EE51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1BD216D-0ED1-4DA0-5726-AC777DE6E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600" b="1" dirty="0">
                <a:latin typeface="+mj-lt"/>
              </a:rPr>
              <a:t>OBJETIVO DO ESTUDO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242A09C-08A3-A8BB-F404-34D7F2731468}"/>
              </a:ext>
            </a:extLst>
          </p:cNvPr>
          <p:cNvSpPr txBox="1"/>
          <p:nvPr/>
        </p:nvSpPr>
        <p:spPr>
          <a:xfrm>
            <a:off x="1223682" y="2368620"/>
            <a:ext cx="970978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Estudar dos Artigos de Zhang et al. (2020) e </a:t>
            </a:r>
            <a:r>
              <a:rPr lang="pt-BR" dirty="0" err="1"/>
              <a:t>Falek</a:t>
            </a:r>
            <a:r>
              <a:rPr lang="pt-BR" dirty="0"/>
              <a:t> (2020);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Desenvolver os Algoritmos em Python;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Pensar numa </a:t>
            </a:r>
            <a:r>
              <a:rPr lang="pt-BR" b="1" dirty="0"/>
              <a:t>Adaptação para o Algoritmo </a:t>
            </a:r>
            <a:r>
              <a:rPr lang="pt-BR" dirty="0"/>
              <a:t>de Identificação das covariâncias desconhecidas para um Caso EKF;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Aplicar esse algoritmo Adaptado na situação descrita por </a:t>
            </a:r>
            <a:r>
              <a:rPr lang="pt-BR" dirty="0" err="1"/>
              <a:t>Falek</a:t>
            </a:r>
            <a:r>
              <a:rPr lang="pt-BR" dirty="0"/>
              <a:t> e analisar os resultados;</a:t>
            </a:r>
          </a:p>
        </p:txBody>
      </p:sp>
    </p:spTree>
    <p:extLst>
      <p:ext uri="{BB962C8B-B14F-4D97-AF65-F5344CB8AC3E}">
        <p14:creationId xmlns:p14="http://schemas.microsoft.com/office/powerpoint/2010/main" val="2018847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1691E-0DB6-977A-2812-20DE0C16C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F4A77AE-98BF-6AB0-F12A-7C6E079269D6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2A9710B-BF0B-3D4E-0E41-FD3374605F7E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2. METODOLOGIA DE TESTES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45CE97E-8B3E-E644-5E83-3B543B6AAC28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5403EF-73DD-01FA-8741-3BC7A54BCE43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A7F4A596-59DD-FBD7-5691-0A6049AB1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1">
            <a:extLst>
              <a:ext uri="{FF2B5EF4-FFF2-40B4-BE49-F238E27FC236}">
                <a16:creationId xmlns:a16="http://schemas.microsoft.com/office/drawing/2014/main" id="{8251D1FE-4E54-95BB-0133-C927E8DF6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664" y="1595770"/>
            <a:ext cx="6614320" cy="2908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Modelos Avaliados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t-BR" altLang="pt-BR" sz="1400" dirty="0">
                <a:latin typeface="+mj-lt"/>
              </a:rPr>
              <a:t>Utilizou-se como Base o Modelo PVA (Position-</a:t>
            </a:r>
            <a:r>
              <a:rPr lang="pt-BR" altLang="pt-BR" sz="1400" dirty="0" err="1">
                <a:latin typeface="+mj-lt"/>
              </a:rPr>
              <a:t>Velocity</a:t>
            </a:r>
            <a:r>
              <a:rPr lang="pt-BR" altLang="pt-BR" sz="1400" dirty="0">
                <a:latin typeface="+mj-lt"/>
              </a:rPr>
              <a:t>-</a:t>
            </a:r>
            <a:r>
              <a:rPr lang="pt-BR" altLang="pt-BR" sz="1400" dirty="0" err="1">
                <a:latin typeface="+mj-lt"/>
              </a:rPr>
              <a:t>Aceleration</a:t>
            </a:r>
            <a:r>
              <a:rPr lang="pt-BR" altLang="pt-BR" sz="1400" dirty="0">
                <a:latin typeface="+mj-lt"/>
              </a:rPr>
              <a:t>)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t-BR" altLang="pt-BR" sz="1400" dirty="0">
                <a:latin typeface="+mj-lt"/>
              </a:rPr>
              <a:t>Avaliou um Filtro de Kalman Estendido em três trajetórias (Quadrada Circular e Curva)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pt-BR" altLang="pt-BR" sz="14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i="1" u="sng" dirty="0">
                <a:latin typeface="+mj-lt"/>
              </a:rPr>
              <a:t>Avaliação do </a:t>
            </a:r>
            <a:r>
              <a:rPr lang="pt-BR" altLang="pt-BR" sz="1600" b="1" i="1" u="sng" dirty="0" err="1">
                <a:latin typeface="+mj-lt"/>
              </a:rPr>
              <a:t>Algorítmo</a:t>
            </a:r>
            <a:r>
              <a:rPr lang="pt-BR" altLang="pt-BR" sz="1600" b="1" i="1" u="sng" dirty="0">
                <a:latin typeface="+mj-lt"/>
              </a:rPr>
              <a:t> de Zhang</a:t>
            </a:r>
            <a:endParaRPr kumimoji="0" lang="pt-BR" altLang="pt-BR" sz="16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Avaliar 3 testes diferentes e considerar o NIS (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Normalized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Inovation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Squared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para cada caso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229A879-8A90-8C49-76F2-D05351DFC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373" y="4297254"/>
            <a:ext cx="6614320" cy="196825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52C00AF-F3C7-4197-D67E-285B66DD1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943" y="1789766"/>
            <a:ext cx="2673067" cy="140687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CC2CF28-6D70-5803-B2C2-CA6172332B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943" y="3461580"/>
            <a:ext cx="2673067" cy="2611553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4C612549-CA6C-B760-6CC4-9A4D87336EA3}"/>
              </a:ext>
            </a:extLst>
          </p:cNvPr>
          <p:cNvCxnSpPr/>
          <p:nvPr/>
        </p:nvCxnSpPr>
        <p:spPr>
          <a:xfrm>
            <a:off x="8141109" y="1830043"/>
            <a:ext cx="0" cy="41834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1238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CDC20-DD48-99CE-055B-6220F1775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5C6F192-E5CD-5CED-9A8A-EB249E75A60B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F5EF077-BEE5-ADF2-16CC-4C0AE3C478DD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RESULTADOS 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425F1C-0EAC-87CC-B696-6CB98E8E2DFB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C3F561-1DA3-FC2A-9E67-F461EEF33E21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8D67990D-4EE2-2173-83BA-6DE6B8D62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1">
            <a:extLst>
              <a:ext uri="{FF2B5EF4-FFF2-40B4-BE49-F238E27FC236}">
                <a16:creationId xmlns:a16="http://schemas.microsoft.com/office/drawing/2014/main" id="{F0E16EC0-1783-04F0-2E03-B8EAE7FE2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426913"/>
            <a:ext cx="7074744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Modelos Simulados de Trajetória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pt-BR" altLang="pt-BR" sz="14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E44054A-D557-CAE6-13CD-A9DA7D415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621" y="2284441"/>
            <a:ext cx="3086410" cy="3148187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D6CD7AC-BD82-C19C-8BD0-2CC875DF49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098" y="2284441"/>
            <a:ext cx="3086410" cy="314818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6907EED5-22FA-E119-208F-133D9AB2BF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010" y="2273298"/>
            <a:ext cx="3097335" cy="315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70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E9993-DF40-0E9E-3507-4BB727D7F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D4CB9F0-AA9E-A2C3-31D4-166F4A6A8CA9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ED274F9-A4C6-384D-BD5D-600F563C7A75}"/>
              </a:ext>
            </a:extLst>
          </p:cNvPr>
          <p:cNvSpPr txBox="1"/>
          <p:nvPr/>
        </p:nvSpPr>
        <p:spPr>
          <a:xfrm>
            <a:off x="1223681" y="887884"/>
            <a:ext cx="8065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4. CONCLUSÕES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642E1C5-0C61-78B3-E4C3-88DC9F78E13B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8D216E-00AB-23E0-E42D-166C472BF726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369FDF3B-9284-EE4A-ADB7-1E9D40B0D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79893DD-DB3F-1937-8DF5-B90C5F0850DB}"/>
              </a:ext>
            </a:extLst>
          </p:cNvPr>
          <p:cNvSpPr txBox="1"/>
          <p:nvPr/>
        </p:nvSpPr>
        <p:spPr>
          <a:xfrm>
            <a:off x="1304217" y="1892920"/>
            <a:ext cx="9129685" cy="2642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600" dirty="0"/>
              <a:t>O algoritmo desenvolvido por Zhang et al. (2020) funciona corretamente, como ele já o demonstrou;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600" dirty="0"/>
              <a:t>A Adaptação que utilizei não funciona, pois há o acúmulo de erros ao tomar o valor médio em trajetórias complexas;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600" dirty="0"/>
              <a:t>A Adaptação com Gradiente por diferenças finitas teve resultados satisfatórios;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600" dirty="0"/>
              <a:t>É necessário mais estudo no assunto para garantir uma resposta definitiva para os casos não-lineares, contudo, já existem soluções utilizando otimizações Bayesianas;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D01D5EF-15BA-F0D0-E50B-F25B646FA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999" y="4870710"/>
            <a:ext cx="4308123" cy="12900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5680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B1D3F-7EA7-0C8F-03E5-6DB5A4857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FB44E4F-9DC8-5ECE-3C69-5376241FB813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9568142-3BC4-B698-C318-824E3078F81C}"/>
              </a:ext>
            </a:extLst>
          </p:cNvPr>
          <p:cNvSpPr txBox="1"/>
          <p:nvPr/>
        </p:nvSpPr>
        <p:spPr>
          <a:xfrm>
            <a:off x="1223681" y="887884"/>
            <a:ext cx="8065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0C02250-31F5-7510-A3EB-017E92734BAC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12599A-9E1E-2F55-FE5C-F1006F37361B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91301232-7129-EACB-B307-6D0B0D417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38FBFD4-D38B-272A-9F3F-3096A6872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2094" y="1342275"/>
            <a:ext cx="9547809" cy="4840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sz="1000" dirty="0"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BAR-SHALOM, Y.; LI, X. R.; KIRUBARAJAN, T. </a:t>
            </a:r>
            <a:r>
              <a:rPr lang="pt-BR" sz="1000" dirty="0" err="1"/>
              <a:t>Estimation</a:t>
            </a:r>
            <a:r>
              <a:rPr lang="pt-BR" sz="1000" dirty="0"/>
              <a:t> </a:t>
            </a:r>
            <a:r>
              <a:rPr lang="pt-BR" sz="1000" dirty="0" err="1"/>
              <a:t>with</a:t>
            </a:r>
            <a:r>
              <a:rPr lang="pt-BR" sz="1000" dirty="0"/>
              <a:t> </a:t>
            </a:r>
            <a:r>
              <a:rPr lang="pt-BR" sz="1000" dirty="0" err="1"/>
              <a:t>applications</a:t>
            </a:r>
            <a:r>
              <a:rPr lang="pt-BR" sz="1000" dirty="0"/>
              <a:t> </a:t>
            </a:r>
            <a:r>
              <a:rPr lang="pt-BR" sz="1000" dirty="0" err="1"/>
              <a:t>to</a:t>
            </a:r>
            <a:r>
              <a:rPr lang="pt-BR" sz="1000" dirty="0"/>
              <a:t> tracking </a:t>
            </a:r>
            <a:r>
              <a:rPr lang="pt-BR" sz="1000" dirty="0" err="1"/>
              <a:t>and</a:t>
            </a:r>
            <a:r>
              <a:rPr lang="pt-BR" sz="1000" dirty="0"/>
              <a:t> </a:t>
            </a:r>
            <a:r>
              <a:rPr lang="pt-BR" sz="1000" dirty="0" err="1"/>
              <a:t>navigation</a:t>
            </a:r>
            <a:r>
              <a:rPr lang="pt-BR" sz="1000" dirty="0"/>
              <a:t>. New York: John Wiley &amp; Sons, 2001.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CAREW, B.; BÉLANGER, P. R. </a:t>
            </a:r>
            <a:r>
              <a:rPr lang="pt-BR" sz="1000" dirty="0" err="1"/>
              <a:t>Identification</a:t>
            </a:r>
            <a:r>
              <a:rPr lang="pt-BR" sz="1000" dirty="0"/>
              <a:t> </a:t>
            </a:r>
            <a:r>
              <a:rPr lang="pt-BR" sz="1000" dirty="0" err="1"/>
              <a:t>of</a:t>
            </a:r>
            <a:r>
              <a:rPr lang="pt-BR" sz="1000" dirty="0"/>
              <a:t> </a:t>
            </a:r>
            <a:r>
              <a:rPr lang="pt-BR" sz="1000" dirty="0" err="1"/>
              <a:t>optimum</a:t>
            </a:r>
            <a:r>
              <a:rPr lang="pt-BR" sz="1000" dirty="0"/>
              <a:t> </a:t>
            </a:r>
            <a:r>
              <a:rPr lang="pt-BR" sz="1000" dirty="0" err="1"/>
              <a:t>filter</a:t>
            </a:r>
            <a:r>
              <a:rPr lang="pt-BR" sz="1000" dirty="0"/>
              <a:t> </a:t>
            </a:r>
            <a:r>
              <a:rPr lang="pt-BR" sz="1000" dirty="0" err="1"/>
              <a:t>steady-state</a:t>
            </a:r>
            <a:r>
              <a:rPr lang="pt-BR" sz="1000" dirty="0"/>
              <a:t> </a:t>
            </a:r>
            <a:r>
              <a:rPr lang="pt-BR" sz="1000" dirty="0" err="1"/>
              <a:t>gain</a:t>
            </a:r>
            <a:r>
              <a:rPr lang="pt-BR" sz="1000" dirty="0"/>
              <a:t> for systems </a:t>
            </a:r>
            <a:r>
              <a:rPr lang="pt-BR" sz="1000" dirty="0" err="1"/>
              <a:t>with</a:t>
            </a:r>
            <a:r>
              <a:rPr lang="pt-BR" sz="1000" dirty="0"/>
              <a:t> </a:t>
            </a:r>
            <a:r>
              <a:rPr lang="pt-BR" sz="1000" dirty="0" err="1"/>
              <a:t>unknown</a:t>
            </a:r>
            <a:r>
              <a:rPr lang="pt-BR" sz="1000" dirty="0"/>
              <a:t> </a:t>
            </a:r>
            <a:r>
              <a:rPr lang="pt-BR" sz="1000" dirty="0" err="1"/>
              <a:t>noise</a:t>
            </a:r>
            <a:r>
              <a:rPr lang="pt-BR" sz="1000" dirty="0"/>
              <a:t> </a:t>
            </a:r>
            <a:r>
              <a:rPr lang="pt-BR" sz="1000" dirty="0" err="1"/>
              <a:t>covariances</a:t>
            </a:r>
            <a:r>
              <a:rPr lang="pt-BR" sz="1000" dirty="0"/>
              <a:t>. IEEE </a:t>
            </a:r>
            <a:r>
              <a:rPr lang="pt-BR" sz="1000" dirty="0" err="1"/>
              <a:t>Transactions</a:t>
            </a:r>
            <a:r>
              <a:rPr lang="pt-BR" sz="1000" dirty="0"/>
              <a:t> </a:t>
            </a:r>
            <a:r>
              <a:rPr lang="pt-BR" sz="1000" dirty="0" err="1"/>
              <a:t>on</a:t>
            </a:r>
            <a:r>
              <a:rPr lang="pt-BR" sz="1000" dirty="0"/>
              <a:t> </a:t>
            </a:r>
            <a:r>
              <a:rPr lang="pt-BR" sz="1000" dirty="0" err="1"/>
              <a:t>Automatic</a:t>
            </a:r>
            <a:r>
              <a:rPr lang="pt-BR" sz="1000" dirty="0"/>
              <a:t> </a:t>
            </a:r>
            <a:r>
              <a:rPr lang="pt-BR" sz="1000" dirty="0" err="1"/>
              <a:t>Control</a:t>
            </a:r>
            <a:r>
              <a:rPr lang="pt-BR" sz="1000" dirty="0"/>
              <a:t>, v. 18, n. 6, p. 582-592, dez. 1973.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CHEN, Z.; HECKMAN, C.; JULIER, S. </a:t>
            </a:r>
            <a:r>
              <a:rPr lang="pt-BR" sz="1000" dirty="0" err="1"/>
              <a:t>Weak</a:t>
            </a:r>
            <a:r>
              <a:rPr lang="pt-BR" sz="1000" dirty="0"/>
              <a:t> in </a:t>
            </a:r>
            <a:r>
              <a:rPr lang="pt-BR" sz="1000" dirty="0" err="1"/>
              <a:t>the</a:t>
            </a:r>
            <a:r>
              <a:rPr lang="pt-BR" sz="1000" dirty="0"/>
              <a:t> NEES?: </a:t>
            </a:r>
            <a:r>
              <a:rPr lang="pt-BR" sz="1000" dirty="0" err="1"/>
              <a:t>Auto-tuning</a:t>
            </a:r>
            <a:r>
              <a:rPr lang="pt-BR" sz="1000" dirty="0"/>
              <a:t> Kalman </a:t>
            </a:r>
            <a:r>
              <a:rPr lang="pt-BR" sz="1000" dirty="0" err="1"/>
              <a:t>filters</a:t>
            </a:r>
            <a:r>
              <a:rPr lang="pt-BR" sz="1000" dirty="0"/>
              <a:t> </a:t>
            </a:r>
            <a:r>
              <a:rPr lang="pt-BR" sz="1000" dirty="0" err="1"/>
              <a:t>with</a:t>
            </a:r>
            <a:r>
              <a:rPr lang="pt-BR" sz="1000" dirty="0"/>
              <a:t> </a:t>
            </a:r>
            <a:r>
              <a:rPr lang="pt-BR" sz="1000" dirty="0" err="1"/>
              <a:t>Bayesian</a:t>
            </a:r>
            <a:r>
              <a:rPr lang="pt-BR" sz="1000" dirty="0"/>
              <a:t> </a:t>
            </a:r>
            <a:r>
              <a:rPr lang="pt-BR" sz="1000" dirty="0" err="1"/>
              <a:t>optimization</a:t>
            </a:r>
            <a:r>
              <a:rPr lang="pt-BR" sz="1000" dirty="0"/>
              <a:t>. In: INTERNATIONAL CONFERENCE ON INFORMATION FUSION (FUSION), 21., 2018. </a:t>
            </a:r>
            <a:r>
              <a:rPr lang="pt-BR" sz="1000" dirty="0" err="1"/>
              <a:t>Proceedings</a:t>
            </a:r>
            <a:r>
              <a:rPr lang="pt-BR" sz="1000" dirty="0"/>
              <a:t>... [S. l.]: IEEE, 2018.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CHEN, Z. et al. Kalman </a:t>
            </a:r>
            <a:r>
              <a:rPr lang="pt-BR" sz="1000" dirty="0" err="1"/>
              <a:t>filter</a:t>
            </a:r>
            <a:r>
              <a:rPr lang="pt-BR" sz="1000" dirty="0"/>
              <a:t> </a:t>
            </a:r>
            <a:r>
              <a:rPr lang="pt-BR" sz="1000" dirty="0" err="1"/>
              <a:t>auto-tuning</a:t>
            </a:r>
            <a:r>
              <a:rPr lang="pt-BR" sz="1000" dirty="0"/>
              <a:t> </a:t>
            </a:r>
            <a:r>
              <a:rPr lang="pt-BR" sz="1000" dirty="0" err="1"/>
              <a:t>through</a:t>
            </a:r>
            <a:r>
              <a:rPr lang="pt-BR" sz="1000" dirty="0"/>
              <a:t> </a:t>
            </a:r>
            <a:r>
              <a:rPr lang="pt-BR" sz="1000" dirty="0" err="1"/>
              <a:t>enforcing</a:t>
            </a:r>
            <a:r>
              <a:rPr lang="pt-BR" sz="1000" dirty="0"/>
              <a:t> chi-</a:t>
            </a:r>
            <a:r>
              <a:rPr lang="pt-BR" sz="1000" dirty="0" err="1"/>
              <a:t>squared</a:t>
            </a:r>
            <a:r>
              <a:rPr lang="pt-BR" sz="1000" dirty="0"/>
              <a:t> </a:t>
            </a:r>
            <a:r>
              <a:rPr lang="pt-BR" sz="1000" dirty="0" err="1"/>
              <a:t>normalized</a:t>
            </a:r>
            <a:r>
              <a:rPr lang="pt-BR" sz="1000" dirty="0"/>
              <a:t> </a:t>
            </a:r>
            <a:r>
              <a:rPr lang="pt-BR" sz="1000" dirty="0" err="1"/>
              <a:t>error</a:t>
            </a:r>
            <a:r>
              <a:rPr lang="pt-BR" sz="1000" dirty="0"/>
              <a:t> </a:t>
            </a:r>
            <a:r>
              <a:rPr lang="pt-BR" sz="1000" dirty="0" err="1"/>
              <a:t>distributions</a:t>
            </a:r>
            <a:r>
              <a:rPr lang="pt-BR" sz="1000" dirty="0"/>
              <a:t> </a:t>
            </a:r>
            <a:r>
              <a:rPr lang="pt-BR" sz="1000" dirty="0" err="1"/>
              <a:t>with</a:t>
            </a:r>
            <a:r>
              <a:rPr lang="pt-BR" sz="1000" dirty="0"/>
              <a:t> </a:t>
            </a:r>
            <a:r>
              <a:rPr lang="pt-BR" sz="1000" dirty="0" err="1"/>
              <a:t>Bayesian</a:t>
            </a:r>
            <a:r>
              <a:rPr lang="pt-BR" sz="1000" dirty="0"/>
              <a:t> </a:t>
            </a:r>
            <a:r>
              <a:rPr lang="pt-BR" sz="1000" dirty="0" err="1"/>
              <a:t>optimization</a:t>
            </a:r>
            <a:r>
              <a:rPr lang="pt-BR" sz="1000" dirty="0"/>
              <a:t>. </a:t>
            </a:r>
            <a:r>
              <a:rPr lang="pt-BR" sz="1000" dirty="0" err="1"/>
              <a:t>arXiv</a:t>
            </a:r>
            <a:r>
              <a:rPr lang="pt-BR" sz="1000" dirty="0"/>
              <a:t> </a:t>
            </a:r>
            <a:r>
              <a:rPr lang="pt-BR" sz="1000" dirty="0" err="1"/>
              <a:t>preprint</a:t>
            </a:r>
            <a:r>
              <a:rPr lang="pt-BR" sz="1000" dirty="0"/>
              <a:t> arXiv:2306.07225, 2023.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FAŁEK, P.; KANIEWSKI, P. Computer </a:t>
            </a:r>
            <a:r>
              <a:rPr lang="pt-BR" sz="1000" dirty="0" err="1"/>
              <a:t>application</a:t>
            </a:r>
            <a:r>
              <a:rPr lang="pt-BR" sz="1000" dirty="0"/>
              <a:t> for </a:t>
            </a:r>
            <a:r>
              <a:rPr lang="pt-BR" sz="1000" dirty="0" err="1"/>
              <a:t>testing</a:t>
            </a:r>
            <a:r>
              <a:rPr lang="pt-BR" sz="1000" dirty="0"/>
              <a:t> Kalman </a:t>
            </a:r>
            <a:r>
              <a:rPr lang="pt-BR" sz="1000" dirty="0" err="1"/>
              <a:t>filter</a:t>
            </a:r>
            <a:r>
              <a:rPr lang="pt-BR" sz="1000" dirty="0"/>
              <a:t>. </a:t>
            </a:r>
            <a:r>
              <a:rPr lang="pt-BR" sz="1000" dirty="0" err="1"/>
              <a:t>Journal</a:t>
            </a:r>
            <a:r>
              <a:rPr lang="pt-BR" sz="1000" dirty="0"/>
              <a:t> </a:t>
            </a:r>
            <a:r>
              <a:rPr lang="pt-BR" sz="1000" dirty="0" err="1"/>
              <a:t>of</a:t>
            </a:r>
            <a:r>
              <a:rPr lang="pt-BR" sz="1000" dirty="0"/>
              <a:t> Automation, Mobile Robotics &amp; </a:t>
            </a:r>
            <a:r>
              <a:rPr lang="pt-BR" sz="1000" dirty="0" err="1"/>
              <a:t>Intelligent</a:t>
            </a:r>
            <a:r>
              <a:rPr lang="pt-BR" sz="1000" dirty="0"/>
              <a:t> Systems, v. 14, n. 2, p. 3-10, 2020.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KALMAN, R. E. A new approach </a:t>
            </a:r>
            <a:r>
              <a:rPr lang="pt-BR" sz="1000" dirty="0" err="1"/>
              <a:t>to</a:t>
            </a:r>
            <a:r>
              <a:rPr lang="pt-BR" sz="1000" dirty="0"/>
              <a:t> linear </a:t>
            </a:r>
            <a:r>
              <a:rPr lang="pt-BR" sz="1000" dirty="0" err="1"/>
              <a:t>filtering</a:t>
            </a:r>
            <a:r>
              <a:rPr lang="pt-BR" sz="1000" dirty="0"/>
              <a:t> </a:t>
            </a:r>
            <a:r>
              <a:rPr lang="pt-BR" sz="1000" dirty="0" err="1"/>
              <a:t>and</a:t>
            </a:r>
            <a:r>
              <a:rPr lang="pt-BR" sz="1000" dirty="0"/>
              <a:t> </a:t>
            </a:r>
            <a:r>
              <a:rPr lang="pt-BR" sz="1000" dirty="0" err="1"/>
              <a:t>prediction</a:t>
            </a:r>
            <a:r>
              <a:rPr lang="pt-BR" sz="1000" dirty="0"/>
              <a:t> </a:t>
            </a:r>
            <a:r>
              <a:rPr lang="pt-BR" sz="1000" dirty="0" err="1"/>
              <a:t>problems</a:t>
            </a:r>
            <a:r>
              <a:rPr lang="pt-BR" sz="1000" dirty="0"/>
              <a:t>. </a:t>
            </a:r>
            <a:r>
              <a:rPr lang="pt-BR" sz="1000" dirty="0" err="1"/>
              <a:t>Journal</a:t>
            </a:r>
            <a:r>
              <a:rPr lang="pt-BR" sz="1000" dirty="0"/>
              <a:t> </a:t>
            </a:r>
            <a:r>
              <a:rPr lang="pt-BR" sz="1000" dirty="0" err="1"/>
              <a:t>of</a:t>
            </a:r>
            <a:r>
              <a:rPr lang="pt-BR" sz="1000" dirty="0"/>
              <a:t> Basic </a:t>
            </a:r>
            <a:r>
              <a:rPr lang="pt-BR" sz="1000" dirty="0" err="1"/>
              <a:t>Engineering</a:t>
            </a:r>
            <a:r>
              <a:rPr lang="pt-BR" sz="1000" dirty="0"/>
              <a:t>, v. 82, n. 1, p. 35-45, 1960.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MEHRA, R. K. </a:t>
            </a:r>
            <a:r>
              <a:rPr lang="pt-BR" sz="1000" dirty="0" err="1"/>
              <a:t>On</a:t>
            </a:r>
            <a:r>
              <a:rPr lang="pt-BR" sz="1000" dirty="0"/>
              <a:t> </a:t>
            </a:r>
            <a:r>
              <a:rPr lang="pt-BR" sz="1000" dirty="0" err="1"/>
              <a:t>the</a:t>
            </a:r>
            <a:r>
              <a:rPr lang="pt-BR" sz="1000" dirty="0"/>
              <a:t> </a:t>
            </a:r>
            <a:r>
              <a:rPr lang="pt-BR" sz="1000" dirty="0" err="1"/>
              <a:t>identification</a:t>
            </a:r>
            <a:r>
              <a:rPr lang="pt-BR" sz="1000" dirty="0"/>
              <a:t> </a:t>
            </a:r>
            <a:r>
              <a:rPr lang="pt-BR" sz="1000" dirty="0" err="1"/>
              <a:t>of</a:t>
            </a:r>
            <a:r>
              <a:rPr lang="pt-BR" sz="1000" dirty="0"/>
              <a:t> </a:t>
            </a:r>
            <a:r>
              <a:rPr lang="pt-BR" sz="1000" dirty="0" err="1"/>
              <a:t>variance</a:t>
            </a:r>
            <a:r>
              <a:rPr lang="pt-BR" sz="1000" dirty="0"/>
              <a:t> </a:t>
            </a:r>
            <a:r>
              <a:rPr lang="pt-BR" sz="1000" dirty="0" err="1"/>
              <a:t>and</a:t>
            </a:r>
            <a:r>
              <a:rPr lang="pt-BR" sz="1000" dirty="0"/>
              <a:t> </a:t>
            </a:r>
            <a:r>
              <a:rPr lang="pt-BR" sz="1000" dirty="0" err="1"/>
              <a:t>adaptive</a:t>
            </a:r>
            <a:r>
              <a:rPr lang="pt-BR" sz="1000" dirty="0"/>
              <a:t> Kalman </a:t>
            </a:r>
            <a:r>
              <a:rPr lang="pt-BR" sz="1000" dirty="0" err="1"/>
              <a:t>filtering</a:t>
            </a:r>
            <a:r>
              <a:rPr lang="pt-BR" sz="1000" dirty="0"/>
              <a:t>. IEEE </a:t>
            </a:r>
            <a:r>
              <a:rPr lang="pt-BR" sz="1000" dirty="0" err="1"/>
              <a:t>Transactions</a:t>
            </a:r>
            <a:r>
              <a:rPr lang="pt-BR" sz="1000" dirty="0"/>
              <a:t> </a:t>
            </a:r>
            <a:r>
              <a:rPr lang="pt-BR" sz="1000" dirty="0" err="1"/>
              <a:t>on</a:t>
            </a:r>
            <a:r>
              <a:rPr lang="pt-BR" sz="1000" dirty="0"/>
              <a:t> </a:t>
            </a:r>
            <a:r>
              <a:rPr lang="pt-BR" sz="1000" dirty="0" err="1"/>
              <a:t>Automatic</a:t>
            </a:r>
            <a:r>
              <a:rPr lang="pt-BR" sz="1000" dirty="0"/>
              <a:t> </a:t>
            </a:r>
            <a:r>
              <a:rPr lang="pt-BR" sz="1000" dirty="0" err="1"/>
              <a:t>Control</a:t>
            </a:r>
            <a:r>
              <a:rPr lang="pt-BR" sz="1000" dirty="0"/>
              <a:t>, v. 15, n. 2, p. 175-184, abr. 1970.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NEETHLING, C.; WILLEMS, J. L. The use </a:t>
            </a:r>
            <a:r>
              <a:rPr lang="pt-BR" sz="1000" dirty="0" err="1"/>
              <a:t>of</a:t>
            </a:r>
            <a:r>
              <a:rPr lang="pt-BR" sz="1000" dirty="0"/>
              <a:t> </a:t>
            </a:r>
            <a:r>
              <a:rPr lang="pt-BR" sz="1000" dirty="0" err="1"/>
              <a:t>the</a:t>
            </a:r>
            <a:r>
              <a:rPr lang="pt-BR" sz="1000" dirty="0"/>
              <a:t> </a:t>
            </a:r>
            <a:r>
              <a:rPr lang="pt-BR" sz="1000" dirty="0" err="1"/>
              <a:t>innovations</a:t>
            </a:r>
            <a:r>
              <a:rPr lang="pt-BR" sz="1000" dirty="0"/>
              <a:t> </a:t>
            </a:r>
            <a:r>
              <a:rPr lang="pt-BR" sz="1000" dirty="0" err="1"/>
              <a:t>sequence</a:t>
            </a:r>
            <a:r>
              <a:rPr lang="pt-BR" sz="1000" dirty="0"/>
              <a:t> </a:t>
            </a:r>
            <a:r>
              <a:rPr lang="pt-BR" sz="1000" dirty="0" err="1"/>
              <a:t>to</a:t>
            </a:r>
            <a:r>
              <a:rPr lang="pt-BR" sz="1000" dirty="0"/>
              <a:t> determine </a:t>
            </a:r>
            <a:r>
              <a:rPr lang="pt-BR" sz="1000" dirty="0" err="1"/>
              <a:t>the</a:t>
            </a:r>
            <a:r>
              <a:rPr lang="pt-BR" sz="1000" dirty="0"/>
              <a:t> </a:t>
            </a:r>
            <a:r>
              <a:rPr lang="pt-BR" sz="1000" dirty="0" err="1"/>
              <a:t>state</a:t>
            </a:r>
            <a:r>
              <a:rPr lang="pt-BR" sz="1000" dirty="0"/>
              <a:t> </a:t>
            </a:r>
            <a:r>
              <a:rPr lang="pt-BR" sz="1000" dirty="0" err="1"/>
              <a:t>covariance</a:t>
            </a:r>
            <a:r>
              <a:rPr lang="pt-BR" sz="1000" dirty="0"/>
              <a:t> </a:t>
            </a:r>
            <a:r>
              <a:rPr lang="pt-BR" sz="1000" dirty="0" err="1"/>
              <a:t>matrix</a:t>
            </a:r>
            <a:r>
              <a:rPr lang="pt-BR" sz="1000" dirty="0"/>
              <a:t> </a:t>
            </a:r>
            <a:r>
              <a:rPr lang="pt-BR" sz="1000" dirty="0" err="1"/>
              <a:t>of</a:t>
            </a:r>
            <a:r>
              <a:rPr lang="pt-BR" sz="1000" dirty="0"/>
              <a:t> a linear time-</a:t>
            </a:r>
            <a:r>
              <a:rPr lang="pt-BR" sz="1000" dirty="0" err="1"/>
              <a:t>invariant</a:t>
            </a:r>
            <a:r>
              <a:rPr lang="pt-BR" sz="1000" dirty="0"/>
              <a:t> system. </a:t>
            </a:r>
            <a:r>
              <a:rPr lang="pt-BR" sz="1000" dirty="0" err="1"/>
              <a:t>Automatica</a:t>
            </a:r>
            <a:r>
              <a:rPr lang="pt-BR" sz="1000" dirty="0"/>
              <a:t>, v. 10, n. 3, p. 337-341, 1974.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ODELSON, B. J.; RAJAMANI, M. R.; RAWLINGS, J. B. A new pose for </a:t>
            </a:r>
            <a:r>
              <a:rPr lang="pt-BR" sz="1000" dirty="0" err="1"/>
              <a:t>adaptive</a:t>
            </a:r>
            <a:r>
              <a:rPr lang="pt-BR" sz="1000" dirty="0"/>
              <a:t> Kalman </a:t>
            </a:r>
            <a:r>
              <a:rPr lang="pt-BR" sz="1000" dirty="0" err="1"/>
              <a:t>filtering</a:t>
            </a:r>
            <a:r>
              <a:rPr lang="pt-BR" sz="1000" dirty="0"/>
              <a:t>: </a:t>
            </a:r>
            <a:r>
              <a:rPr lang="pt-BR" sz="1000" dirty="0" err="1"/>
              <a:t>the</a:t>
            </a:r>
            <a:r>
              <a:rPr lang="pt-BR" sz="1000" dirty="0"/>
              <a:t> </a:t>
            </a:r>
            <a:r>
              <a:rPr lang="pt-BR" sz="1000" dirty="0" err="1"/>
              <a:t>monitoring</a:t>
            </a:r>
            <a:r>
              <a:rPr lang="pt-BR" sz="1000" dirty="0"/>
              <a:t> </a:t>
            </a:r>
            <a:r>
              <a:rPr lang="pt-BR" sz="1000" dirty="0" err="1"/>
              <a:t>and</a:t>
            </a:r>
            <a:r>
              <a:rPr lang="pt-BR" sz="1000" dirty="0"/>
              <a:t> </a:t>
            </a:r>
            <a:r>
              <a:rPr lang="pt-BR" sz="1000" dirty="0" err="1"/>
              <a:t>estimation</a:t>
            </a:r>
            <a:r>
              <a:rPr lang="pt-BR" sz="1000" dirty="0"/>
              <a:t> </a:t>
            </a:r>
            <a:r>
              <a:rPr lang="pt-BR" sz="1000" dirty="0" err="1"/>
              <a:t>of</a:t>
            </a:r>
            <a:r>
              <a:rPr lang="pt-BR" sz="1000" dirty="0"/>
              <a:t> </a:t>
            </a:r>
            <a:r>
              <a:rPr lang="pt-BR" sz="1000" dirty="0" err="1"/>
              <a:t>control</a:t>
            </a:r>
            <a:r>
              <a:rPr lang="pt-BR" sz="1000" dirty="0"/>
              <a:t> performance. </a:t>
            </a:r>
            <a:r>
              <a:rPr lang="pt-BR" sz="1000" dirty="0" err="1"/>
              <a:t>Control</a:t>
            </a:r>
            <a:r>
              <a:rPr lang="pt-BR" sz="1000" dirty="0"/>
              <a:t> </a:t>
            </a:r>
            <a:r>
              <a:rPr lang="pt-BR" sz="1000" dirty="0" err="1"/>
              <a:t>Engineering</a:t>
            </a:r>
            <a:r>
              <a:rPr lang="pt-BR" sz="1000" dirty="0"/>
              <a:t> </a:t>
            </a:r>
            <a:r>
              <a:rPr lang="pt-BR" sz="1000" dirty="0" err="1"/>
              <a:t>Practice</a:t>
            </a:r>
            <a:r>
              <a:rPr lang="pt-BR" sz="1000" dirty="0"/>
              <a:t>, v. 14, n. 3, p. 303-314, 2006.</a:t>
            </a:r>
          </a:p>
          <a:p>
            <a:pPr marL="228600" indent="-228600">
              <a:buFont typeface="+mj-lt"/>
              <a:buAutoNum type="arabicPeriod"/>
            </a:pPr>
            <a:r>
              <a:rPr lang="pt-BR" altLang="pt-BR" sz="1000" dirty="0"/>
              <a:t>SILVA, S. J. A. Atividades da Disciplina Sistemas Inteligentes - UFCG 2026. GitHub: 2026. Disponível em: </a:t>
            </a:r>
            <a:r>
              <a:rPr lang="pt-BR" altLang="pt-BR" sz="1000" dirty="0">
                <a:hlinkClick r:id="rId3"/>
              </a:rPr>
              <a:t>https://github.com/</a:t>
            </a:r>
            <a:r>
              <a:rPr lang="pt-BR" altLang="pt-BR" sz="1000" dirty="0" err="1">
                <a:hlinkClick r:id="rId3"/>
              </a:rPr>
              <a:t>SauloJose</a:t>
            </a:r>
            <a:r>
              <a:rPr lang="pt-BR" altLang="pt-BR" sz="1000" dirty="0">
                <a:hlinkClick r:id="rId3"/>
              </a:rPr>
              <a:t>/SistemasInteligentes2026</a:t>
            </a:r>
            <a:r>
              <a:rPr lang="pt-BR" altLang="pt-BR" sz="1000" dirty="0"/>
              <a:t>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THRUN, S.; BURGARD, W.; FOX, D. </a:t>
            </a:r>
            <a:r>
              <a:rPr lang="pt-BR" sz="1000" dirty="0" err="1"/>
              <a:t>Probabilistic</a:t>
            </a:r>
            <a:r>
              <a:rPr lang="pt-BR" sz="1000" dirty="0"/>
              <a:t> </a:t>
            </a:r>
            <a:r>
              <a:rPr lang="pt-BR" sz="1000" dirty="0" err="1"/>
              <a:t>robotics</a:t>
            </a:r>
            <a:r>
              <a:rPr lang="pt-BR" sz="1000" dirty="0"/>
              <a:t>. Cambridge, MA: MIT Press, 2005.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ZHANG, L. et al. </a:t>
            </a:r>
            <a:r>
              <a:rPr lang="pt-BR" sz="1000" dirty="0" err="1"/>
              <a:t>On</a:t>
            </a:r>
            <a:r>
              <a:rPr lang="pt-BR" sz="1000" dirty="0"/>
              <a:t> </a:t>
            </a:r>
            <a:r>
              <a:rPr lang="pt-BR" sz="1000" dirty="0" err="1"/>
              <a:t>the</a:t>
            </a:r>
            <a:r>
              <a:rPr lang="pt-BR" sz="1000" dirty="0"/>
              <a:t> </a:t>
            </a:r>
            <a:r>
              <a:rPr lang="pt-BR" sz="1000" dirty="0" err="1"/>
              <a:t>identification</a:t>
            </a:r>
            <a:r>
              <a:rPr lang="pt-BR" sz="1000" dirty="0"/>
              <a:t> </a:t>
            </a:r>
            <a:r>
              <a:rPr lang="pt-BR" sz="1000" dirty="0" err="1"/>
              <a:t>of</a:t>
            </a:r>
            <a:r>
              <a:rPr lang="pt-BR" sz="1000" dirty="0"/>
              <a:t> </a:t>
            </a:r>
            <a:r>
              <a:rPr lang="pt-BR" sz="1000" dirty="0" err="1"/>
              <a:t>noise</a:t>
            </a:r>
            <a:r>
              <a:rPr lang="pt-BR" sz="1000" dirty="0"/>
              <a:t> </a:t>
            </a:r>
            <a:r>
              <a:rPr lang="pt-BR" sz="1000" dirty="0" err="1"/>
              <a:t>covariances</a:t>
            </a:r>
            <a:r>
              <a:rPr lang="pt-BR" sz="1000" dirty="0"/>
              <a:t> </a:t>
            </a:r>
            <a:r>
              <a:rPr lang="pt-BR" sz="1000" dirty="0" err="1"/>
              <a:t>and</a:t>
            </a:r>
            <a:r>
              <a:rPr lang="pt-BR" sz="1000" dirty="0"/>
              <a:t> </a:t>
            </a:r>
            <a:r>
              <a:rPr lang="pt-BR" sz="1000" dirty="0" err="1"/>
              <a:t>adaptive</a:t>
            </a:r>
            <a:r>
              <a:rPr lang="pt-BR" sz="1000" dirty="0"/>
              <a:t> Kalman </a:t>
            </a:r>
            <a:r>
              <a:rPr lang="pt-BR" sz="1000" dirty="0" err="1"/>
              <a:t>filtering</a:t>
            </a:r>
            <a:r>
              <a:rPr lang="pt-BR" sz="1000" dirty="0"/>
              <a:t>: a new look </a:t>
            </a:r>
            <a:r>
              <a:rPr lang="pt-BR" sz="1000" dirty="0" err="1"/>
              <a:t>at</a:t>
            </a:r>
            <a:r>
              <a:rPr lang="pt-BR" sz="1000" dirty="0"/>
              <a:t> a 50-year-old problem. IEEE Access, v. 8, p. 59362-59388, 2020. DOI: 10.1109/ACCESS.2020.2982407.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pt-BR" altLang="pt-BR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87896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F8551-3138-3592-B2D0-9308D6CDA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68A7DB7-892C-1102-C509-196D4C020417}"/>
              </a:ext>
            </a:extLst>
          </p:cNvPr>
          <p:cNvSpPr txBox="1"/>
          <p:nvPr/>
        </p:nvSpPr>
        <p:spPr>
          <a:xfrm>
            <a:off x="4106775" y="5929511"/>
            <a:ext cx="39784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Saulo José Almeida Silva.</a:t>
            </a:r>
            <a:b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dirty="0"/>
              <a:t>saulo.jose.silva@ee.ufcg.edu.br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B606FD2-AEAE-EDB8-5E06-354AB7BEC804}"/>
              </a:ext>
            </a:extLst>
          </p:cNvPr>
          <p:cNvSpPr txBox="1"/>
          <p:nvPr/>
        </p:nvSpPr>
        <p:spPr>
          <a:xfrm>
            <a:off x="721889" y="2705725"/>
            <a:ext cx="1074821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8800" dirty="0">
                <a:latin typeface="Arial" panose="020B0604020202020204" pitchFamily="34" charset="0"/>
                <a:cs typeface="Arial" panose="020B0604020202020204" pitchFamily="34" charset="0"/>
              </a:rPr>
              <a:t>Obrigado!</a:t>
            </a:r>
          </a:p>
        </p:txBody>
      </p:sp>
      <p:pic>
        <p:nvPicPr>
          <p:cNvPr id="6" name="Picture 4" descr="Logomarcas">
            <a:extLst>
              <a:ext uri="{FF2B5EF4-FFF2-40B4-BE49-F238E27FC236}">
                <a16:creationId xmlns:a16="http://schemas.microsoft.com/office/drawing/2014/main" id="{89AE256B-4357-1E17-0765-F165476FB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254" y="333558"/>
            <a:ext cx="1484176" cy="151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7490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2497</TotalTime>
  <Words>809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Arial Black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Saulo José Almeida Silva</dc:creator>
  <cp:lastModifiedBy>Saulo José Almeida Silva</cp:lastModifiedBy>
  <cp:revision>304</cp:revision>
  <dcterms:created xsi:type="dcterms:W3CDTF">2025-08-24T00:23:34Z</dcterms:created>
  <dcterms:modified xsi:type="dcterms:W3CDTF">2026-05-18T16:10:07Z</dcterms:modified>
</cp:coreProperties>
</file>