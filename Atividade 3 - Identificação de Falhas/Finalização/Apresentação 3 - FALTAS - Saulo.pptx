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70" r:id="rId3"/>
    <p:sldId id="394" r:id="rId4"/>
    <p:sldId id="395" r:id="rId5"/>
    <p:sldId id="402" r:id="rId6"/>
    <p:sldId id="379" r:id="rId7"/>
    <p:sldId id="400" r:id="rId8"/>
    <p:sldId id="410" r:id="rId9"/>
    <p:sldId id="405" r:id="rId10"/>
    <p:sldId id="396" r:id="rId11"/>
    <p:sldId id="406" r:id="rId12"/>
    <p:sldId id="407" r:id="rId13"/>
    <p:sldId id="398" r:id="rId14"/>
    <p:sldId id="411" r:id="rId15"/>
    <p:sldId id="404" r:id="rId16"/>
    <p:sldId id="397" r:id="rId17"/>
    <p:sldId id="393" r:id="rId18"/>
    <p:sldId id="399" r:id="rId19"/>
    <p:sldId id="403" r:id="rId20"/>
    <p:sldId id="409" r:id="rId21"/>
    <p:sldId id="412" r:id="rId22"/>
    <p:sldId id="380" r:id="rId23"/>
    <p:sldId id="408" r:id="rId24"/>
    <p:sldId id="273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5F5"/>
    <a:srgbClr val="CD191E"/>
    <a:srgbClr val="FFE5E5"/>
    <a:srgbClr val="E9F5FB"/>
    <a:srgbClr val="FFFFFF"/>
    <a:srgbClr val="2F9E41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020" autoAdjust="0"/>
  </p:normalViewPr>
  <p:slideViewPr>
    <p:cSldViewPr snapToGrid="0">
      <p:cViewPr varScale="1">
        <p:scale>
          <a:sx n="74" d="100"/>
          <a:sy n="74" d="100"/>
        </p:scale>
        <p:origin x="1195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80AFB-2E3F-42DC-9796-A7A23E86EAB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721C4-8263-461E-8B3B-AC8C523E1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7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2AEAD-B871-745C-25F1-240FEA0AD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48777E-2E06-D8A3-057D-0141147A9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9C4ED1-A464-72AF-3406-3DB2072B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F7D17D-DC9E-875A-D4F9-7EF647E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675DBC-E339-37F0-1BCC-B3914BE6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94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F1D6C-1D5D-A0B9-6455-90C4DF7F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E15C5E-5A3E-97A0-E331-014C1F762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373B20-95FA-CCCD-76E7-7D15064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373DA8-1764-085E-FBDF-BA8FED4E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D27B59-8E2F-D65D-218D-8848CE64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39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5AEF6-BFCD-AF5F-E11F-05C2E54B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63CFCD-BFFD-F010-885B-BA0231ED0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9062E-0F2F-9615-BE51-BB1C8F9B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04D0E3-D19E-8351-1C90-A9D248B8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91183-BC19-F62D-4919-CFDDADA9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00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9B419-93F1-00B4-B822-0C6C55C3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ED323-33B2-1A19-3DE1-BE909EFB9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9B5E3E-5C8A-D639-F597-A7388C4DF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A84E66-C891-2BDE-3196-3274E00B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F74336-D9A7-389C-08F0-53DFF1BE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DBB875-658F-3EAB-E4AC-177C7923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04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A6AAA-0307-8322-5BA5-459C88AB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2A430E-ED16-B93D-C617-481CC93BB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07A939-EEE0-1546-EE90-BDE4279E4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471581-0638-71C6-B3CF-1EBBB500D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12D75F-1A72-DD02-134E-03270286B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8C5A5F-AAD8-5C1B-CBD2-154B017D4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03B748-EFF7-51BA-F5D1-D723560F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05E4B8-92EC-8079-EEA1-0AFB0701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98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85FE2-55F1-168D-572C-199729C2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2A637A-7428-34D1-0CF0-A0E0825B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524F7-F631-DC22-1EE6-A65A457B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2D5828-13E0-BD36-EC26-45B02DE3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29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1EF7B4-754C-4D82-6EBA-C231A488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FEDAF3-030A-AAE4-24FA-B8707B84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4F61E9-DD33-DD18-055B-A08C3F13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12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F664C-4663-4CC6-64DC-4A1ED4EE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7D5E0-751D-22AC-6F81-DB39ECB5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2A5B98-1D2E-7742-BD6E-6CD574205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25DA36-AA40-7B7E-E183-6EFFC174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549C72-4A58-531F-134E-B2974359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E04949-A313-4E38-BDFD-E93CB5C2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37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4092F-5896-D22D-2112-8016CDCD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8022BE-5115-E31E-9DBA-C1838FDB5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686221-8440-F759-3714-3E267B5D7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E3106F-8AC5-86E3-5393-AAD57E1B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6A1E77-1BFB-BFDE-4EAC-7EE39E9A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F6B004-A6F2-C6BE-E0E6-AF3E44AA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51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2688D-1D26-B34B-8F01-8AEED2E2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1A4866-3D79-D6DA-78A0-6600A45AC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6EDC72-9E83-F7D4-353E-608AFE16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0120ED-27F9-F2F8-F5C8-E8431AD6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48F66A-490A-4C93-6B43-07F79D71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3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3D5CE6-6FC6-9E20-0073-B14D2E261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DAF59E-354D-FB95-572B-E0F308EBC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178D85-ECB0-5C33-720F-4352A483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145E7-F369-2451-D6BC-92D43076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4E07FA-E87C-CFFC-2EB4-CEE0F665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50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475304-372F-B050-AC47-29D153D5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60DDA8-A757-6423-C510-7514400FB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6EB7F-73AB-00AB-E52A-ABDD6F076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315B1-8A60-47FC-9A9C-8EB8FFA1BE11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C1BDC2-8CEA-962F-B2F7-799979B86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4B85AF-5142-5959-614B-DD93B12A7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8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uloJose/SistemasInteligentes2026/tree/main/Atividade%203%20-%20Identifica%C3%A7%C3%A3o%20de%20Falha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36D3A2E-52AE-4705-B182-7D672A273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5159" y="4446446"/>
            <a:ext cx="9461682" cy="81814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Professor: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Dr. Antônio Marcus Nogueira Lima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Aluno: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4A5047E-7E22-4696-AED2-4B5A3BF6E2F0}"/>
              </a:ext>
            </a:extLst>
          </p:cNvPr>
          <p:cNvSpPr txBox="1">
            <a:spLocks/>
          </p:cNvSpPr>
          <p:nvPr/>
        </p:nvSpPr>
        <p:spPr>
          <a:xfrm>
            <a:off x="1682175" y="3258378"/>
            <a:ext cx="8670331" cy="106976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pt-BR" b="1" dirty="0">
                <a:solidFill>
                  <a:schemeClr val="bg2"/>
                </a:solidFill>
              </a:rPr>
              <a:t>Detecção de Falhas em Processos Industriais:</a:t>
            </a:r>
          </a:p>
          <a:p>
            <a:pPr>
              <a:lnSpc>
                <a:spcPct val="120000"/>
              </a:lnSpc>
            </a:pPr>
            <a:r>
              <a:rPr lang="pt-BR" b="1" dirty="0">
                <a:solidFill>
                  <a:schemeClr val="bg2"/>
                </a:solidFill>
              </a:rPr>
              <a:t> </a:t>
            </a:r>
            <a:r>
              <a:rPr lang="pt-BR" sz="3800" b="1" dirty="0">
                <a:solidFill>
                  <a:schemeClr val="bg2"/>
                </a:solidFill>
              </a:rPr>
              <a:t>Análise Comparativa de Métodos Multivariados e Aprendizado Profundo</a:t>
            </a:r>
            <a:endParaRPr lang="pt-BR" b="1" dirty="0">
              <a:solidFill>
                <a:schemeClr val="bg2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4C55D7-217E-66E1-0BA4-DB510E93A830}"/>
              </a:ext>
            </a:extLst>
          </p:cNvPr>
          <p:cNvSpPr txBox="1"/>
          <p:nvPr/>
        </p:nvSpPr>
        <p:spPr>
          <a:xfrm>
            <a:off x="3785419" y="6155110"/>
            <a:ext cx="4463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dirty="0"/>
              <a:t>saulo.jose.silva@ee.ufcg.edu.br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Logomarcas">
            <a:extLst>
              <a:ext uri="{FF2B5EF4-FFF2-40B4-BE49-F238E27FC236}">
                <a16:creationId xmlns:a16="http://schemas.microsoft.com/office/drawing/2014/main" id="{2FA05E7E-E458-9BA7-D4BC-D3F4C6FF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4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5397D17-0CD9-2E8A-9A91-4304C151E554}"/>
              </a:ext>
            </a:extLst>
          </p:cNvPr>
          <p:cNvSpPr txBox="1"/>
          <p:nvPr/>
        </p:nvSpPr>
        <p:spPr>
          <a:xfrm>
            <a:off x="3048866" y="2613066"/>
            <a:ext cx="6094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SISTEMAS INTELIGENTES</a:t>
            </a:r>
            <a:endParaRPr lang="pt-BR" sz="2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57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B643-7218-2B01-BCDA-649ADFCB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4F2F874-FC0B-56C2-8CB8-AF9C780E919F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B4EAFF-A4D5-F2CA-1FDA-5F545B089B4A}"/>
              </a:ext>
            </a:extLst>
          </p:cNvPr>
          <p:cNvSpPr txBox="1"/>
          <p:nvPr/>
        </p:nvSpPr>
        <p:spPr>
          <a:xfrm>
            <a:off x="1223682" y="88788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Sumário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C535880-AE30-AD40-3D1C-D2DDC19274F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429E21E1-0ACB-1AEF-B647-FC8B575FD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336" y="1665002"/>
            <a:ext cx="9778548" cy="4064483"/>
          </a:xfrm>
        </p:spPr>
        <p:txBody>
          <a:bodyPr numCol="1">
            <a:normAutofit/>
          </a:bodyPr>
          <a:lstStyle/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Introdução e </a:t>
            </a:r>
            <a:r>
              <a:rPr lang="pt-B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Problematica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Definição de falhas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Processo de Tennesse Eastman</a:t>
            </a: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Metodologia de Testes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Métodos utilizados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Estatísticas Utilizadas 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Processo de treino e teste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Coeficientes para Análise</a:t>
            </a: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FDRs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FDAs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Refinamento</a:t>
            </a:r>
          </a:p>
          <a:p>
            <a:pPr marL="800100" lvl="1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Trabalhos futuros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649A176D-48AC-0BE4-8D78-2B7EB3A40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79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8CCC4-7D77-8D30-FE69-BE07BFE4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0BFD76D-CDD0-F4AC-10FC-BD1BF33F3282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CE1B59B-7A77-2054-9FE7-290C28BE7079}"/>
              </a:ext>
            </a:extLst>
          </p:cNvPr>
          <p:cNvSpPr txBox="1"/>
          <p:nvPr/>
        </p:nvSpPr>
        <p:spPr>
          <a:xfrm>
            <a:off x="1223682" y="887884"/>
            <a:ext cx="6533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PROBLEMÁTICA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8432D5-AF15-9BAE-9854-0AE6AB22E5C3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D64B6C-9010-1177-07AB-DFE8BDC72CCA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18" name="Picture 2" descr="Logomarcas">
            <a:extLst>
              <a:ext uri="{FF2B5EF4-FFF2-40B4-BE49-F238E27FC236}">
                <a16:creationId xmlns:a16="http://schemas.microsoft.com/office/drawing/2014/main" id="{7605DEB9-BDDF-0FB4-5787-38BD12FF2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2506B8F-E494-34E7-BDE4-914684E5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DEFINIÇÃO DE FALHAS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69453F6-9F1C-27A5-D13D-8397D4412D9E}"/>
              </a:ext>
            </a:extLst>
          </p:cNvPr>
          <p:cNvSpPr txBox="1"/>
          <p:nvPr/>
        </p:nvSpPr>
        <p:spPr>
          <a:xfrm>
            <a:off x="1223682" y="2203438"/>
            <a:ext cx="94400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0" u="none" strike="noStrike" dirty="0">
                <a:effectLst/>
                <a:latin typeface="+mj-lt"/>
              </a:rPr>
              <a:t>Uma falha em um processo é o </a:t>
            </a:r>
            <a:r>
              <a:rPr lang="pt-BR" sz="1600" b="1" u="none" strike="noStrike" dirty="0">
                <a:effectLst/>
                <a:latin typeface="+mj-lt"/>
              </a:rPr>
              <a:t>desvio, interrupção ou mau funcionamento</a:t>
            </a:r>
            <a:r>
              <a:rPr lang="pt-BR" sz="1600" b="0" u="none" strike="noStrike" dirty="0">
                <a:effectLst/>
                <a:latin typeface="+mj-lt"/>
              </a:rPr>
              <a:t> de uma etapa planejada, que resulta em um desempenho abaixo do esperado ou impede que o objetivo final seja atingido. Em essência, é quando o processo falha em entregar o resultado previsto, a qualidade exigida ou o serviço no tempo certo.</a:t>
            </a:r>
            <a:r>
              <a:rPr lang="pt-BR" sz="1600" dirty="0">
                <a:latin typeface="+mj-lt"/>
              </a:rPr>
              <a:t>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E39CF55-1822-0192-6B2A-E09839D86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794" y="3429000"/>
            <a:ext cx="7623054" cy="270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5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6EB45-BC7C-3E62-A04B-7EE6E026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437E255-B1B1-A7A9-D643-B4B329E559A8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C614C48-091E-3DA4-A3F9-067CB6DD9F35}"/>
              </a:ext>
            </a:extLst>
          </p:cNvPr>
          <p:cNvSpPr txBox="1"/>
          <p:nvPr/>
        </p:nvSpPr>
        <p:spPr>
          <a:xfrm>
            <a:off x="1223682" y="887884"/>
            <a:ext cx="6533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PROBLEMÁTICA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D9DD7ED-6A5D-97A4-38C3-62E4BE133DEC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42D422-35CF-9A15-0757-8E826653E372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18" name="Picture 2" descr="Logomarcas">
            <a:extLst>
              <a:ext uri="{FF2B5EF4-FFF2-40B4-BE49-F238E27FC236}">
                <a16:creationId xmlns:a16="http://schemas.microsoft.com/office/drawing/2014/main" id="{9456DA54-8653-2F05-7F3E-6576ACEAD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F70C0F0-1C89-BE9C-BC98-182E42DD3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DEFINIÇÃO DO PROCESSO 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BD448D6-F302-81C8-24A8-728EB2DF7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713" y="2353105"/>
            <a:ext cx="6122691" cy="371934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4E0E64E-7306-1675-55D9-2A2F1ED534A6}"/>
              </a:ext>
            </a:extLst>
          </p:cNvPr>
          <p:cNvSpPr txBox="1"/>
          <p:nvPr/>
        </p:nvSpPr>
        <p:spPr>
          <a:xfrm>
            <a:off x="7757652" y="1684494"/>
            <a:ext cx="3938155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/>
              <a:t>Processo Realizado: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6457B4E-CD43-FA63-ED8B-5BF054381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635" y="2060393"/>
            <a:ext cx="2412447" cy="100518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667B736-4762-B80D-61F2-8E07197FCDCF}"/>
              </a:ext>
            </a:extLst>
          </p:cNvPr>
          <p:cNvSpPr txBox="1"/>
          <p:nvPr/>
        </p:nvSpPr>
        <p:spPr>
          <a:xfrm>
            <a:off x="7737481" y="3016270"/>
            <a:ext cx="3938155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/>
              <a:t>Tópicos importantes: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7159941-BBA3-A8C9-2537-009C5B4A4112}"/>
              </a:ext>
            </a:extLst>
          </p:cNvPr>
          <p:cNvSpPr txBox="1"/>
          <p:nvPr/>
        </p:nvSpPr>
        <p:spPr>
          <a:xfrm>
            <a:off x="8116194" y="3512404"/>
            <a:ext cx="3289226" cy="1450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/>
              <a:t>41 variáveis instrumentadas (XMEAS)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1200" dirty="0"/>
              <a:t>22 variáveis contínuas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1200" dirty="0"/>
              <a:t>19 analisadores químicos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/>
              <a:t>12 Variáveis manipuladas (XMV);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/>
              <a:t>21 Falhas de Processo catalogadas (IDV)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9381CB1-4FFF-B1C5-49AB-746AF707F161}"/>
              </a:ext>
            </a:extLst>
          </p:cNvPr>
          <p:cNvSpPr txBox="1"/>
          <p:nvPr/>
        </p:nvSpPr>
        <p:spPr>
          <a:xfrm>
            <a:off x="7737481" y="5074728"/>
            <a:ext cx="3938155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/>
              <a:t>Base de Dados: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E04E00A-B3FA-AFC4-2EBF-DB91791F9AF2}"/>
              </a:ext>
            </a:extLst>
          </p:cNvPr>
          <p:cNvSpPr txBox="1"/>
          <p:nvPr/>
        </p:nvSpPr>
        <p:spPr>
          <a:xfrm>
            <a:off x="7936150" y="5555186"/>
            <a:ext cx="3665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b="1" dirty="0"/>
              <a:t>Condições normais de operação: </a:t>
            </a:r>
            <a:r>
              <a:rPr lang="pt-BR" sz="1200" dirty="0"/>
              <a:t>Arquivos d00.dat e d00_te.dat</a:t>
            </a:r>
            <a:endParaRPr lang="pt-BR" sz="1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1200" dirty="0"/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8A1EF4A7-69B0-333B-BDC9-15D57B9A8E59}"/>
              </a:ext>
            </a:extLst>
          </p:cNvPr>
          <p:cNvCxnSpPr>
            <a:cxnSpLocks/>
          </p:cNvCxnSpPr>
          <p:nvPr/>
        </p:nvCxnSpPr>
        <p:spPr>
          <a:xfrm>
            <a:off x="7604760" y="1574931"/>
            <a:ext cx="0" cy="46277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19F654C-961A-A51C-82AC-828A5FFF4565}"/>
              </a:ext>
            </a:extLst>
          </p:cNvPr>
          <p:cNvSpPr txBox="1"/>
          <p:nvPr/>
        </p:nvSpPr>
        <p:spPr>
          <a:xfrm>
            <a:off x="1201918" y="1775432"/>
            <a:ext cx="4210517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/>
              <a:t>Diagrama P&amp;D: </a:t>
            </a:r>
            <a:r>
              <a:rPr lang="pt-BR" sz="1400" dirty="0"/>
              <a:t>Tennesse Eastman </a:t>
            </a:r>
            <a:r>
              <a:rPr lang="pt-BR" sz="1400" dirty="0" err="1"/>
              <a:t>Process</a:t>
            </a:r>
            <a:r>
              <a:rPr lang="pt-BR" sz="1400" dirty="0"/>
              <a:t> (TEP)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4287686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1C8D-6ED7-3D78-0539-62B0CB07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FF80B07-B3EC-F2FE-A285-A55EC4163855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0D80596-F30F-5FD4-9F43-060E28EE410B}"/>
              </a:ext>
            </a:extLst>
          </p:cNvPr>
          <p:cNvSpPr txBox="1"/>
          <p:nvPr/>
        </p:nvSpPr>
        <p:spPr>
          <a:xfrm>
            <a:off x="1223682" y="887884"/>
            <a:ext cx="6533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PROBLEMÁTICA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84301B-E715-8C8D-B0C5-F8670B31FA54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491D61-50C5-4F37-1766-E43316F8A7E4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18" name="Picture 2" descr="Logomarcas">
            <a:extLst>
              <a:ext uri="{FF2B5EF4-FFF2-40B4-BE49-F238E27FC236}">
                <a16:creationId xmlns:a16="http://schemas.microsoft.com/office/drawing/2014/main" id="{9740B18F-8225-BE3C-1654-F29D34306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0AF503B-0BA6-120A-0F1F-78C8377F5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DEFINIÇÃO DO PROCESSO 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A740908-4603-DEEA-FC01-113EDD3A4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345" y="1693700"/>
            <a:ext cx="3889371" cy="440618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3C04E34-BBFD-28B0-6943-F86002BF174B}"/>
              </a:ext>
            </a:extLst>
          </p:cNvPr>
          <p:cNvSpPr txBox="1"/>
          <p:nvPr/>
        </p:nvSpPr>
        <p:spPr>
          <a:xfrm>
            <a:off x="1260392" y="2287606"/>
            <a:ext cx="4835608" cy="103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/>
              <a:t>As </a:t>
            </a:r>
            <a:r>
              <a:rPr lang="pt-BR" sz="1400" b="1" dirty="0"/>
              <a:t>Falhas de Processo </a:t>
            </a:r>
            <a:r>
              <a:rPr lang="pt-BR" sz="1400" dirty="0"/>
              <a:t>são produzidas e utilizadas no benchmark, sendo elas do tipo Degrau, Variação Aleatória, Deriva lenta, travamento e de origem desconhecida.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00FDD5-6ADD-0575-9418-2D88A76F9D3F}"/>
              </a:ext>
            </a:extLst>
          </p:cNvPr>
          <p:cNvSpPr txBox="1"/>
          <p:nvPr/>
        </p:nvSpPr>
        <p:spPr>
          <a:xfrm>
            <a:off x="1260392" y="3907429"/>
            <a:ext cx="3938155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/>
              <a:t>Base de Dados: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7EA8192-4E74-1AE8-2156-0B68AB487CA3}"/>
              </a:ext>
            </a:extLst>
          </p:cNvPr>
          <p:cNvSpPr txBox="1"/>
          <p:nvPr/>
        </p:nvSpPr>
        <p:spPr>
          <a:xfrm>
            <a:off x="1260392" y="4462494"/>
            <a:ext cx="43807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b="1" dirty="0"/>
              <a:t>Treino e teste das falhas da falha {i}:</a:t>
            </a:r>
          </a:p>
          <a:p>
            <a:endParaRPr lang="pt-BR" sz="1400" b="1" dirty="0"/>
          </a:p>
          <a:p>
            <a:r>
              <a:rPr lang="pt-BR" sz="1400" b="1" dirty="0"/>
              <a:t>	</a:t>
            </a:r>
            <a:r>
              <a:rPr lang="pt-BR" sz="1400" dirty="0"/>
              <a:t>Arquivos d{i}.dat e d{i}_te.dat</a:t>
            </a:r>
            <a:endParaRPr lang="pt-BR" sz="1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1400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B3184AA0-29ED-9290-0B7E-292450FF8F9F}"/>
              </a:ext>
            </a:extLst>
          </p:cNvPr>
          <p:cNvCxnSpPr>
            <a:cxnSpLocks/>
          </p:cNvCxnSpPr>
          <p:nvPr/>
        </p:nvCxnSpPr>
        <p:spPr>
          <a:xfrm>
            <a:off x="6341806" y="1799080"/>
            <a:ext cx="0" cy="42166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202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79BC-9FA3-F517-9D35-FFE07205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8CC78F7-7F7C-6681-EECF-CF0ECA3CF02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6C35E2-BEFB-35A6-EAC4-799648683099}"/>
              </a:ext>
            </a:extLst>
          </p:cNvPr>
          <p:cNvSpPr txBox="1"/>
          <p:nvPr/>
        </p:nvSpPr>
        <p:spPr>
          <a:xfrm>
            <a:off x="1223682" y="887884"/>
            <a:ext cx="6170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PROBLEMÁTICA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5903CF-5014-17A1-CE59-E9ECF066612A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88918B-97E6-8DC5-7B9B-D4A1F1C5FAF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1855178D-8F41-BC4E-2154-427F0EE51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1BD216D-0ED1-4DA0-5726-AC777DE6E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OBJETIVO DO ESTUDO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42A09C-08A3-A8BB-F404-34D7F2731468}"/>
              </a:ext>
            </a:extLst>
          </p:cNvPr>
          <p:cNvSpPr txBox="1"/>
          <p:nvPr/>
        </p:nvSpPr>
        <p:spPr>
          <a:xfrm>
            <a:off x="1223682" y="2317112"/>
            <a:ext cx="9709789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/>
              <a:t>Realizar um estudo comparativo entre técnicas de previsão de falhas;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/>
              <a:t>Verificar qual é a melhor técnica e a melhor aplicação da mesma;</a:t>
            </a:r>
          </a:p>
        </p:txBody>
      </p:sp>
    </p:spTree>
    <p:extLst>
      <p:ext uri="{BB962C8B-B14F-4D97-AF65-F5344CB8AC3E}">
        <p14:creationId xmlns:p14="http://schemas.microsoft.com/office/powerpoint/2010/main" val="2018847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6861-A2E3-50C2-B49B-92C5FDA8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4EB3C22-17EF-5AC2-33B3-AF87B54DA04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A7EEE6D-86EB-C17E-7971-8E6904F0A970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001BF7-4DB0-7DBB-7560-8A568A5DB62A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8E6948-4ED8-5CF7-C0C4-2814242B9289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CE6EE2BA-D854-C98D-269C-01DC273F2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BE17A74-DDD6-4259-C6B4-D2CDC04F0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MÉTODOS UTILIZADOS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8344ED5-9731-B710-53CC-80BDDCF23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388" y="2063385"/>
            <a:ext cx="8217980" cy="383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0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16B8-F079-4858-3DB3-6DFB48B5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F23B20D-D9F9-B7C6-8E5A-D63603709F9A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FDB704-4823-D9DE-4A86-B6BFA46305B8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65CF08-40DA-25B7-A84C-7F76BAFEFA17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239EA8-4E17-A519-610C-E0DDE3BDFA73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D9EC0871-AA0A-C47B-51ED-BE22674E5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FDBF836-F431-AE0A-0BE9-5AB47AA03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MÉTODOS UTILIZADOS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2DAF62-5E43-A216-8381-1127AE1AE0AF}"/>
              </a:ext>
            </a:extLst>
          </p:cNvPr>
          <p:cNvSpPr txBox="1"/>
          <p:nvPr/>
        </p:nvSpPr>
        <p:spPr>
          <a:xfrm>
            <a:off x="1374493" y="2004147"/>
            <a:ext cx="6866681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1" dirty="0"/>
              <a:t>PCA</a:t>
            </a:r>
            <a:r>
              <a:rPr lang="pt-BR" dirty="0"/>
              <a:t> – Análise de Componentes Principais</a:t>
            </a:r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DPCA</a:t>
            </a:r>
            <a:r>
              <a:rPr lang="pt-BR" dirty="0"/>
              <a:t> – Análise de Componentes Principais Dinâmica</a:t>
            </a:r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PLS</a:t>
            </a:r>
            <a:r>
              <a:rPr lang="pt-BR" dirty="0"/>
              <a:t> – Mínimos Quadrados Parciais</a:t>
            </a:r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TPLS</a:t>
            </a:r>
            <a:r>
              <a:rPr lang="pt-BR" dirty="0"/>
              <a:t> – Mínimos Quadrados Parciais Totais</a:t>
            </a:r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MPLS</a:t>
            </a:r>
            <a:r>
              <a:rPr lang="pt-BR" dirty="0"/>
              <a:t> – Mínimos Quadrados Parciais Multivariados</a:t>
            </a:r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ICA</a:t>
            </a:r>
            <a:r>
              <a:rPr lang="pt-BR" dirty="0"/>
              <a:t> – Análise de Componentes Independentes</a:t>
            </a:r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MICA</a:t>
            </a:r>
            <a:r>
              <a:rPr lang="pt-BR" dirty="0"/>
              <a:t> – Análise de Componentes Independentes Multivariada</a:t>
            </a:r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FDA</a:t>
            </a:r>
            <a:r>
              <a:rPr lang="pt-BR" dirty="0"/>
              <a:t> – Análise Discriminante de Fisher</a:t>
            </a:r>
          </a:p>
          <a:p>
            <a:pPr>
              <a:lnSpc>
                <a:spcPct val="150000"/>
              </a:lnSpc>
              <a:buNone/>
            </a:pPr>
            <a:r>
              <a:rPr lang="pt-BR" b="1" dirty="0"/>
              <a:t>PAE</a:t>
            </a:r>
            <a:r>
              <a:rPr lang="pt-BR" dirty="0"/>
              <a:t> – </a:t>
            </a:r>
            <a:r>
              <a:rPr lang="pt-BR" dirty="0" err="1"/>
              <a:t>Autoencoder</a:t>
            </a:r>
            <a:r>
              <a:rPr lang="pt-BR" dirty="0"/>
              <a:t> Probabilístico</a:t>
            </a:r>
          </a:p>
        </p:txBody>
      </p:sp>
    </p:spTree>
    <p:extLst>
      <p:ext uri="{BB962C8B-B14F-4D97-AF65-F5344CB8AC3E}">
        <p14:creationId xmlns:p14="http://schemas.microsoft.com/office/powerpoint/2010/main" val="270784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2CC89-43C8-0408-B08D-AC7688CE8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5B28F8A-00BA-5845-8F61-B38824736DD5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472C47-01D3-B7A8-1E5F-F9631AE73B37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6147A5-F520-589B-0A8E-6E462E095FFF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5CC516-9AA5-EE15-E7BD-B97691FC4E9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5A021079-F457-E601-9359-C4D1B6888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0C6B74B-58CB-1A28-A462-83D60C7CF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MÉTODOS UTILIZADOS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D48D8E0-072D-85FE-2DEA-C41C3A28D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152" y="1776733"/>
            <a:ext cx="8728038" cy="451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7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C110-54C0-0AF4-6662-158D016F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D4602EC-D638-1B0B-51E5-84287208B2A0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539C13A-4284-7563-764A-4DEF5C5384D7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CC95E5-8E56-6993-8753-4663E59E7037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730518-3C21-EEC5-AA9A-7FFEFF2A6EF0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660FD321-1A8A-E0DD-0DE9-77A4D6F07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DACCC0E-8BE4-5FA9-772A-6F24D088C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u="none" strike="noStrike" cap="none" normalizeH="0" baseline="0" dirty="0">
                <a:ln>
                  <a:noFill/>
                </a:ln>
                <a:effectLst/>
                <a:latin typeface="+mj-lt"/>
              </a:rPr>
              <a:t>ESTATÍSTICAS UTILIZADAS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0BCDC8D-5442-BC80-EA27-A765152AAC7A}"/>
              </a:ext>
            </a:extLst>
          </p:cNvPr>
          <p:cNvSpPr txBox="1"/>
          <p:nvPr/>
        </p:nvSpPr>
        <p:spPr>
          <a:xfrm>
            <a:off x="1234723" y="2056526"/>
            <a:ext cx="41777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Estatística T² de </a:t>
            </a:r>
            <a:r>
              <a:rPr lang="pt-BR" sz="1600" b="1" dirty="0" err="1"/>
              <a:t>Hotelling</a:t>
            </a:r>
            <a:endParaRPr lang="pt-BR" sz="1600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9A912E53-EE47-BDA8-8E1C-C8DE1E19799B}"/>
              </a:ext>
            </a:extLst>
          </p:cNvPr>
          <p:cNvCxnSpPr>
            <a:cxnSpLocks/>
          </p:cNvCxnSpPr>
          <p:nvPr/>
        </p:nvCxnSpPr>
        <p:spPr>
          <a:xfrm>
            <a:off x="6096000" y="1808874"/>
            <a:ext cx="0" cy="42166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B3E56C5-3029-A73A-37F6-8C5EFF6E5E80}"/>
              </a:ext>
            </a:extLst>
          </p:cNvPr>
          <p:cNvSpPr txBox="1"/>
          <p:nvPr/>
        </p:nvSpPr>
        <p:spPr>
          <a:xfrm>
            <a:off x="6250869" y="2056526"/>
            <a:ext cx="5116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SPE - Erro Quadrático de Predição (Estatística Q)</a:t>
            </a:r>
            <a:endParaRPr lang="pt-BR" sz="16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53E9E08-34D1-7F07-82A2-FB720018CE92}"/>
              </a:ext>
            </a:extLst>
          </p:cNvPr>
          <p:cNvSpPr txBox="1"/>
          <p:nvPr/>
        </p:nvSpPr>
        <p:spPr>
          <a:xfrm>
            <a:off x="1223682" y="2703845"/>
            <a:ext cx="46023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Indicador da variação de uma nova medição dentro do que o modelo espera que aconteça. Ou seja, analisa modificações internas.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5F3F49D-86AF-460A-1806-7EC6969C702B}"/>
              </a:ext>
            </a:extLst>
          </p:cNvPr>
          <p:cNvSpPr txBox="1"/>
          <p:nvPr/>
        </p:nvSpPr>
        <p:spPr>
          <a:xfrm>
            <a:off x="1234723" y="4419671"/>
            <a:ext cx="460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O limite, sob hipótese nula de operação normal é: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FDEA4E1-F0D8-B510-7897-65B862433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943" y="3732069"/>
            <a:ext cx="1724231" cy="52912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E65EF6F4-136E-C86B-21FF-ED680B34F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539" y="5115619"/>
            <a:ext cx="3124636" cy="80021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1FD01943-AD60-0C95-7504-993600FEA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997" y="3464236"/>
            <a:ext cx="3362367" cy="490345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AD0CC14C-D7A7-FB3B-6DCF-2003BF1B7A1D}"/>
              </a:ext>
            </a:extLst>
          </p:cNvPr>
          <p:cNvSpPr txBox="1"/>
          <p:nvPr/>
        </p:nvSpPr>
        <p:spPr>
          <a:xfrm>
            <a:off x="6365970" y="2675997"/>
            <a:ext cx="52360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Mede o erro residual, ou seja, aquilo que o modelo não conseguiu explicar ou reconstruir.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7A7F5F9-7063-18B8-D4CE-F551D693EB6B}"/>
              </a:ext>
            </a:extLst>
          </p:cNvPr>
          <p:cNvSpPr txBox="1"/>
          <p:nvPr/>
        </p:nvSpPr>
        <p:spPr>
          <a:xfrm>
            <a:off x="6365969" y="4339339"/>
            <a:ext cx="52360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Limite do resíduo, dentro do que é esperado por ele.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3370E8B9-358D-3ECA-FA88-07C972C4DF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6827" y="4793881"/>
            <a:ext cx="4194378" cy="115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10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2987-6349-4015-B3C7-235C87E3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C0E5BE8-D4E1-2D14-C89A-7C86074F4D22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222E33-A0B3-CBE8-3367-EE02D6E66D70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04B27C-955F-A438-8B9F-99D6C9BA1DB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0CBF96-FD9D-FB60-9F1D-ADCD704F9559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45041160-6D50-CD04-72C4-7D925D351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AB46DB3-4ADE-6D7A-1BB6-D51662B3C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u="none" strike="noStrike" cap="none" normalizeH="0" baseline="0" dirty="0">
                <a:ln>
                  <a:noFill/>
                </a:ln>
                <a:effectLst/>
                <a:latin typeface="+mj-lt"/>
              </a:rPr>
              <a:t>ESTATÍSTICAS UTILIZADAS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56ECF8E-B940-8A15-3E9F-1D0345AA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121" y="2274584"/>
            <a:ext cx="8223247" cy="315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83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D89E3-996B-D1A0-6368-F3A30DE7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108D988-817A-29DE-DB7E-97EEEFA95E40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95482D7-1DFA-A0C6-C172-7CAC279AE61B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5A098D-3884-2A52-BE71-2627ADFC8F0B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D283F6-F63A-ECB3-1129-818CCB0B16E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2D67E504-A49A-4CA2-A023-4532D5FDC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AFFC0B9-25FD-9CBF-D0F1-CCAFBFB9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u="none" strike="noStrike" cap="none" normalizeH="0" baseline="0" dirty="0">
                <a:ln>
                  <a:noFill/>
                </a:ln>
                <a:effectLst/>
                <a:latin typeface="+mj-lt"/>
              </a:rPr>
              <a:t>ESTATÍSTICAS UTILIZADAS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7D1930-3B33-1A3A-54E4-425340DE1910}"/>
              </a:ext>
            </a:extLst>
          </p:cNvPr>
          <p:cNvSpPr txBox="1"/>
          <p:nvPr/>
        </p:nvSpPr>
        <p:spPr>
          <a:xfrm>
            <a:off x="1234723" y="2056526"/>
            <a:ext cx="4421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Estatística I² (Componentes Independentes)</a:t>
            </a:r>
            <a:endParaRPr lang="pt-BR" sz="1600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C8F58A67-88A4-36E8-616D-E5932F6CED68}"/>
              </a:ext>
            </a:extLst>
          </p:cNvPr>
          <p:cNvCxnSpPr>
            <a:cxnSpLocks/>
          </p:cNvCxnSpPr>
          <p:nvPr/>
        </p:nvCxnSpPr>
        <p:spPr>
          <a:xfrm>
            <a:off x="6096000" y="1808874"/>
            <a:ext cx="0" cy="42166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F15AF2F-193F-F424-94AA-115996946A4A}"/>
              </a:ext>
            </a:extLst>
          </p:cNvPr>
          <p:cNvSpPr txBox="1"/>
          <p:nvPr/>
        </p:nvSpPr>
        <p:spPr>
          <a:xfrm>
            <a:off x="6250869" y="2056526"/>
            <a:ext cx="5116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Estatística D (índice Combinado)</a:t>
            </a:r>
            <a:endParaRPr lang="pt-BR" sz="16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1F97BC4-E351-87FE-B203-AD97E0A3CCBB}"/>
              </a:ext>
            </a:extLst>
          </p:cNvPr>
          <p:cNvSpPr txBox="1"/>
          <p:nvPr/>
        </p:nvSpPr>
        <p:spPr>
          <a:xfrm>
            <a:off x="1223681" y="2643662"/>
            <a:ext cx="46023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Utilizada no contexto de Análise de Componentes Independentes (ICA). Equivale ao T², mas para processos que não são </a:t>
            </a:r>
            <a:r>
              <a:rPr lang="pt-BR" sz="1400" b="1" dirty="0"/>
              <a:t>gaussianos.</a:t>
            </a:r>
            <a:r>
              <a:rPr lang="pt-BR" sz="1400" dirty="0"/>
              <a:t> </a:t>
            </a:r>
          </a:p>
          <a:p>
            <a:endParaRPr lang="pt-BR" sz="1400" dirty="0"/>
          </a:p>
          <a:p>
            <a:r>
              <a:rPr lang="pt-BR" sz="1400" dirty="0"/>
              <a:t>Mensura a variação no subespaço do modelo.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6F76F6C-4E41-C7A5-3CF8-A0E6488DC946}"/>
              </a:ext>
            </a:extLst>
          </p:cNvPr>
          <p:cNvSpPr txBox="1"/>
          <p:nvPr/>
        </p:nvSpPr>
        <p:spPr>
          <a:xfrm>
            <a:off x="1234723" y="4718236"/>
            <a:ext cx="4602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Seu limite é dado por uma função quantil empírica obtida a partir dos dados de treinamento.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CE11879-0E3D-6661-E506-1CBA25F7A85D}"/>
              </a:ext>
            </a:extLst>
          </p:cNvPr>
          <p:cNvSpPr txBox="1"/>
          <p:nvPr/>
        </p:nvSpPr>
        <p:spPr>
          <a:xfrm>
            <a:off x="6265814" y="2625406"/>
            <a:ext cx="52360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Utilizada na Classificação supervisionada (FDA). A estatística D é utilizada com o treino de “normal” e “com falha”, classificando se se parece com um processo de falha de acordo com o histórico conhecido.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AF322E4-A073-504B-AF48-1A6A6683ED65}"/>
              </a:ext>
            </a:extLst>
          </p:cNvPr>
          <p:cNvSpPr txBox="1"/>
          <p:nvPr/>
        </p:nvSpPr>
        <p:spPr>
          <a:xfrm>
            <a:off x="6250869" y="4691265"/>
            <a:ext cx="52360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Seu limite é dado por uma distribuição Chi-quadrado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5A48935-F443-ECBA-82CD-813367A2D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695" y="4066543"/>
            <a:ext cx="1385248" cy="52322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9E27240-65A3-30A5-E6BC-2DE417718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63" y="5399046"/>
            <a:ext cx="1818507" cy="42750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EA326AA-72DC-C791-CF35-F562EAA01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3511" y="3793432"/>
            <a:ext cx="1454989" cy="54905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0CB2B73-AC8F-F438-79F5-4C2CDEE781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4280" y="5078854"/>
            <a:ext cx="1581637" cy="40068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B9568DD-8DD2-493D-DE82-8742A6DB61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2557" y="5514856"/>
            <a:ext cx="1949180" cy="70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53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C116F-A426-4FED-2808-C8E57EC2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3977B54-861C-DAEC-49FD-4C570DE2A8DC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9E529BE-8597-A412-477D-1A4441D0755A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0BCF9D5-3721-409E-2B0C-DCCE40D7F83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BBE7E9-1502-C564-460B-9F9EEC90F6F0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EDB500F7-E669-7D51-6E80-A00D75F5E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C14EEB8-9ABA-B794-0FC6-DE6FA2A3A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u="none" strike="noStrike" cap="none" normalizeH="0" baseline="0" dirty="0">
                <a:ln>
                  <a:noFill/>
                </a:ln>
                <a:effectLst/>
                <a:latin typeface="+mj-lt"/>
              </a:rPr>
              <a:t>COEFICIENTES DE ANÁLISE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24" name="Imagem 23" descr="Introdução a Métricas de Perfomance em Classificação | by Gustavo Candido |  Medium">
            <a:extLst>
              <a:ext uri="{FF2B5EF4-FFF2-40B4-BE49-F238E27FC236}">
                <a16:creationId xmlns:a16="http://schemas.microsoft.com/office/drawing/2014/main" id="{D5BA5570-0B41-544D-928B-CA3624A3F8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85" b="22766"/>
          <a:stretch>
            <a:fillRect/>
          </a:stretch>
        </p:blipFill>
        <p:spPr>
          <a:xfrm>
            <a:off x="1721305" y="2470610"/>
            <a:ext cx="8134440" cy="285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81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3ABE-60C9-1C3D-25E6-68F1F88E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E275308-E766-AF13-60C0-09653A0F99FE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A145AA1-1CFA-866C-331B-132A002E6588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90BDEF-D75E-8353-ABDB-94E127DA3B94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21270B-AC96-C2A4-2317-0196F6579F2D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562D30C0-2362-5522-83FE-5C9D4F8AC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C3B93CA-B910-912F-FE0F-123449D8E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u="none" strike="noStrike" cap="none" normalizeH="0" baseline="0" dirty="0">
                <a:ln>
                  <a:noFill/>
                </a:ln>
                <a:effectLst/>
                <a:latin typeface="+mj-lt"/>
              </a:rPr>
              <a:t>COEFICIENTES DE ANÁLISE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C3B7273-E210-7997-9C33-B583B7D80EA7}"/>
              </a:ext>
            </a:extLst>
          </p:cNvPr>
          <p:cNvSpPr txBox="1"/>
          <p:nvPr/>
        </p:nvSpPr>
        <p:spPr>
          <a:xfrm>
            <a:off x="1234722" y="2353083"/>
            <a:ext cx="103673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FDR : </a:t>
            </a:r>
            <a:r>
              <a:rPr lang="pt-BR" b="1" dirty="0" err="1"/>
              <a:t>Fault</a:t>
            </a:r>
            <a:r>
              <a:rPr lang="pt-BR" b="1" dirty="0"/>
              <a:t> </a:t>
            </a:r>
            <a:r>
              <a:rPr lang="pt-BR" b="1" dirty="0" err="1"/>
              <a:t>Detection</a:t>
            </a:r>
            <a:r>
              <a:rPr lang="pt-BR" b="1" dirty="0"/>
              <a:t> Rate –Taxa de Detecção de Falhas</a:t>
            </a:r>
          </a:p>
          <a:p>
            <a:endParaRPr lang="pt-BR" dirty="0"/>
          </a:p>
          <a:p>
            <a:r>
              <a:rPr lang="pt-BR" dirty="0"/>
              <a:t>Também conhecida como </a:t>
            </a:r>
            <a:r>
              <a:rPr lang="pt-BR" b="1" dirty="0"/>
              <a:t>sensibilidade</a:t>
            </a:r>
            <a:r>
              <a:rPr lang="pt-BR" dirty="0"/>
              <a:t>, mede a capacidade do sistema de identificar uma falha quando ela realmente acontece.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B5A7DEA-FED7-CA08-D904-AB2B5B5EF3D9}"/>
                  </a:ext>
                </a:extLst>
              </p:cNvPr>
              <p:cNvSpPr txBox="1"/>
              <p:nvPr/>
            </p:nvSpPr>
            <p:spPr>
              <a:xfrm>
                <a:off x="4619454" y="4200882"/>
                <a:ext cx="2338141" cy="726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500" b="0" i="1" smtClean="0">
                          <a:latin typeface="Cambria Math" panose="02040503050406030204" pitchFamily="18" charset="0"/>
                        </a:rPr>
                        <m:t>𝐹𝐷𝑅</m:t>
                      </m:r>
                      <m:r>
                        <a:rPr lang="pt-BR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</m:num>
                        <m:den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pt-BR" sz="25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B5A7DEA-FED7-CA08-D904-AB2B5B5EF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54" y="4200882"/>
                <a:ext cx="2338141" cy="726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E7224F3-434F-89AE-1C3D-9FE98E7B21EF}"/>
              </a:ext>
            </a:extLst>
          </p:cNvPr>
          <p:cNvGrpSpPr/>
          <p:nvPr/>
        </p:nvGrpSpPr>
        <p:grpSpPr>
          <a:xfrm>
            <a:off x="5973803" y="3576509"/>
            <a:ext cx="3321933" cy="987710"/>
            <a:chOff x="5973803" y="3576509"/>
            <a:chExt cx="3321933" cy="987710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C6FBA076-AA7E-C234-0268-6DB1B4D79B2F}"/>
                </a:ext>
              </a:extLst>
            </p:cNvPr>
            <p:cNvSpPr/>
            <p:nvPr/>
          </p:nvSpPr>
          <p:spPr>
            <a:xfrm>
              <a:off x="5973803" y="4136911"/>
              <a:ext cx="613809" cy="42730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52F6949F-A3AC-88DE-5725-E2DC47AED692}"/>
                </a:ext>
              </a:extLst>
            </p:cNvPr>
            <p:cNvCxnSpPr>
              <a:stCxn id="11" idx="7"/>
            </p:cNvCxnSpPr>
            <p:nvPr/>
          </p:nvCxnSpPr>
          <p:spPr>
            <a:xfrm flipV="1">
              <a:off x="6497722" y="3873910"/>
              <a:ext cx="459873" cy="32557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637FA947-B847-5A57-FCCE-E86E01A008C6}"/>
                </a:ext>
              </a:extLst>
            </p:cNvPr>
            <p:cNvSpPr txBox="1"/>
            <p:nvPr/>
          </p:nvSpPr>
          <p:spPr>
            <a:xfrm>
              <a:off x="6957595" y="3576509"/>
              <a:ext cx="23381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Verdadeiros Positivos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17408B38-2722-23BA-7D55-8DE09175DACC}"/>
              </a:ext>
            </a:extLst>
          </p:cNvPr>
          <p:cNvGrpSpPr/>
          <p:nvPr/>
        </p:nvGrpSpPr>
        <p:grpSpPr>
          <a:xfrm>
            <a:off x="6373059" y="4606295"/>
            <a:ext cx="3507211" cy="427308"/>
            <a:chOff x="6418392" y="4628190"/>
            <a:chExt cx="3507211" cy="427308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02EE9F93-598C-CC36-588B-F6727D615495}"/>
                </a:ext>
              </a:extLst>
            </p:cNvPr>
            <p:cNvSpPr/>
            <p:nvPr/>
          </p:nvSpPr>
          <p:spPr>
            <a:xfrm>
              <a:off x="6418392" y="4628190"/>
              <a:ext cx="613809" cy="42730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04BF79FE-AF50-43C4-F6E3-41B736B95EED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>
              <a:off x="7032201" y="4841844"/>
              <a:ext cx="518973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14933035-86EA-B752-2ABD-89530BBD6840}"/>
                </a:ext>
              </a:extLst>
            </p:cNvPr>
            <p:cNvSpPr txBox="1"/>
            <p:nvPr/>
          </p:nvSpPr>
          <p:spPr>
            <a:xfrm>
              <a:off x="7587462" y="4647867"/>
              <a:ext cx="23381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Falsos Positivos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72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05A5-584F-0082-59CD-8A035056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C535154-3C2B-088D-65CB-A42528E679AD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B3EA0F8-7963-1259-B3F2-B3186E6108F2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1A69EA2-DB86-F844-1486-4E7036472892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C6D157-CBFF-0925-7A62-523D633FA012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F254B648-189C-B468-D087-BD2014257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121D2D3-E2A6-48D0-900C-7F175B810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u="none" strike="noStrike" cap="none" normalizeH="0" baseline="0" dirty="0">
                <a:ln>
                  <a:noFill/>
                </a:ln>
                <a:effectLst/>
                <a:latin typeface="+mj-lt"/>
              </a:rPr>
              <a:t>COEFICIENTES DE ANÁLISE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6826F96-C058-2A99-4EA4-575AF4D4164A}"/>
              </a:ext>
            </a:extLst>
          </p:cNvPr>
          <p:cNvSpPr txBox="1"/>
          <p:nvPr/>
        </p:nvSpPr>
        <p:spPr>
          <a:xfrm>
            <a:off x="1223682" y="2226336"/>
            <a:ext cx="101671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FAR: </a:t>
            </a:r>
            <a:r>
              <a:rPr lang="pt-BR" b="1" dirty="0" err="1"/>
              <a:t>Fault</a:t>
            </a:r>
            <a:r>
              <a:rPr lang="pt-BR" b="1" dirty="0"/>
              <a:t> </a:t>
            </a:r>
            <a:r>
              <a:rPr lang="pt-BR" b="1" dirty="0" err="1"/>
              <a:t>Detection</a:t>
            </a:r>
            <a:r>
              <a:rPr lang="pt-BR" b="1" dirty="0"/>
              <a:t> Rate – Taxa de Detecção de Falhas</a:t>
            </a:r>
          </a:p>
          <a:p>
            <a:endParaRPr lang="pt-BR" b="1" dirty="0"/>
          </a:p>
          <a:p>
            <a:r>
              <a:rPr lang="pt-BR" dirty="0"/>
              <a:t>Mede a probabilidade de o sistema dar um “alarme falso”, ou seja, acusar uma falha quando o processo está operando de forma </a:t>
            </a:r>
            <a:r>
              <a:rPr lang="pt-BR" b="1" dirty="0"/>
              <a:t>perfeitamente normal.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8F4521C-BEA6-E128-3ADD-624595043D52}"/>
                  </a:ext>
                </a:extLst>
              </p:cNvPr>
              <p:cNvSpPr txBox="1"/>
              <p:nvPr/>
            </p:nvSpPr>
            <p:spPr>
              <a:xfrm>
                <a:off x="4619454" y="4200882"/>
                <a:ext cx="2320507" cy="726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500" b="0" i="1" smtClean="0">
                          <a:latin typeface="Cambria Math" panose="02040503050406030204" pitchFamily="18" charset="0"/>
                        </a:rPr>
                        <m:t>𝐹𝐴𝑅</m:t>
                      </m:r>
                      <m:r>
                        <a:rPr lang="pt-BR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𝑉𝑁</m:t>
                          </m:r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5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pt-BR" sz="25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8F4521C-BEA6-E128-3ADD-624595043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54" y="4200882"/>
                <a:ext cx="2320507" cy="726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1B7D02DC-E3A4-83EE-0BDA-40C3628F0745}"/>
              </a:ext>
            </a:extLst>
          </p:cNvPr>
          <p:cNvGrpSpPr/>
          <p:nvPr/>
        </p:nvGrpSpPr>
        <p:grpSpPr>
          <a:xfrm>
            <a:off x="5973803" y="3576509"/>
            <a:ext cx="3321933" cy="987710"/>
            <a:chOff x="5973803" y="3576509"/>
            <a:chExt cx="3321933" cy="987710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74059B36-E59A-B1E9-0E35-F53BCA3BEC6A}"/>
                </a:ext>
              </a:extLst>
            </p:cNvPr>
            <p:cNvSpPr/>
            <p:nvPr/>
          </p:nvSpPr>
          <p:spPr>
            <a:xfrm>
              <a:off x="5973803" y="4136911"/>
              <a:ext cx="613809" cy="42730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F71B8C7F-822F-F5A0-4FEB-86FA4BC6F0AA}"/>
                </a:ext>
              </a:extLst>
            </p:cNvPr>
            <p:cNvCxnSpPr>
              <a:stCxn id="11" idx="7"/>
            </p:cNvCxnSpPr>
            <p:nvPr/>
          </p:nvCxnSpPr>
          <p:spPr>
            <a:xfrm flipV="1">
              <a:off x="6497722" y="3873910"/>
              <a:ext cx="459873" cy="32557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063A3493-45F1-44B2-6649-33C777A3EEFE}"/>
                </a:ext>
              </a:extLst>
            </p:cNvPr>
            <p:cNvSpPr txBox="1"/>
            <p:nvPr/>
          </p:nvSpPr>
          <p:spPr>
            <a:xfrm>
              <a:off x="6957595" y="3576509"/>
              <a:ext cx="23381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Falsos Positivos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5577AAE1-5E8D-79B2-121A-D3450A299E62}"/>
              </a:ext>
            </a:extLst>
          </p:cNvPr>
          <p:cNvGrpSpPr/>
          <p:nvPr/>
        </p:nvGrpSpPr>
        <p:grpSpPr>
          <a:xfrm>
            <a:off x="3967106" y="4615536"/>
            <a:ext cx="2530616" cy="1166684"/>
            <a:chOff x="4829272" y="4628190"/>
            <a:chExt cx="2530616" cy="1166684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E0EE244F-E133-4A14-095C-7FDAD243A7AF}"/>
                </a:ext>
              </a:extLst>
            </p:cNvPr>
            <p:cNvSpPr/>
            <p:nvPr/>
          </p:nvSpPr>
          <p:spPr>
            <a:xfrm>
              <a:off x="6418392" y="4628190"/>
              <a:ext cx="613809" cy="42730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F4C2DD5A-E13F-C9C2-009E-1E6E3785E710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 flipH="1">
              <a:off x="5974940" y="4992920"/>
              <a:ext cx="533342" cy="32697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5D1B310D-2610-C6BA-C2A0-28587FDEEBA8}"/>
                </a:ext>
              </a:extLst>
            </p:cNvPr>
            <p:cNvSpPr txBox="1"/>
            <p:nvPr/>
          </p:nvSpPr>
          <p:spPr>
            <a:xfrm>
              <a:off x="4829272" y="5425542"/>
              <a:ext cx="25306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/>
                <a:t>Verdadeiros Negativos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60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C5BFA-DF1C-58E0-1F8A-3C365733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5B79E3D-C172-62E0-77DA-B5B080D30198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B21F81C-2291-59BC-DD49-6AF54425BBCA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40C62B1-7947-1FE5-304A-C2AFB145DC2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229F2D-D65A-08BE-D43B-3FDB1924DC87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BD750F61-FE1E-7D63-A487-0EBA18105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4D583CD-D28B-4525-6581-AF7A058D9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PROCESSO DE TREINO E TESTE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9BF3C356-5237-7F38-7139-4D30ACEAB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1" t="8295" r="3627" b="6047"/>
          <a:stretch>
            <a:fillRect/>
          </a:stretch>
        </p:blipFill>
        <p:spPr>
          <a:xfrm>
            <a:off x="2141315" y="1975936"/>
            <a:ext cx="8102280" cy="413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93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CDC20-DD48-99CE-055B-6220F177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5C6F192-E5CD-5CED-9A8A-EB249E75A60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5EF077-BEE5-ADF2-16CC-4C0AE3C478DD}"/>
              </a:ext>
            </a:extLst>
          </p:cNvPr>
          <p:cNvSpPr txBox="1"/>
          <p:nvPr/>
        </p:nvSpPr>
        <p:spPr>
          <a:xfrm>
            <a:off x="1223682" y="887883"/>
            <a:ext cx="2995621" cy="413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425F1C-0EAC-87CC-B696-6CB98E8E2DFB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C3F561-1DA3-FC2A-9E67-F461EEF33E21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8D67990D-4EE2-2173-83BA-6DE6B8D62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A814B06-43CE-4B92-4A49-4206A9512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FDRs</a:t>
            </a:r>
            <a:r>
              <a:rPr kumimoji="0" lang="pt-BR" altLang="pt-BR" sz="1600" b="1" u="none" strike="noStrike" cap="none" normalizeH="0" baseline="0" dirty="0">
                <a:ln>
                  <a:noFill/>
                </a:ln>
                <a:effectLst/>
                <a:latin typeface="+mj-lt"/>
              </a:rPr>
              <a:t> MÉDIOS DOS MODELOS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8A612B8-05B6-0722-3FE7-208481834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693" y="2580514"/>
            <a:ext cx="4093157" cy="3105735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DDA661A3-2377-64D1-0BFA-DD47E50C3BF1}"/>
              </a:ext>
            </a:extLst>
          </p:cNvPr>
          <p:cNvSpPr/>
          <p:nvPr/>
        </p:nvSpPr>
        <p:spPr>
          <a:xfrm>
            <a:off x="1692693" y="4949001"/>
            <a:ext cx="3961330" cy="324465"/>
          </a:xfrm>
          <a:prstGeom prst="rect">
            <a:avLst/>
          </a:prstGeom>
          <a:solidFill>
            <a:srgbClr val="FFFF00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07CC35-D50B-B129-03A4-41E247BAD3CB}"/>
              </a:ext>
            </a:extLst>
          </p:cNvPr>
          <p:cNvSpPr/>
          <p:nvPr/>
        </p:nvSpPr>
        <p:spPr>
          <a:xfrm>
            <a:off x="1692693" y="3028189"/>
            <a:ext cx="3961330" cy="324465"/>
          </a:xfrm>
          <a:prstGeom prst="rect">
            <a:avLst/>
          </a:prstGeom>
          <a:solidFill>
            <a:srgbClr val="FF0000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EAE789B-CD6B-CDAA-7DD0-CD13F140E736}"/>
              </a:ext>
            </a:extLst>
          </p:cNvPr>
          <p:cNvSpPr/>
          <p:nvPr/>
        </p:nvSpPr>
        <p:spPr>
          <a:xfrm>
            <a:off x="1692693" y="4141673"/>
            <a:ext cx="3961330" cy="324465"/>
          </a:xfrm>
          <a:prstGeom prst="rect">
            <a:avLst/>
          </a:prstGeom>
          <a:solidFill>
            <a:srgbClr val="00B050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3367D05-4E6D-49AD-C582-BC10FB90714D}"/>
              </a:ext>
            </a:extLst>
          </p:cNvPr>
          <p:cNvSpPr txBox="1"/>
          <p:nvPr/>
        </p:nvSpPr>
        <p:spPr>
          <a:xfrm>
            <a:off x="6095999" y="2012358"/>
            <a:ext cx="5389917" cy="393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/>
              <a:t>PAE: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400" b="1" dirty="0"/>
              <a:t>MAIOR</a:t>
            </a:r>
            <a:r>
              <a:rPr lang="pt-BR" sz="1400" dirty="0"/>
              <a:t>  taxa de previsão (75,5%) (sensibilidade);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400" dirty="0"/>
              <a:t>Gera muitos alarmes falsos;</a:t>
            </a:r>
            <a:endParaRPr lang="pt-BR" sz="1400" b="1" dirty="0"/>
          </a:p>
          <a:p>
            <a:pPr algn="just">
              <a:lnSpc>
                <a:spcPct val="150000"/>
              </a:lnSpc>
            </a:pPr>
            <a:r>
              <a:rPr lang="pt-BR" sz="1400" b="1" dirty="0"/>
              <a:t>MPLS: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400" dirty="0"/>
              <a:t>Alta taxa de previsão (~75%)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400" dirty="0"/>
              <a:t>Foca principalmente em proteger a qualidade do produto;</a:t>
            </a:r>
            <a:endParaRPr lang="pt-BR" sz="1400" b="1" dirty="0"/>
          </a:p>
          <a:p>
            <a:pPr algn="just">
              <a:lnSpc>
                <a:spcPct val="150000"/>
              </a:lnSpc>
            </a:pPr>
            <a:r>
              <a:rPr lang="pt-BR" sz="1400" b="1" dirty="0"/>
              <a:t>DPCA: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400" dirty="0"/>
              <a:t>Melhor Equilíbrio (FDR: 72,95% e FAR: 65,56%)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400" dirty="0"/>
              <a:t>Permite filtrar ruídos rápidos e passageiros;</a:t>
            </a:r>
            <a:endParaRPr lang="pt-BR" sz="1400" b="1" dirty="0"/>
          </a:p>
          <a:p>
            <a:pPr algn="just">
              <a:lnSpc>
                <a:spcPct val="150000"/>
              </a:lnSpc>
            </a:pPr>
            <a:r>
              <a:rPr lang="pt-BR" sz="1400" b="1" dirty="0"/>
              <a:t>MICA: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400" dirty="0"/>
              <a:t>Taxa de previsão considerável (64,5%)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400" b="1" dirty="0"/>
              <a:t>MENOR</a:t>
            </a:r>
            <a:r>
              <a:rPr lang="pt-BR" sz="1400" dirty="0"/>
              <a:t> chance de gerar alarmes falsos (0,52%)</a:t>
            </a:r>
            <a:endParaRPr lang="pt-BR" sz="1400" b="1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7CD3159-3352-2F27-C556-9AC9C2E6FC5B}"/>
              </a:ext>
            </a:extLst>
          </p:cNvPr>
          <p:cNvSpPr/>
          <p:nvPr/>
        </p:nvSpPr>
        <p:spPr>
          <a:xfrm>
            <a:off x="1692693" y="3368245"/>
            <a:ext cx="3961330" cy="324465"/>
          </a:xfrm>
          <a:prstGeom prst="rect">
            <a:avLst/>
          </a:prstGeom>
          <a:solidFill>
            <a:schemeClr val="accent2">
              <a:alpha val="219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87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48221-CA4C-285D-D0B5-2D6F5F80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24EDF2C4-AE6B-7B48-9504-7D06F5547FA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E5FD9D0-4BBD-93C6-12B4-C92DB94A5641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F745E4-09CA-469D-EB22-AB13723F255E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20FD59-C2CE-86C0-87AF-33FA8CBE8531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7890CFBE-A917-AB1F-A767-2A39173BD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93325AA-E605-0F23-B696-1D91757BE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u="none" strike="noStrike" cap="none" normalizeH="0" baseline="0" dirty="0">
                <a:ln>
                  <a:noFill/>
                </a:ln>
                <a:effectLst/>
                <a:latin typeface="+mj-lt"/>
              </a:rPr>
              <a:t>FDA MÉDIOS POR FALTA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8F93EBA-AC7E-8389-CF33-7FC887C31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666" y="2050161"/>
            <a:ext cx="6694623" cy="3975519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D03C13A-D578-0C0C-BA8B-61E807EA1618}"/>
              </a:ext>
            </a:extLst>
          </p:cNvPr>
          <p:cNvGrpSpPr/>
          <p:nvPr/>
        </p:nvGrpSpPr>
        <p:grpSpPr>
          <a:xfrm>
            <a:off x="8691716" y="2268548"/>
            <a:ext cx="3323303" cy="835059"/>
            <a:chOff x="8868697" y="2306076"/>
            <a:chExt cx="3323303" cy="835059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EF770B82-F9A3-6A52-BD0E-C856AB8BB28D}"/>
                </a:ext>
              </a:extLst>
            </p:cNvPr>
            <p:cNvSpPr/>
            <p:nvPr/>
          </p:nvSpPr>
          <p:spPr>
            <a:xfrm>
              <a:off x="8868697" y="2369575"/>
              <a:ext cx="186812" cy="1807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54EA871-08C3-7D64-5155-8949B63FC3BE}"/>
                </a:ext>
              </a:extLst>
            </p:cNvPr>
            <p:cNvSpPr/>
            <p:nvPr/>
          </p:nvSpPr>
          <p:spPr>
            <a:xfrm>
              <a:off x="8868697" y="2633216"/>
              <a:ext cx="186812" cy="18078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BC8BED35-F788-9587-78BF-933B987356C7}"/>
                </a:ext>
              </a:extLst>
            </p:cNvPr>
            <p:cNvSpPr/>
            <p:nvPr/>
          </p:nvSpPr>
          <p:spPr>
            <a:xfrm>
              <a:off x="8868697" y="2896857"/>
              <a:ext cx="186812" cy="18078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432594A5-A315-F4E7-DFA1-039130F43E74}"/>
                </a:ext>
              </a:extLst>
            </p:cNvPr>
            <p:cNvSpPr txBox="1"/>
            <p:nvPr/>
          </p:nvSpPr>
          <p:spPr>
            <a:xfrm>
              <a:off x="9055509" y="2306076"/>
              <a:ext cx="23973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/>
                <a:t>Forte Detecção (FDR &gt; 95% )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ED300EC7-F504-D187-77EA-6B9D1F158DD6}"/>
                </a:ext>
              </a:extLst>
            </p:cNvPr>
            <p:cNvSpPr txBox="1"/>
            <p:nvPr/>
          </p:nvSpPr>
          <p:spPr>
            <a:xfrm>
              <a:off x="9055509" y="2570737"/>
              <a:ext cx="31364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/>
                <a:t>Detecção Moderada (50 &lt; FDR &lt; 95% )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648D7E60-AE80-D274-876A-12E1146531A4}"/>
                </a:ext>
              </a:extLst>
            </p:cNvPr>
            <p:cNvSpPr txBox="1"/>
            <p:nvPr/>
          </p:nvSpPr>
          <p:spPr>
            <a:xfrm>
              <a:off x="9055509" y="2833358"/>
              <a:ext cx="281879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/>
                <a:t>Difícil Detecção (FDR &lt; 50 % )</a:t>
              </a:r>
            </a:p>
          </p:txBody>
        </p:sp>
      </p:grp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5826AAC-8B0A-D8F9-F1D8-A99ED5005C62}"/>
              </a:ext>
            </a:extLst>
          </p:cNvPr>
          <p:cNvSpPr txBox="1"/>
          <p:nvPr/>
        </p:nvSpPr>
        <p:spPr>
          <a:xfrm>
            <a:off x="8631860" y="4038477"/>
            <a:ext cx="3312129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rgbClr val="FF0000"/>
                </a:solidFill>
              </a:rPr>
              <a:t>OBS</a:t>
            </a:r>
            <a:r>
              <a:rPr lang="pt-BR" sz="1400" dirty="0">
                <a:solidFill>
                  <a:srgbClr val="FF0000"/>
                </a:solidFill>
              </a:rPr>
              <a:t>: Com as piores taxas de detecção. Falhas IDV(03), IDV(05), IDV(09), IDV(15)</a:t>
            </a:r>
          </a:p>
        </p:txBody>
      </p:sp>
    </p:spTree>
    <p:extLst>
      <p:ext uri="{BB962C8B-B14F-4D97-AF65-F5344CB8AC3E}">
        <p14:creationId xmlns:p14="http://schemas.microsoft.com/office/powerpoint/2010/main" val="283159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DC068-FB5A-39E2-3898-93B02DDA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4278DD5-6302-77A9-0277-A3F0466B694E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D4C90E9-F40F-7D15-B25E-5B9D4CA74BBF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6360F46-7F52-941A-47B7-D360669641A4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AE6933-5A72-C4B1-FD1F-115433897C69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2481C6C8-5EC8-19F5-596A-FE4445034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77165E8-906D-BE0B-A593-81CE0C40D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u="none" strike="noStrike" cap="none" normalizeH="0" baseline="0" dirty="0">
                <a:ln>
                  <a:noFill/>
                </a:ln>
                <a:effectLst/>
                <a:latin typeface="+mj-lt"/>
              </a:rPr>
              <a:t>FDA MÉDIOS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377FB73-F3F2-264B-A600-311D40A3BE1F}"/>
              </a:ext>
            </a:extLst>
          </p:cNvPr>
          <p:cNvSpPr txBox="1"/>
          <p:nvPr/>
        </p:nvSpPr>
        <p:spPr>
          <a:xfrm>
            <a:off x="8386916" y="3319200"/>
            <a:ext cx="3312129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rgbClr val="FF0000"/>
                </a:solidFill>
              </a:rPr>
              <a:t>OBS</a:t>
            </a:r>
            <a:r>
              <a:rPr lang="pt-BR" sz="1400" dirty="0">
                <a:solidFill>
                  <a:srgbClr val="FF0000"/>
                </a:solidFill>
              </a:rPr>
              <a:t>: Com as piores taxas de detecção. Falhas IDV(03), IDV(05), IDV(09), IDV(15)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B44B26-7EFE-D9F9-78A8-8DAA04478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473" y="1849265"/>
            <a:ext cx="3889371" cy="4406187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DDD32A4-0566-037A-3A1B-C1633C13B346}"/>
              </a:ext>
            </a:extLst>
          </p:cNvPr>
          <p:cNvSpPr/>
          <p:nvPr/>
        </p:nvSpPr>
        <p:spPr>
          <a:xfrm>
            <a:off x="3133553" y="2485934"/>
            <a:ext cx="4260305" cy="180781"/>
          </a:xfrm>
          <a:prstGeom prst="rect">
            <a:avLst/>
          </a:prstGeom>
          <a:solidFill>
            <a:srgbClr val="FF0000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8088A90-A79A-282A-1806-5EBFCAE154E7}"/>
              </a:ext>
            </a:extLst>
          </p:cNvPr>
          <p:cNvSpPr/>
          <p:nvPr/>
        </p:nvSpPr>
        <p:spPr>
          <a:xfrm>
            <a:off x="3128005" y="2885369"/>
            <a:ext cx="4260305" cy="180781"/>
          </a:xfrm>
          <a:prstGeom prst="rect">
            <a:avLst/>
          </a:prstGeom>
          <a:solidFill>
            <a:srgbClr val="FF0000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B5A70D7-193E-61B9-AF7C-26C8C96C4496}"/>
              </a:ext>
            </a:extLst>
          </p:cNvPr>
          <p:cNvSpPr/>
          <p:nvPr/>
        </p:nvSpPr>
        <p:spPr>
          <a:xfrm>
            <a:off x="3128005" y="3652819"/>
            <a:ext cx="4260304" cy="180781"/>
          </a:xfrm>
          <a:prstGeom prst="rect">
            <a:avLst/>
          </a:prstGeom>
          <a:solidFill>
            <a:srgbClr val="FF0000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4D2D317-6440-E725-83D6-C9447B71A220}"/>
              </a:ext>
            </a:extLst>
          </p:cNvPr>
          <p:cNvSpPr/>
          <p:nvPr/>
        </p:nvSpPr>
        <p:spPr>
          <a:xfrm>
            <a:off x="3128004" y="4870305"/>
            <a:ext cx="4260305" cy="180781"/>
          </a:xfrm>
          <a:prstGeom prst="rect">
            <a:avLst/>
          </a:prstGeom>
          <a:solidFill>
            <a:srgbClr val="FF0000">
              <a:alpha val="2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406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9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3E02-25AA-B90F-337A-B74482308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CFDB671-DE28-1A62-E262-2BB79CA4D118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D0E9A88-2936-416D-078E-998F8587B1E3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4. CONCLUSÕES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17282AC-986D-9CFB-5837-E6EB103B866E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E45FE6-CD9A-8FAF-490A-B2AF0B043A8C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1CB95CCC-2C3E-56E7-106A-18353702C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5373224-D0B4-C71F-C588-EA8F31B85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770" y="2050161"/>
            <a:ext cx="8574457" cy="356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97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EA3BE-711C-A466-99A1-DEE03B2B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8DAAD1E-43C5-2DCF-3C33-7F31A488DFAA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B1CAE5A-EB15-E929-CA90-75E546C92369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4. CONCLUSÕES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21BD1F8-86CE-E854-CB48-420F37FEF33A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CD174C-134D-8EC2-A781-E07D724F895F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DF0D47B1-83DE-D6BA-667A-F8048A202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2B29862-EFFA-A472-CF2E-D9DCDF6E2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+mj-lt"/>
              </a:rPr>
              <a:t>TRABALHOS FUTUROS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506863-B19F-0FE6-21E5-01C1DA95F01F}"/>
              </a:ext>
            </a:extLst>
          </p:cNvPr>
          <p:cNvSpPr txBox="1"/>
          <p:nvPr/>
        </p:nvSpPr>
        <p:spPr>
          <a:xfrm>
            <a:off x="1317523" y="2050161"/>
            <a:ext cx="6154994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Métodos híbridos e ensembles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Abordagens de aprendizado profundo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Métodos de kernel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Aprendizado por transferência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Implementação em tempo real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Análise de causa raiz </a:t>
            </a:r>
          </a:p>
        </p:txBody>
      </p:sp>
    </p:spTree>
    <p:extLst>
      <p:ext uri="{BB962C8B-B14F-4D97-AF65-F5344CB8AC3E}">
        <p14:creationId xmlns:p14="http://schemas.microsoft.com/office/powerpoint/2010/main" val="1035706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B1D3F-7EA7-0C8F-03E5-6DB5A485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FB44E4F-9DC8-5ECE-3C69-5376241FB81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568142-3BC4-B698-C318-824E3078F81C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C02250-31F5-7510-A3EB-017E92734BAC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12599A-9E1E-2F55-FE5C-F1006F37361B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91301232-7129-EACB-B307-6D0B0D417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38FBFD4-D38B-272A-9F3F-3096A6872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094" y="2050161"/>
            <a:ext cx="9547809" cy="2835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DAYAL, B. S.; MACGREGOR, J. F. </a:t>
            </a:r>
            <a:r>
              <a:rPr lang="pt-BR" sz="1200" dirty="0" err="1"/>
              <a:t>Improved</a:t>
            </a:r>
            <a:r>
              <a:rPr lang="pt-BR" sz="1200" dirty="0"/>
              <a:t> PLS </a:t>
            </a:r>
            <a:r>
              <a:rPr lang="pt-BR" sz="1200" dirty="0" err="1"/>
              <a:t>algorithms</a:t>
            </a:r>
            <a:r>
              <a:rPr lang="pt-BR" sz="1200" dirty="0"/>
              <a:t>. </a:t>
            </a:r>
            <a:r>
              <a:rPr lang="pt-BR" sz="1200" b="1" dirty="0" err="1"/>
              <a:t>Journal</a:t>
            </a:r>
            <a:r>
              <a:rPr lang="pt-BR" sz="1200" b="1" dirty="0"/>
              <a:t> </a:t>
            </a:r>
            <a:r>
              <a:rPr lang="pt-BR" sz="1200" b="1" dirty="0" err="1"/>
              <a:t>of</a:t>
            </a:r>
            <a:r>
              <a:rPr lang="pt-BR" sz="1200" b="1" dirty="0"/>
              <a:t> </a:t>
            </a:r>
            <a:r>
              <a:rPr lang="pt-BR" sz="1200" b="1" dirty="0" err="1"/>
              <a:t>Chemometrics</a:t>
            </a:r>
            <a:r>
              <a:rPr lang="pt-BR" sz="1200" dirty="0"/>
              <a:t>, v. 11, n. 1, p. 73-85, 1997.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DOWNS, J. J.; VOGEL, E. F. A </a:t>
            </a:r>
            <a:r>
              <a:rPr lang="pt-BR" sz="1200" dirty="0" err="1"/>
              <a:t>plant-wide</a:t>
            </a:r>
            <a:r>
              <a:rPr lang="pt-BR" sz="1200" dirty="0"/>
              <a:t> industrial </a:t>
            </a:r>
            <a:r>
              <a:rPr lang="pt-BR" sz="1200" dirty="0" err="1"/>
              <a:t>process</a:t>
            </a:r>
            <a:r>
              <a:rPr lang="pt-BR" sz="1200" dirty="0"/>
              <a:t> </a:t>
            </a:r>
            <a:r>
              <a:rPr lang="pt-BR" sz="1200" dirty="0" err="1"/>
              <a:t>control</a:t>
            </a:r>
            <a:r>
              <a:rPr lang="pt-BR" sz="1200" dirty="0"/>
              <a:t> problem. </a:t>
            </a:r>
            <a:r>
              <a:rPr lang="pt-BR" sz="1200" b="1" dirty="0" err="1"/>
              <a:t>Computers</a:t>
            </a:r>
            <a:r>
              <a:rPr lang="pt-BR" sz="1200" b="1" dirty="0"/>
              <a:t> &amp; Chemical </a:t>
            </a:r>
            <a:r>
              <a:rPr lang="pt-BR" sz="1200" b="1" dirty="0" err="1"/>
              <a:t>Engineering</a:t>
            </a:r>
            <a:r>
              <a:rPr lang="pt-BR" sz="1200" dirty="0"/>
              <a:t>, v. 17, n. 3, p. 245–255, 1993.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FAVOREEL, W.; DE MOOR, B.; VAN OVERSCHEE, P. </a:t>
            </a:r>
            <a:r>
              <a:rPr lang="pt-BR" sz="1200" dirty="0" err="1"/>
              <a:t>Subspace</a:t>
            </a:r>
            <a:r>
              <a:rPr lang="pt-BR" sz="1200" dirty="0"/>
              <a:t> </a:t>
            </a:r>
            <a:r>
              <a:rPr lang="pt-BR" sz="1200" dirty="0" err="1"/>
              <a:t>state</a:t>
            </a:r>
            <a:r>
              <a:rPr lang="pt-BR" sz="1200" dirty="0"/>
              <a:t> </a:t>
            </a:r>
            <a:r>
              <a:rPr lang="pt-BR" sz="1200" dirty="0" err="1"/>
              <a:t>space</a:t>
            </a:r>
            <a:r>
              <a:rPr lang="pt-BR" sz="1200" dirty="0"/>
              <a:t> system </a:t>
            </a:r>
            <a:r>
              <a:rPr lang="pt-BR" sz="1200" dirty="0" err="1"/>
              <a:t>identification</a:t>
            </a:r>
            <a:r>
              <a:rPr lang="pt-BR" sz="1200" dirty="0"/>
              <a:t> for industrial processes. </a:t>
            </a:r>
            <a:r>
              <a:rPr lang="pt-BR" sz="1200" b="1" dirty="0" err="1"/>
              <a:t>Journal</a:t>
            </a:r>
            <a:r>
              <a:rPr lang="pt-BR" sz="1200" b="1" dirty="0"/>
              <a:t> </a:t>
            </a:r>
            <a:r>
              <a:rPr lang="pt-BR" sz="1200" b="1" dirty="0" err="1"/>
              <a:t>of</a:t>
            </a:r>
            <a:r>
              <a:rPr lang="pt-BR" sz="1200" b="1" dirty="0"/>
              <a:t> </a:t>
            </a:r>
            <a:r>
              <a:rPr lang="pt-BR" sz="1200" b="1" dirty="0" err="1"/>
              <a:t>Process</a:t>
            </a:r>
            <a:r>
              <a:rPr lang="pt-BR" sz="1200" b="1" dirty="0"/>
              <a:t> </a:t>
            </a:r>
            <a:r>
              <a:rPr lang="pt-BR" sz="1200" b="1" dirty="0" err="1"/>
              <a:t>Control</a:t>
            </a:r>
            <a:r>
              <a:rPr lang="pt-BR" sz="1200" dirty="0"/>
              <a:t>, v. 10, n. 2-3, p. 149-155, 2000.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GAVISH, M.; DONOHO, D. L. The </a:t>
            </a:r>
            <a:r>
              <a:rPr lang="pt-BR" sz="1200" dirty="0" err="1"/>
              <a:t>optimal</a:t>
            </a:r>
            <a:r>
              <a:rPr lang="pt-BR" sz="1200" dirty="0"/>
              <a:t> hard </a:t>
            </a:r>
            <a:r>
              <a:rPr lang="pt-BR" sz="1200" dirty="0" err="1"/>
              <a:t>threshold</a:t>
            </a:r>
            <a:r>
              <a:rPr lang="pt-BR" sz="1200" dirty="0"/>
              <a:t> for singular </a:t>
            </a:r>
            <a:r>
              <a:rPr lang="pt-BR" sz="1200" dirty="0" err="1"/>
              <a:t>values</a:t>
            </a:r>
            <a:r>
              <a:rPr lang="pt-BR" sz="1200" dirty="0"/>
              <a:t> </a:t>
            </a:r>
            <a:r>
              <a:rPr lang="pt-BR" sz="1200" dirty="0" err="1"/>
              <a:t>is</a:t>
            </a:r>
            <a:r>
              <a:rPr lang="pt-BR" sz="1200" dirty="0"/>
              <a:t> $4/\</a:t>
            </a:r>
            <a:r>
              <a:rPr lang="pt-BR" sz="1200" dirty="0" err="1"/>
              <a:t>sqrt</a:t>
            </a:r>
            <a:r>
              <a:rPr lang="pt-BR" sz="1200" dirty="0"/>
              <a:t>{3}$. </a:t>
            </a:r>
            <a:r>
              <a:rPr lang="pt-BR" sz="1200" b="1" dirty="0"/>
              <a:t>IEEE </a:t>
            </a:r>
            <a:r>
              <a:rPr lang="pt-BR" sz="1200" b="1" dirty="0" err="1"/>
              <a:t>Transactions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Information</a:t>
            </a:r>
            <a:r>
              <a:rPr lang="pt-BR" sz="1200" b="1" dirty="0"/>
              <a:t> </a:t>
            </a:r>
            <a:r>
              <a:rPr lang="pt-BR" sz="1200" b="1" dirty="0" err="1"/>
              <a:t>Theory</a:t>
            </a:r>
            <a:r>
              <a:rPr lang="pt-BR" sz="1200" dirty="0"/>
              <a:t>, v. 60, n. 8, p. 5040-5053, 2014.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GERMANO, A. </a:t>
            </a:r>
            <a:r>
              <a:rPr lang="pt-BR" sz="1200" i="1" dirty="0"/>
              <a:t>et al</a:t>
            </a:r>
            <a:r>
              <a:rPr lang="pt-BR" sz="1200" dirty="0"/>
              <a:t>. Detecção de falhas no processo Tennessee Eastman utilizando métricas de tipicidade e excentricidade. In: INTERNATIONAL CONFERENCE ON CONTROL, AUTOMATION AND SYSTEMS (ICCAS), 13., 2016. </a:t>
            </a:r>
            <a:r>
              <a:rPr lang="pt-BR" sz="1200" b="1" dirty="0" err="1"/>
              <a:t>Proceedings</a:t>
            </a:r>
            <a:r>
              <a:rPr lang="pt-BR" sz="1200" b="1" dirty="0"/>
              <a:t> [...]</a:t>
            </a:r>
            <a:r>
              <a:rPr lang="pt-BR" sz="1200" dirty="0"/>
              <a:t>. [S. l.: s. n.], 2016. p. 1000–1005.</a:t>
            </a:r>
          </a:p>
        </p:txBody>
      </p:sp>
    </p:spTree>
    <p:extLst>
      <p:ext uri="{BB962C8B-B14F-4D97-AF65-F5344CB8AC3E}">
        <p14:creationId xmlns:p14="http://schemas.microsoft.com/office/powerpoint/2010/main" val="3487896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63010-CED7-4F51-C583-4CE57DFDC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2B55BD1-485B-E5AC-BC2C-F7B1B2E4016D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596AFB1-8ED6-4AFE-B90E-32145A1CF7B9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6958D8-33AE-4391-289C-018DF30C2D20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96B41D-4DC0-1668-3102-606087DDEAF7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1B3CA2A4-0073-1125-0ABE-D7079E5B9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AF476CD-2D37-141B-53C7-60DB2186A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094" y="1960502"/>
            <a:ext cx="9547809" cy="3666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GERON, A. </a:t>
            </a:r>
            <a:r>
              <a:rPr lang="pt-BR" sz="1200" b="1" dirty="0"/>
              <a:t>Hands-On Machine Learning </a:t>
            </a:r>
            <a:r>
              <a:rPr lang="pt-BR" sz="1200" b="1" dirty="0" err="1"/>
              <a:t>with</a:t>
            </a:r>
            <a:r>
              <a:rPr lang="pt-BR" sz="1200" b="1" dirty="0"/>
              <a:t> </a:t>
            </a:r>
            <a:r>
              <a:rPr lang="pt-BR" sz="1200" b="1" dirty="0" err="1"/>
              <a:t>Scikit-Learn</a:t>
            </a:r>
            <a:r>
              <a:rPr lang="pt-BR" sz="1200" b="1" dirty="0"/>
              <a:t>, </a:t>
            </a:r>
            <a:r>
              <a:rPr lang="pt-BR" sz="1200" b="1" dirty="0" err="1"/>
              <a:t>Keras</a:t>
            </a:r>
            <a:r>
              <a:rPr lang="pt-BR" sz="1200" b="1" dirty="0"/>
              <a:t>, </a:t>
            </a:r>
            <a:r>
              <a:rPr lang="pt-BR" sz="1200" b="1" dirty="0" err="1"/>
              <a:t>and</a:t>
            </a:r>
            <a:r>
              <a:rPr lang="pt-BR" sz="1200" b="1" dirty="0"/>
              <a:t> </a:t>
            </a:r>
            <a:r>
              <a:rPr lang="pt-BR" sz="1200" b="1" dirty="0" err="1"/>
              <a:t>TensorFlow</a:t>
            </a:r>
            <a:r>
              <a:rPr lang="pt-BR" sz="1200" dirty="0"/>
              <a:t>: </a:t>
            </a:r>
            <a:r>
              <a:rPr lang="pt-BR" sz="1200" dirty="0" err="1"/>
              <a:t>Concepts</a:t>
            </a:r>
            <a:r>
              <a:rPr lang="pt-BR" sz="1200" dirty="0"/>
              <a:t>, Tools, </a:t>
            </a:r>
            <a:r>
              <a:rPr lang="pt-BR" sz="1200" dirty="0" err="1"/>
              <a:t>and</a:t>
            </a:r>
            <a:r>
              <a:rPr lang="pt-BR" sz="1200" dirty="0"/>
              <a:t> </a:t>
            </a:r>
            <a:r>
              <a:rPr lang="pt-BR" sz="1200" dirty="0" err="1"/>
              <a:t>Techniques</a:t>
            </a:r>
            <a:r>
              <a:rPr lang="pt-BR" sz="1200" dirty="0"/>
              <a:t> </a:t>
            </a:r>
            <a:r>
              <a:rPr lang="pt-BR" sz="1200" dirty="0" err="1"/>
              <a:t>to</a:t>
            </a:r>
            <a:r>
              <a:rPr lang="pt-BR" sz="1200" dirty="0"/>
              <a:t> Build </a:t>
            </a:r>
            <a:r>
              <a:rPr lang="pt-BR" sz="1200" dirty="0" err="1"/>
              <a:t>Intelligent</a:t>
            </a:r>
            <a:r>
              <a:rPr lang="pt-BR" sz="1200" dirty="0"/>
              <a:t> Systems. 2. ed. [S. l.]: O’Reilly Media, Inc., 2019.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GERTLER, J. </a:t>
            </a:r>
            <a:r>
              <a:rPr lang="pt-BR" sz="1200" b="1" dirty="0" err="1"/>
              <a:t>Fault</a:t>
            </a:r>
            <a:r>
              <a:rPr lang="pt-BR" sz="1200" b="1" dirty="0"/>
              <a:t> </a:t>
            </a:r>
            <a:r>
              <a:rPr lang="pt-BR" sz="1200" b="1" dirty="0" err="1"/>
              <a:t>detection</a:t>
            </a:r>
            <a:r>
              <a:rPr lang="pt-BR" sz="1200" b="1" dirty="0"/>
              <a:t> </a:t>
            </a:r>
            <a:r>
              <a:rPr lang="pt-BR" sz="1200" b="1" dirty="0" err="1"/>
              <a:t>and</a:t>
            </a:r>
            <a:r>
              <a:rPr lang="pt-BR" sz="1200" b="1" dirty="0"/>
              <a:t> </a:t>
            </a:r>
            <a:r>
              <a:rPr lang="pt-BR" sz="1200" b="1" dirty="0" err="1"/>
              <a:t>diagnosis</a:t>
            </a:r>
            <a:r>
              <a:rPr lang="pt-BR" sz="1200" b="1" dirty="0"/>
              <a:t> in </a:t>
            </a:r>
            <a:r>
              <a:rPr lang="pt-BR" sz="1200" b="1" dirty="0" err="1"/>
              <a:t>engineering</a:t>
            </a:r>
            <a:r>
              <a:rPr lang="pt-BR" sz="1200" b="1" dirty="0"/>
              <a:t> systems</a:t>
            </a:r>
            <a:r>
              <a:rPr lang="pt-BR" sz="1200" dirty="0"/>
              <a:t>. New York: Marcel Dekker, 1998.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ISERMANN, R. </a:t>
            </a:r>
            <a:r>
              <a:rPr lang="pt-BR" sz="1200" b="1" dirty="0" err="1"/>
              <a:t>Fault-diagnosis</a:t>
            </a:r>
            <a:r>
              <a:rPr lang="pt-BR" sz="1200" b="1" dirty="0"/>
              <a:t> </a:t>
            </a:r>
            <a:r>
              <a:rPr lang="pt-BR" sz="1200" b="1" dirty="0" err="1"/>
              <a:t>applications</a:t>
            </a:r>
            <a:r>
              <a:rPr lang="pt-BR" sz="1200" dirty="0"/>
              <a:t>: Model-</a:t>
            </a:r>
            <a:r>
              <a:rPr lang="pt-BR" sz="1200" dirty="0" err="1"/>
              <a:t>aided</a:t>
            </a:r>
            <a:r>
              <a:rPr lang="pt-BR" sz="1200" dirty="0"/>
              <a:t> </a:t>
            </a:r>
            <a:r>
              <a:rPr lang="pt-BR" sz="1200" dirty="0" err="1"/>
              <a:t>diagnosis</a:t>
            </a:r>
            <a:r>
              <a:rPr lang="pt-BR" sz="1200" dirty="0"/>
              <a:t> </a:t>
            </a:r>
            <a:r>
              <a:rPr lang="pt-BR" sz="1200" dirty="0" err="1"/>
              <a:t>and</a:t>
            </a:r>
            <a:r>
              <a:rPr lang="pt-BR" sz="1200" dirty="0"/>
              <a:t> </a:t>
            </a:r>
            <a:r>
              <a:rPr lang="pt-BR" sz="1200" dirty="0" err="1"/>
              <a:t>fault-tolerant</a:t>
            </a:r>
            <a:r>
              <a:rPr lang="pt-BR" sz="1200" dirty="0"/>
              <a:t> </a:t>
            </a:r>
            <a:r>
              <a:rPr lang="pt-BR" sz="1200" dirty="0" err="1"/>
              <a:t>control</a:t>
            </a:r>
            <a:r>
              <a:rPr lang="pt-BR" sz="1200" dirty="0"/>
              <a:t>. Berlin, Heidelberg: Springer-</a:t>
            </a:r>
            <a:r>
              <a:rPr lang="pt-BR" sz="1200" dirty="0" err="1"/>
              <a:t>Verlag</a:t>
            </a:r>
            <a:r>
              <a:rPr lang="pt-BR" sz="1200" dirty="0"/>
              <a:t>, 2011.</a:t>
            </a:r>
          </a:p>
          <a:p>
            <a:pPr marL="228600" indent="-2286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>
                <a:highlight>
                  <a:srgbClr val="FFFF00"/>
                </a:highlight>
              </a:rPr>
              <a:t>SILVA, S. J. A. </a:t>
            </a:r>
            <a:r>
              <a:rPr lang="pt-BR" sz="1200" b="1" dirty="0">
                <a:highlight>
                  <a:srgbClr val="FFFF00"/>
                </a:highlight>
              </a:rPr>
              <a:t>Atividade 3 - Identificação de Falhas (Sistemas Inteligentes 2026)</a:t>
            </a:r>
            <a:r>
              <a:rPr lang="pt-BR" sz="1200" dirty="0">
                <a:highlight>
                  <a:srgbClr val="FFFF00"/>
                </a:highlight>
              </a:rPr>
              <a:t>. Repositório GitHub, 2026. Disponível em: </a:t>
            </a:r>
            <a:r>
              <a:rPr lang="pt-BR" sz="1200" dirty="0">
                <a:highlight>
                  <a:srgbClr val="FFFF00"/>
                </a:highlight>
                <a:hlinkClick r:id="rId3"/>
              </a:rPr>
              <a:t>https://github.com/</a:t>
            </a:r>
            <a:r>
              <a:rPr lang="pt-BR" sz="1200" dirty="0" err="1">
                <a:highlight>
                  <a:srgbClr val="FFFF00"/>
                </a:highlight>
                <a:hlinkClick r:id="rId3"/>
              </a:rPr>
              <a:t>SauloJose</a:t>
            </a:r>
            <a:r>
              <a:rPr lang="pt-BR" sz="1200" dirty="0">
                <a:highlight>
                  <a:srgbClr val="FFFF00"/>
                </a:highlight>
                <a:hlinkClick r:id="rId3"/>
              </a:rPr>
              <a:t>/SistemasInteligentes2026/</a:t>
            </a:r>
            <a:r>
              <a:rPr lang="pt-BR" sz="1200" dirty="0" err="1">
                <a:highlight>
                  <a:srgbClr val="FFFF00"/>
                </a:highlight>
                <a:hlinkClick r:id="rId3"/>
              </a:rPr>
              <a:t>tree</a:t>
            </a:r>
            <a:r>
              <a:rPr lang="pt-BR" sz="1200" dirty="0">
                <a:highlight>
                  <a:srgbClr val="FFFF00"/>
                </a:highlight>
                <a:hlinkClick r:id="rId3"/>
              </a:rPr>
              <a:t>/</a:t>
            </a:r>
            <a:r>
              <a:rPr lang="pt-BR" sz="1200" dirty="0" err="1">
                <a:highlight>
                  <a:srgbClr val="FFFF00"/>
                </a:highlight>
                <a:hlinkClick r:id="rId3"/>
              </a:rPr>
              <a:t>main</a:t>
            </a:r>
            <a:r>
              <a:rPr lang="pt-BR" sz="1200" dirty="0">
                <a:highlight>
                  <a:srgbClr val="FFFF00"/>
                </a:highlight>
                <a:hlinkClick r:id="rId3"/>
              </a:rPr>
              <a:t>/Atividade%203%20-%20Identifica%C3%A7%C3%A3o%20de%20Falhas</a:t>
            </a:r>
            <a:r>
              <a:rPr lang="pt-BR" sz="1200" dirty="0">
                <a:highlight>
                  <a:srgbClr val="FFFF00"/>
                </a:highlight>
              </a:rPr>
              <a:t>. Acesso em: 18 maio 2026.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SPINA, D. E. </a:t>
            </a:r>
            <a:r>
              <a:rPr lang="pt-BR" sz="1200" i="1" dirty="0"/>
              <a:t>et al</a:t>
            </a:r>
            <a:r>
              <a:rPr lang="pt-BR" sz="1200" dirty="0"/>
              <a:t>. </a:t>
            </a:r>
            <a:r>
              <a:rPr lang="pt-BR" sz="1200" dirty="0" err="1"/>
              <a:t>Comparison</a:t>
            </a:r>
            <a:r>
              <a:rPr lang="pt-BR" sz="1200" dirty="0"/>
              <a:t> </a:t>
            </a:r>
            <a:r>
              <a:rPr lang="pt-BR" sz="1200" dirty="0" err="1"/>
              <a:t>of</a:t>
            </a:r>
            <a:r>
              <a:rPr lang="pt-BR" sz="1200" dirty="0"/>
              <a:t> </a:t>
            </a:r>
            <a:r>
              <a:rPr lang="pt-BR" sz="1200" dirty="0" err="1"/>
              <a:t>autoencoder</a:t>
            </a:r>
            <a:r>
              <a:rPr lang="pt-BR" sz="1200" dirty="0"/>
              <a:t> </a:t>
            </a:r>
            <a:r>
              <a:rPr lang="pt-BR" sz="1200" dirty="0" err="1"/>
              <a:t>architectures</a:t>
            </a:r>
            <a:r>
              <a:rPr lang="pt-BR" sz="1200" dirty="0"/>
              <a:t> for </a:t>
            </a:r>
            <a:r>
              <a:rPr lang="pt-BR" sz="1200" dirty="0" err="1"/>
              <a:t>fault</a:t>
            </a:r>
            <a:r>
              <a:rPr lang="pt-BR" sz="1200" dirty="0"/>
              <a:t> </a:t>
            </a:r>
            <a:r>
              <a:rPr lang="pt-BR" sz="1200" dirty="0" err="1"/>
              <a:t>detection</a:t>
            </a:r>
            <a:r>
              <a:rPr lang="pt-BR" sz="1200" dirty="0"/>
              <a:t> in industrial processes. </a:t>
            </a:r>
            <a:r>
              <a:rPr lang="pt-BR" sz="1200" b="1" dirty="0"/>
              <a:t>Digital Chemical </a:t>
            </a:r>
            <a:r>
              <a:rPr lang="pt-BR" sz="1200" b="1" dirty="0" err="1"/>
              <a:t>Engineering</a:t>
            </a:r>
            <a:r>
              <a:rPr lang="pt-BR" sz="1200" dirty="0"/>
              <a:t>, v. 12, p. 100162, 2024.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VENKATASUBRAMANIAN, V. </a:t>
            </a:r>
            <a:r>
              <a:rPr lang="pt-BR" sz="1200" i="1" dirty="0"/>
              <a:t>et al</a:t>
            </a:r>
            <a:r>
              <a:rPr lang="pt-BR" sz="1200" dirty="0"/>
              <a:t>. A review </a:t>
            </a:r>
            <a:r>
              <a:rPr lang="pt-BR" sz="1200" dirty="0" err="1"/>
              <a:t>of</a:t>
            </a:r>
            <a:r>
              <a:rPr lang="pt-BR" sz="1200" dirty="0"/>
              <a:t> </a:t>
            </a:r>
            <a:r>
              <a:rPr lang="pt-BR" sz="1200" dirty="0" err="1"/>
              <a:t>process</a:t>
            </a:r>
            <a:r>
              <a:rPr lang="pt-BR" sz="1200" dirty="0"/>
              <a:t> </a:t>
            </a:r>
            <a:r>
              <a:rPr lang="pt-BR" sz="1200" dirty="0" err="1"/>
              <a:t>fault</a:t>
            </a:r>
            <a:r>
              <a:rPr lang="pt-BR" sz="1200" dirty="0"/>
              <a:t> </a:t>
            </a:r>
            <a:r>
              <a:rPr lang="pt-BR" sz="1200" dirty="0" err="1"/>
              <a:t>detection</a:t>
            </a:r>
            <a:r>
              <a:rPr lang="pt-BR" sz="1200" dirty="0"/>
              <a:t> </a:t>
            </a:r>
            <a:r>
              <a:rPr lang="pt-BR" sz="1200" dirty="0" err="1"/>
              <a:t>and</a:t>
            </a:r>
            <a:r>
              <a:rPr lang="pt-BR" sz="1200" dirty="0"/>
              <a:t> </a:t>
            </a:r>
            <a:r>
              <a:rPr lang="pt-BR" sz="1200" dirty="0" err="1"/>
              <a:t>diagnosis</a:t>
            </a:r>
            <a:r>
              <a:rPr lang="pt-BR" sz="1200" dirty="0"/>
              <a:t>: Part I. </a:t>
            </a:r>
            <a:r>
              <a:rPr lang="pt-BR" sz="1200" dirty="0" err="1"/>
              <a:t>Quantitative</a:t>
            </a:r>
            <a:r>
              <a:rPr lang="pt-BR" sz="1200" dirty="0"/>
              <a:t> model-</a:t>
            </a:r>
            <a:r>
              <a:rPr lang="pt-BR" sz="1200" dirty="0" err="1"/>
              <a:t>based</a:t>
            </a:r>
            <a:r>
              <a:rPr lang="pt-BR" sz="1200" dirty="0"/>
              <a:t> </a:t>
            </a:r>
            <a:r>
              <a:rPr lang="pt-BR" sz="1200" dirty="0" err="1"/>
              <a:t>methods</a:t>
            </a:r>
            <a:r>
              <a:rPr lang="pt-BR" sz="1200" dirty="0"/>
              <a:t>. </a:t>
            </a:r>
            <a:r>
              <a:rPr lang="pt-BR" sz="1200" b="1" dirty="0" err="1"/>
              <a:t>Computers</a:t>
            </a:r>
            <a:r>
              <a:rPr lang="pt-BR" sz="1200" b="1" dirty="0"/>
              <a:t> &amp; Chemical </a:t>
            </a:r>
            <a:r>
              <a:rPr lang="pt-BR" sz="1200" b="1" dirty="0" err="1"/>
              <a:t>Engineering</a:t>
            </a:r>
            <a:r>
              <a:rPr lang="pt-BR" sz="1200" dirty="0"/>
              <a:t>, v. 27, n. 3, p. 293-311, 2003.</a:t>
            </a: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YIN, S. </a:t>
            </a:r>
            <a:r>
              <a:rPr lang="pt-BR" sz="1200" i="1" dirty="0"/>
              <a:t>et al</a:t>
            </a:r>
            <a:r>
              <a:rPr lang="pt-BR" sz="1200" dirty="0"/>
              <a:t>. A </a:t>
            </a:r>
            <a:r>
              <a:rPr lang="pt-BR" sz="1200" dirty="0" err="1"/>
              <a:t>comparison</a:t>
            </a:r>
            <a:r>
              <a:rPr lang="pt-BR" sz="1200" dirty="0"/>
              <a:t> </a:t>
            </a:r>
            <a:r>
              <a:rPr lang="pt-BR" sz="1200" dirty="0" err="1"/>
              <a:t>study</a:t>
            </a:r>
            <a:r>
              <a:rPr lang="pt-BR" sz="1200" dirty="0"/>
              <a:t> </a:t>
            </a:r>
            <a:r>
              <a:rPr lang="pt-BR" sz="1200" dirty="0" err="1"/>
              <a:t>of</a:t>
            </a:r>
            <a:r>
              <a:rPr lang="pt-BR" sz="1200" dirty="0"/>
              <a:t> </a:t>
            </a:r>
            <a:r>
              <a:rPr lang="pt-BR" sz="1200" dirty="0" err="1"/>
              <a:t>basic</a:t>
            </a:r>
            <a:r>
              <a:rPr lang="pt-BR" sz="1200" dirty="0"/>
              <a:t> data-</a:t>
            </a:r>
            <a:r>
              <a:rPr lang="pt-BR" sz="1200" dirty="0" err="1"/>
              <a:t>driven</a:t>
            </a:r>
            <a:r>
              <a:rPr lang="pt-BR" sz="1200" dirty="0"/>
              <a:t> </a:t>
            </a:r>
            <a:r>
              <a:rPr lang="pt-BR" sz="1200" dirty="0" err="1"/>
              <a:t>fault</a:t>
            </a:r>
            <a:r>
              <a:rPr lang="pt-BR" sz="1200" dirty="0"/>
              <a:t> </a:t>
            </a:r>
            <a:r>
              <a:rPr lang="pt-BR" sz="1200" dirty="0" err="1"/>
              <a:t>diagnosis</a:t>
            </a:r>
            <a:r>
              <a:rPr lang="pt-BR" sz="1200" dirty="0"/>
              <a:t> </a:t>
            </a:r>
            <a:r>
              <a:rPr lang="pt-BR" sz="1200" dirty="0" err="1"/>
              <a:t>and</a:t>
            </a:r>
            <a:r>
              <a:rPr lang="pt-BR" sz="1200" dirty="0"/>
              <a:t> </a:t>
            </a:r>
            <a:r>
              <a:rPr lang="pt-BR" sz="1200" dirty="0" err="1"/>
              <a:t>process</a:t>
            </a:r>
            <a:r>
              <a:rPr lang="pt-BR" sz="1200" dirty="0"/>
              <a:t> </a:t>
            </a:r>
            <a:r>
              <a:rPr lang="pt-BR" sz="1200" dirty="0" err="1"/>
              <a:t>monitoring</a:t>
            </a:r>
            <a:r>
              <a:rPr lang="pt-BR" sz="1200" dirty="0"/>
              <a:t> </a:t>
            </a:r>
            <a:r>
              <a:rPr lang="pt-BR" sz="1200" dirty="0" err="1"/>
              <a:t>methods</a:t>
            </a:r>
            <a:r>
              <a:rPr lang="pt-BR" sz="1200" dirty="0"/>
              <a:t> </a:t>
            </a:r>
            <a:r>
              <a:rPr lang="pt-BR" sz="1200" dirty="0" err="1"/>
              <a:t>on</a:t>
            </a:r>
            <a:r>
              <a:rPr lang="pt-BR" sz="1200" dirty="0"/>
              <a:t> </a:t>
            </a:r>
            <a:r>
              <a:rPr lang="pt-BR" sz="1200" dirty="0" err="1"/>
              <a:t>the</a:t>
            </a:r>
            <a:r>
              <a:rPr lang="pt-BR" sz="1200" dirty="0"/>
              <a:t> benchmark Tennessee Eastman </a:t>
            </a:r>
            <a:r>
              <a:rPr lang="pt-BR" sz="1200" dirty="0" err="1"/>
              <a:t>process</a:t>
            </a:r>
            <a:r>
              <a:rPr lang="pt-BR" sz="1200" dirty="0"/>
              <a:t>. </a:t>
            </a:r>
            <a:r>
              <a:rPr lang="pt-BR" sz="1200" b="1" dirty="0" err="1"/>
              <a:t>Journal</a:t>
            </a:r>
            <a:r>
              <a:rPr lang="pt-BR" sz="1200" b="1" dirty="0"/>
              <a:t> </a:t>
            </a:r>
            <a:r>
              <a:rPr lang="pt-BR" sz="1200" b="1" dirty="0" err="1"/>
              <a:t>of</a:t>
            </a:r>
            <a:r>
              <a:rPr lang="pt-BR" sz="1200" b="1" dirty="0"/>
              <a:t> </a:t>
            </a:r>
            <a:r>
              <a:rPr lang="pt-BR" sz="1200" b="1" dirty="0" err="1"/>
              <a:t>Process</a:t>
            </a:r>
            <a:r>
              <a:rPr lang="pt-BR" sz="1200" b="1" dirty="0"/>
              <a:t> </a:t>
            </a:r>
            <a:r>
              <a:rPr lang="pt-BR" sz="1200" b="1" dirty="0" err="1"/>
              <a:t>Control</a:t>
            </a:r>
            <a:r>
              <a:rPr lang="pt-BR" sz="1200" dirty="0"/>
              <a:t>, v. 22, n. 9, p. 1567-1581, 2012.</a:t>
            </a:r>
          </a:p>
        </p:txBody>
      </p:sp>
    </p:spTree>
    <p:extLst>
      <p:ext uri="{BB962C8B-B14F-4D97-AF65-F5344CB8AC3E}">
        <p14:creationId xmlns:p14="http://schemas.microsoft.com/office/powerpoint/2010/main" val="705315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8551-3138-3592-B2D0-9308D6CD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8A7DB7-892C-1102-C509-196D4C020417}"/>
              </a:ext>
            </a:extLst>
          </p:cNvPr>
          <p:cNvSpPr txBox="1"/>
          <p:nvPr/>
        </p:nvSpPr>
        <p:spPr>
          <a:xfrm>
            <a:off x="4106775" y="5929511"/>
            <a:ext cx="3978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Silva.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/>
              <a:t>saulo.jose.silva@ee.ufcg.edu.br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606FD2-AEAE-EDB8-5E06-354AB7BEC804}"/>
              </a:ext>
            </a:extLst>
          </p:cNvPr>
          <p:cNvSpPr txBox="1"/>
          <p:nvPr/>
        </p:nvSpPr>
        <p:spPr>
          <a:xfrm>
            <a:off x="721889" y="2705725"/>
            <a:ext cx="107482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8800" dirty="0"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6" name="Picture 4" descr="Logomarcas">
            <a:extLst>
              <a:ext uri="{FF2B5EF4-FFF2-40B4-BE49-F238E27FC236}">
                <a16:creationId xmlns:a16="http://schemas.microsoft.com/office/drawing/2014/main" id="{89AE256B-4357-1E17-0765-F165476FB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4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749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2683</TotalTime>
  <Words>1617</Words>
  <Application>Microsoft Office PowerPoint</Application>
  <PresentationFormat>Widescreen</PresentationFormat>
  <Paragraphs>192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Arial Black</vt:lpstr>
      <vt:lpstr>Cambria Math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Saulo José Almeida Silva</dc:creator>
  <cp:lastModifiedBy>Saulo José Almeida Silva</cp:lastModifiedBy>
  <cp:revision>382</cp:revision>
  <dcterms:created xsi:type="dcterms:W3CDTF">2025-08-24T00:23:34Z</dcterms:created>
  <dcterms:modified xsi:type="dcterms:W3CDTF">2026-05-20T17:31:08Z</dcterms:modified>
</cp:coreProperties>
</file>