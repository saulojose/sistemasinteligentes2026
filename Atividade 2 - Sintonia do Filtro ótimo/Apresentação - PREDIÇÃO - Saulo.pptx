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70" r:id="rId3"/>
    <p:sldId id="325" r:id="rId4"/>
    <p:sldId id="333" r:id="rId5"/>
    <p:sldId id="386" r:id="rId6"/>
    <p:sldId id="382" r:id="rId7"/>
    <p:sldId id="385" r:id="rId8"/>
    <p:sldId id="387" r:id="rId9"/>
    <p:sldId id="402" r:id="rId10"/>
    <p:sldId id="384" r:id="rId11"/>
    <p:sldId id="390" r:id="rId12"/>
    <p:sldId id="388" r:id="rId13"/>
    <p:sldId id="389" r:id="rId14"/>
    <p:sldId id="379" r:id="rId15"/>
    <p:sldId id="391" r:id="rId16"/>
    <p:sldId id="328" r:id="rId17"/>
    <p:sldId id="401" r:id="rId18"/>
    <p:sldId id="392" r:id="rId19"/>
    <p:sldId id="393" r:id="rId20"/>
    <p:sldId id="394" r:id="rId21"/>
    <p:sldId id="395" r:id="rId22"/>
    <p:sldId id="397" r:id="rId23"/>
    <p:sldId id="396" r:id="rId24"/>
    <p:sldId id="398" r:id="rId25"/>
    <p:sldId id="399" r:id="rId26"/>
    <p:sldId id="400" r:id="rId27"/>
    <p:sldId id="378" r:id="rId28"/>
    <p:sldId id="380" r:id="rId29"/>
    <p:sldId id="273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191E"/>
    <a:srgbClr val="FFE5E5"/>
    <a:srgbClr val="E9F5FB"/>
    <a:srgbClr val="FFFFFF"/>
    <a:srgbClr val="2F9E41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020" autoAdjust="0"/>
  </p:normalViewPr>
  <p:slideViewPr>
    <p:cSldViewPr snapToGrid="0">
      <p:cViewPr varScale="1">
        <p:scale>
          <a:sx n="74" d="100"/>
          <a:sy n="74" d="100"/>
        </p:scale>
        <p:origin x="1195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80AFB-2E3F-42DC-9796-A7A23E86EAB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721C4-8263-461E-8B3B-AC8C523E1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77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2AEAD-B871-745C-25F1-240FEA0AD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48777E-2E06-D8A3-057D-0141147A9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9C4ED1-A464-72AF-3406-3DB2072B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F7D17D-DC9E-875A-D4F9-7EF647E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675DBC-E339-37F0-1BCC-B3914BE6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94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F1D6C-1D5D-A0B9-6455-90C4DF7F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E15C5E-5A3E-97A0-E331-014C1F762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373B20-95FA-CCCD-76E7-7D150649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373DA8-1764-085E-FBDF-BA8FED4E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D27B59-8E2F-D65D-218D-8848CE64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39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5AEF6-BFCD-AF5F-E11F-05C2E54B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63CFCD-BFFD-F010-885B-BA0231ED0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39062E-0F2F-9615-BE51-BB1C8F9B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04D0E3-D19E-8351-1C90-A9D248B8D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E91183-BC19-F62D-4919-CFDDADA9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00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9B419-93F1-00B4-B822-0C6C55C3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ED323-33B2-1A19-3DE1-BE909EFB9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9B5E3E-5C8A-D639-F597-A7388C4DF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A84E66-C891-2BDE-3196-3274E00B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F74336-D9A7-389C-08F0-53DFF1BE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DBB875-658F-3EAB-E4AC-177C7923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04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A6AAA-0307-8322-5BA5-459C88AB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2A430E-ED16-B93D-C617-481CC93BB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07A939-EEE0-1546-EE90-BDE4279E4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471581-0638-71C6-B3CF-1EBBB500D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12D75F-1A72-DD02-134E-03270286BB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78C5A5F-AAD8-5C1B-CBD2-154B017D4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03B748-EFF7-51BA-F5D1-D723560F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05E4B8-92EC-8079-EEA1-0AFB0701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98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85FE2-55F1-168D-572C-199729C2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2A637A-7428-34D1-0CF0-A0E0825B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9524F7-F631-DC22-1EE6-A65A457B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02D5828-13E0-BD36-EC26-45B02DE3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29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1EF7B4-754C-4D82-6EBA-C231A4888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2FEDAF3-030A-AAE4-24FA-B8707B84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4F61E9-DD33-DD18-055B-A08C3F13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912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F664C-4663-4CC6-64DC-4A1ED4EE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A7D5E0-751D-22AC-6F81-DB39ECB5D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2A5B98-1D2E-7742-BD6E-6CD574205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25DA36-AA40-7B7E-E183-6EFFC174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549C72-4A58-531F-134E-B2974359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E04949-A313-4E38-BDFD-E93CB5C2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374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4092F-5896-D22D-2112-8016CDCD2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D8022BE-5115-E31E-9DBA-C1838FDB5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686221-8440-F759-3714-3E267B5D7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E3106F-8AC5-86E3-5393-AAD57E1B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6A1E77-1BFB-BFDE-4EAC-7EE39E9A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F6B004-A6F2-C6BE-E0E6-AF3E44AA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351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2688D-1D26-B34B-8F01-8AEED2E2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1A4866-3D79-D6DA-78A0-6600A45AC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6EDC72-9E83-F7D4-353E-608AFE16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0120ED-27F9-F2F8-F5C8-E8431AD6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48F66A-490A-4C93-6B43-07F79D71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38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3D5CE6-6FC6-9E20-0073-B14D2E261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DAF59E-354D-FB95-572B-E0F308EBC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178D85-ECB0-5C33-720F-4352A4835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145E7-F369-2451-D6BC-92D43076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4E07FA-E87C-CFFC-2EB4-CEE0F665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50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475304-372F-B050-AC47-29D153D5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60DDA8-A757-6423-C510-7514400FB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6EB7F-73AB-00AB-E52A-ABDD6F076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315B1-8A60-47FC-9A9C-8EB8FFA1BE11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C1BDC2-8CEA-962F-B2F7-799979B86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4B85AF-5142-5959-614B-DD93B12A7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8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uloJose/SistemasInteligentes202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36D3A2E-52AE-4705-B182-7D672A273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501" y="4012642"/>
            <a:ext cx="9461682" cy="81814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Professor: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Dr. Antônio Marcus Nogueira Lima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Aluno: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Saulo José Almeida Silva</a:t>
            </a:r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4A5047E-7E22-4696-AED2-4B5A3BF6E2F0}"/>
              </a:ext>
            </a:extLst>
          </p:cNvPr>
          <p:cNvSpPr txBox="1">
            <a:spLocks/>
          </p:cNvSpPr>
          <p:nvPr/>
        </p:nvSpPr>
        <p:spPr>
          <a:xfrm>
            <a:off x="1365159" y="3039035"/>
            <a:ext cx="9461682" cy="77992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Implementação e Análise do Algoritmo de Sintonia Adaptativa do Filtro de Kalman Aplicado à Localização Robótica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4C55D7-217E-66E1-0BA4-DB510E93A830}"/>
              </a:ext>
            </a:extLst>
          </p:cNvPr>
          <p:cNvSpPr txBox="1"/>
          <p:nvPr/>
        </p:nvSpPr>
        <p:spPr>
          <a:xfrm>
            <a:off x="3785419" y="6155110"/>
            <a:ext cx="4463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dirty="0"/>
              <a:t>saulo.jose.silva@ee.ufcg.edu.br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Logomarcas">
            <a:extLst>
              <a:ext uri="{FF2B5EF4-FFF2-40B4-BE49-F238E27FC236}">
                <a16:creationId xmlns:a16="http://schemas.microsoft.com/office/drawing/2014/main" id="{2FA05E7E-E458-9BA7-D4BC-D3F4C6FF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54" y="333558"/>
            <a:ext cx="1484176" cy="151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5397D17-0CD9-2E8A-9A91-4304C151E554}"/>
              </a:ext>
            </a:extLst>
          </p:cNvPr>
          <p:cNvSpPr txBox="1"/>
          <p:nvPr/>
        </p:nvSpPr>
        <p:spPr>
          <a:xfrm>
            <a:off x="3048866" y="2476025"/>
            <a:ext cx="6094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SISTEMAS INTELIGENTES</a:t>
            </a:r>
            <a:endParaRPr lang="pt-BR" sz="2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57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AB643-7218-2B01-BCDA-649ADFCB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4F2F874-FC0B-56C2-8CB8-AF9C780E919F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B4EAFF-A4D5-F2CA-1FDA-5F545B089B4A}"/>
              </a:ext>
            </a:extLst>
          </p:cNvPr>
          <p:cNvSpPr txBox="1"/>
          <p:nvPr/>
        </p:nvSpPr>
        <p:spPr>
          <a:xfrm>
            <a:off x="1223682" y="88788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Sumário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C535880-AE30-AD40-3D1C-D2DDC19274F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429E21E1-0ACB-1AEF-B647-FC8B575FD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6336" y="1665002"/>
            <a:ext cx="9778548" cy="4064483"/>
          </a:xfrm>
        </p:spPr>
        <p:txBody>
          <a:bodyPr numCol="1">
            <a:normAutofit/>
          </a:bodyPr>
          <a:lstStyle/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Introdução e Problema</a:t>
            </a: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Metodologia de Testes</a:t>
            </a:r>
            <a:endParaRPr lang="pt-B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  <a:p>
            <a:pPr marL="800100" lvl="1" indent="-342900" algn="l">
              <a:lnSpc>
                <a:spcPct val="100000"/>
              </a:lnSpc>
              <a:buAutoNum type="arabicPeriod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Análise do modelo EKF de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Falek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et al. 2020.</a:t>
            </a:r>
          </a:p>
          <a:p>
            <a:pPr marL="800100" lvl="1" indent="-342900" algn="l">
              <a:lnSpc>
                <a:spcPct val="100000"/>
              </a:lnSpc>
              <a:buAutoNum type="arabicPeriod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Análise do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Algorítmo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de Zhang et al. 2020.</a:t>
            </a:r>
          </a:p>
          <a:p>
            <a:pPr marL="800100" lvl="1" indent="-342900" algn="l">
              <a:lnSpc>
                <a:spcPct val="100000"/>
              </a:lnSpc>
              <a:buAutoNum type="arabicPeriod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Adaptação do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Algorítmo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para caso EKF</a:t>
            </a: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Conclusões</a:t>
            </a:r>
          </a:p>
          <a:p>
            <a:pPr marL="800100" lvl="1" indent="-342900" algn="l">
              <a:lnSpc>
                <a:spcPct val="100000"/>
              </a:lnSpc>
              <a:buAutoNum type="arabicPeriod"/>
            </a:pPr>
            <a:endParaRPr lang="pt-BR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649A176D-48AC-0BE4-8D78-2B7EB3A40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79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9E346-2BA3-9278-B81B-F259CB35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4691F2D-5E67-27D7-11BB-FC65E9B04AB9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3026BC8-0626-F3D1-5DB0-6F3B24233303}"/>
              </a:ext>
            </a:extLst>
          </p:cNvPr>
          <p:cNvSpPr txBox="1"/>
          <p:nvPr/>
        </p:nvSpPr>
        <p:spPr>
          <a:xfrm>
            <a:off x="1223682" y="887884"/>
            <a:ext cx="6533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REFERÊNCIAS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84971F-2561-58D6-13E5-04ED208A1610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8AE08B-1571-01EC-2798-854321F7C781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18" name="Picture 2" descr="Logomarcas">
            <a:extLst>
              <a:ext uri="{FF2B5EF4-FFF2-40B4-BE49-F238E27FC236}">
                <a16:creationId xmlns:a16="http://schemas.microsoft.com/office/drawing/2014/main" id="{441594AE-DE8A-30E5-CAFD-91C707AD1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41121F0-8E2F-3E23-0FF8-95C109221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03" y="1820487"/>
            <a:ext cx="4448493" cy="19009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2C7D740-635F-8A9A-D2BE-96AA6E1DA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438" y="2804043"/>
            <a:ext cx="4243053" cy="8798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C96B323-845B-F3FF-00C6-BB175CDC3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438" y="1820487"/>
            <a:ext cx="4650659" cy="725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C15C203-1486-CA90-1AD7-EBEA2685E0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2109" y="4152170"/>
            <a:ext cx="5920129" cy="17727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045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B0617-AF7B-0800-05D4-03EB748F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0C9D68E9-1F78-9980-04F7-A857298250D9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3CD8DC5-E5CC-B564-C5A7-663ACA398624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DEE7B1-07D9-21AC-FBFF-D68ADF7D20A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7059172A-94B7-B514-2B48-BAA916192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E2716FCA-C7F1-EE5B-3530-21F8E976CBE7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2" name="Imagem 41">
            <a:extLst>
              <a:ext uri="{FF2B5EF4-FFF2-40B4-BE49-F238E27FC236}">
                <a16:creationId xmlns:a16="http://schemas.microsoft.com/office/drawing/2014/main" id="{762FEAEC-451F-1C29-2193-55920BE71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83" y="2050161"/>
            <a:ext cx="4557686" cy="710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2945A48A-127B-22D4-A237-1EDD9C1DE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813" y="3167569"/>
            <a:ext cx="3751919" cy="1871503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0F1F17B2-7C44-9BF6-0F3D-C0D8C1204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633" y="1960501"/>
            <a:ext cx="4457554" cy="3774749"/>
          </a:xfrm>
          <a:prstGeom prst="rect">
            <a:avLst/>
          </a:prstGeom>
        </p:spPr>
      </p:pic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528CCB44-E821-B089-8CA2-1FF899CF7335}"/>
              </a:ext>
            </a:extLst>
          </p:cNvPr>
          <p:cNvCxnSpPr/>
          <p:nvPr/>
        </p:nvCxnSpPr>
        <p:spPr>
          <a:xfrm>
            <a:off x="6125496" y="1796309"/>
            <a:ext cx="0" cy="418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74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D1865-50A1-BB5D-D2A7-B8790AA9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9B9387DA-E0B5-42D7-7551-D6D15EFD86C8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18D7960-DBBB-2F40-5F80-BBD13CBB96BF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3CACCD-08CD-378B-116C-B0890B31B4A4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0662133E-3E69-FB40-300D-5C8430DCD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C6A06E3E-42AC-8DAF-6BA4-9F1D382A93CE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1" name="Imagem 40">
            <a:extLst>
              <a:ext uri="{FF2B5EF4-FFF2-40B4-BE49-F238E27FC236}">
                <a16:creationId xmlns:a16="http://schemas.microsoft.com/office/drawing/2014/main" id="{E0E6B4E3-84C9-1BE5-E31B-880E37535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633" y="1960501"/>
            <a:ext cx="4457554" cy="3774749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9A509F60-0A8F-99E4-F79E-A92975C76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683" y="2050161"/>
            <a:ext cx="4557686" cy="710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3B917BF4-EBF6-FD49-55C8-D25ACE9AD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813" y="3167569"/>
            <a:ext cx="3751919" cy="187150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FAA0990-BE72-399C-4A56-72E8737F31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110" y="3161158"/>
            <a:ext cx="3815323" cy="1871497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289B566-6C0C-252F-B135-77F82D736A6C}"/>
              </a:ext>
            </a:extLst>
          </p:cNvPr>
          <p:cNvCxnSpPr/>
          <p:nvPr/>
        </p:nvCxnSpPr>
        <p:spPr>
          <a:xfrm>
            <a:off x="6125496" y="1796309"/>
            <a:ext cx="0" cy="418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530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442A1-AF2A-E63D-AD95-C703F5FB2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A66333FA-E8B2-1B4E-71DA-964C1F267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054" y="2875520"/>
            <a:ext cx="2314184" cy="826494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0D6A5AE-8530-F1D8-F998-ECD028B3EA34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0D71A6C-D200-ECBD-BAA5-927AA3A8E114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1C008AB-E0F3-5336-E6FE-B1832A450914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7F7188-7D35-8030-D488-AD7C591849B8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EBCF9610-1D70-AE8F-6234-9CBCDADDF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475D879-F50C-F4FD-12E6-7D98FB6F3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801" y="1406477"/>
            <a:ext cx="5639078" cy="2831987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CB48232-DE78-C66D-5ECB-4C20C72AABE4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3" name="Imagem 12">
            <a:extLst>
              <a:ext uri="{FF2B5EF4-FFF2-40B4-BE49-F238E27FC236}">
                <a16:creationId xmlns:a16="http://schemas.microsoft.com/office/drawing/2014/main" id="{0301A062-C9BD-3D9C-4474-96E1F84B7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750" y="4888106"/>
            <a:ext cx="2418736" cy="831440"/>
          </a:xfrm>
          <a:prstGeom prst="rect">
            <a:avLst/>
          </a:prstGeom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7A96758A-B557-656B-2288-E0102DCF94B1}"/>
              </a:ext>
            </a:extLst>
          </p:cNvPr>
          <p:cNvCxnSpPr>
            <a:cxnSpLocks/>
          </p:cNvCxnSpPr>
          <p:nvPr/>
        </p:nvCxnSpPr>
        <p:spPr>
          <a:xfrm flipH="1">
            <a:off x="4061741" y="2850249"/>
            <a:ext cx="303151" cy="143978"/>
          </a:xfrm>
          <a:prstGeom prst="straightConnector1">
            <a:avLst/>
          </a:prstGeom>
          <a:ln>
            <a:solidFill>
              <a:srgbClr val="CD19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300A45C6-5E5B-6049-82F3-DF177DD31044}"/>
              </a:ext>
            </a:extLst>
          </p:cNvPr>
          <p:cNvCxnSpPr>
            <a:cxnSpLocks/>
          </p:cNvCxnSpPr>
          <p:nvPr/>
        </p:nvCxnSpPr>
        <p:spPr>
          <a:xfrm flipH="1" flipV="1">
            <a:off x="4034190" y="3604681"/>
            <a:ext cx="303151" cy="137617"/>
          </a:xfrm>
          <a:prstGeom prst="straightConnector1">
            <a:avLst/>
          </a:prstGeom>
          <a:ln>
            <a:solidFill>
              <a:srgbClr val="CD19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D47EA16-A397-6391-1B78-4EB9035B525C}"/>
              </a:ext>
            </a:extLst>
          </p:cNvPr>
          <p:cNvSpPr txBox="1"/>
          <p:nvPr/>
        </p:nvSpPr>
        <p:spPr>
          <a:xfrm>
            <a:off x="4355602" y="2544948"/>
            <a:ext cx="22614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Ruído do Modelo</a:t>
            </a:r>
            <a:endParaRPr lang="pt-BR" sz="1400" b="1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6991A62-59BA-533A-0758-213A6879B533}"/>
              </a:ext>
            </a:extLst>
          </p:cNvPr>
          <p:cNvSpPr txBox="1"/>
          <p:nvPr/>
        </p:nvSpPr>
        <p:spPr>
          <a:xfrm>
            <a:off x="4257267" y="3767635"/>
            <a:ext cx="22614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Ruído da Medição</a:t>
            </a:r>
            <a:endParaRPr lang="pt-BR" sz="1400" b="1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22E4FFB-8011-3455-CF7F-E876BEB891BE}"/>
              </a:ext>
            </a:extLst>
          </p:cNvPr>
          <p:cNvSpPr txBox="1"/>
          <p:nvPr/>
        </p:nvSpPr>
        <p:spPr>
          <a:xfrm>
            <a:off x="1140574" y="2084855"/>
            <a:ext cx="47686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 – Modelar os Sistemas (Espaço de Estados)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ACE86CF-E675-E540-0817-4EAC90C811F1}"/>
              </a:ext>
            </a:extLst>
          </p:cNvPr>
          <p:cNvSpPr txBox="1"/>
          <p:nvPr/>
        </p:nvSpPr>
        <p:spPr>
          <a:xfrm>
            <a:off x="2146257" y="2510045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Não-Linear</a:t>
            </a:r>
            <a:endParaRPr lang="pt-BR" sz="1400" b="1" u="sng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D3AF758-7114-25EC-A7C7-11BE8804EEEB}"/>
              </a:ext>
            </a:extLst>
          </p:cNvPr>
          <p:cNvSpPr txBox="1"/>
          <p:nvPr/>
        </p:nvSpPr>
        <p:spPr>
          <a:xfrm>
            <a:off x="1410417" y="4538562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Linear</a:t>
            </a:r>
            <a:endParaRPr lang="pt-BR" sz="1400" b="1" u="sng" dirty="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01F93947-13BB-B0F6-CAC8-14A8CC18BDB1}"/>
              </a:ext>
            </a:extLst>
          </p:cNvPr>
          <p:cNvGrpSpPr/>
          <p:nvPr/>
        </p:nvGrpSpPr>
        <p:grpSpPr>
          <a:xfrm>
            <a:off x="3752719" y="5087367"/>
            <a:ext cx="1779639" cy="667073"/>
            <a:chOff x="1533832" y="5466425"/>
            <a:chExt cx="1779639" cy="667073"/>
          </a:xfrm>
        </p:grpSpPr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69E72CF3-5144-2DAF-F18B-423634BA7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13119" y="5466425"/>
              <a:ext cx="1469317" cy="313957"/>
            </a:xfrm>
            <a:prstGeom prst="rect">
              <a:avLst/>
            </a:prstGeom>
          </p:spPr>
        </p:pic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6289991B-9E6D-778B-8743-F947C2DF7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21588" y="5824031"/>
              <a:ext cx="1460848" cy="292169"/>
            </a:xfrm>
            <a:prstGeom prst="rect">
              <a:avLst/>
            </a:prstGeom>
          </p:spPr>
        </p:pic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7ACAEFF3-60A8-D9E9-9D98-3142FE895047}"/>
                </a:ext>
              </a:extLst>
            </p:cNvPr>
            <p:cNvSpPr/>
            <p:nvPr/>
          </p:nvSpPr>
          <p:spPr>
            <a:xfrm>
              <a:off x="1533832" y="5466425"/>
              <a:ext cx="1779639" cy="667073"/>
            </a:xfrm>
            <a:prstGeom prst="rect">
              <a:avLst/>
            </a:prstGeom>
            <a:noFill/>
            <a:ln>
              <a:solidFill>
                <a:srgbClr val="CD19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420A405-4E32-5838-8463-0AFD24FAB1D6}"/>
              </a:ext>
            </a:extLst>
          </p:cNvPr>
          <p:cNvSpPr txBox="1"/>
          <p:nvPr/>
        </p:nvSpPr>
        <p:spPr>
          <a:xfrm>
            <a:off x="3713353" y="4603877"/>
            <a:ext cx="1971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Ruídos Gaussianos</a:t>
            </a:r>
            <a:endParaRPr lang="pt-BR" sz="1400" b="1" u="sng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FC1BEA1D-6D2B-9380-67A6-44E53C769505}"/>
              </a:ext>
            </a:extLst>
          </p:cNvPr>
          <p:cNvGrpSpPr/>
          <p:nvPr/>
        </p:nvGrpSpPr>
        <p:grpSpPr>
          <a:xfrm>
            <a:off x="7750592" y="4617520"/>
            <a:ext cx="2822775" cy="1667817"/>
            <a:chOff x="7840941" y="4582885"/>
            <a:chExt cx="2822775" cy="1667817"/>
          </a:xfrm>
        </p:grpSpPr>
        <p:pic>
          <p:nvPicPr>
            <p:cNvPr id="28" name="Imagem 27">
              <a:extLst>
                <a:ext uri="{FF2B5EF4-FFF2-40B4-BE49-F238E27FC236}">
                  <a16:creationId xmlns:a16="http://schemas.microsoft.com/office/drawing/2014/main" id="{5C56463A-D35D-6658-B3F9-1B6B0CD5D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90549" y="5222838"/>
              <a:ext cx="2573167" cy="1021629"/>
            </a:xfrm>
            <a:prstGeom prst="rect">
              <a:avLst/>
            </a:prstGeom>
          </p:spPr>
        </p:pic>
        <p:pic>
          <p:nvPicPr>
            <p:cNvPr id="29" name="Imagem 28">
              <a:extLst>
                <a:ext uri="{FF2B5EF4-FFF2-40B4-BE49-F238E27FC236}">
                  <a16:creationId xmlns:a16="http://schemas.microsoft.com/office/drawing/2014/main" id="{9068E936-BB87-E744-50BA-5676E687A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3962" y="4599268"/>
              <a:ext cx="2506343" cy="707053"/>
            </a:xfrm>
            <a:prstGeom prst="rect">
              <a:avLst/>
            </a:prstGeom>
          </p:spPr>
        </p:pic>
        <p:sp>
          <p:nvSpPr>
            <p:cNvPr id="30" name="Chave Esquerda 29">
              <a:extLst>
                <a:ext uri="{FF2B5EF4-FFF2-40B4-BE49-F238E27FC236}">
                  <a16:creationId xmlns:a16="http://schemas.microsoft.com/office/drawing/2014/main" id="{40DAAD4A-D40B-4FA4-F9C3-55C2A426EF18}"/>
                </a:ext>
              </a:extLst>
            </p:cNvPr>
            <p:cNvSpPr/>
            <p:nvPr/>
          </p:nvSpPr>
          <p:spPr>
            <a:xfrm>
              <a:off x="7840941" y="4582885"/>
              <a:ext cx="380643" cy="1667817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4BD784E7-CD30-9FDF-2A4D-4BB36C05081A}"/>
              </a:ext>
            </a:extLst>
          </p:cNvPr>
          <p:cNvCxnSpPr/>
          <p:nvPr/>
        </p:nvCxnSpPr>
        <p:spPr>
          <a:xfrm>
            <a:off x="5997676" y="1595770"/>
            <a:ext cx="0" cy="46486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C70DF9E-8A8C-8A1B-6B31-297D4DB1A57F}"/>
              </a:ext>
            </a:extLst>
          </p:cNvPr>
          <p:cNvSpPr txBox="1"/>
          <p:nvPr/>
        </p:nvSpPr>
        <p:spPr>
          <a:xfrm>
            <a:off x="6403278" y="5000814"/>
            <a:ext cx="16309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Equações do Processo iterativo</a:t>
            </a:r>
            <a:endParaRPr lang="pt-BR" sz="1400" b="1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7FE5442-983E-34C5-A3D5-2DA6DBED66D3}"/>
              </a:ext>
            </a:extLst>
          </p:cNvPr>
          <p:cNvSpPr txBox="1"/>
          <p:nvPr/>
        </p:nvSpPr>
        <p:spPr>
          <a:xfrm>
            <a:off x="6181505" y="1681778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Diagrama</a:t>
            </a:r>
            <a:endParaRPr lang="pt-BR" sz="1400" b="1" u="sng" dirty="0"/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6DFA33DF-AD63-5C4D-5823-63A6F0350C45}"/>
              </a:ext>
            </a:extLst>
          </p:cNvPr>
          <p:cNvGrpSpPr/>
          <p:nvPr/>
        </p:nvGrpSpPr>
        <p:grpSpPr>
          <a:xfrm>
            <a:off x="10989067" y="4792978"/>
            <a:ext cx="988513" cy="1253410"/>
            <a:chOff x="10989067" y="4792978"/>
            <a:chExt cx="988513" cy="1253410"/>
          </a:xfrm>
        </p:grpSpPr>
        <p:pic>
          <p:nvPicPr>
            <p:cNvPr id="35" name="Imagem 34">
              <a:extLst>
                <a:ext uri="{FF2B5EF4-FFF2-40B4-BE49-F238E27FC236}">
                  <a16:creationId xmlns:a16="http://schemas.microsoft.com/office/drawing/2014/main" id="{01FAE196-DF24-52F5-17F3-19CEAED3F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89067" y="4792978"/>
              <a:ext cx="988513" cy="602923"/>
            </a:xfrm>
            <a:prstGeom prst="rect">
              <a:avLst/>
            </a:prstGeom>
          </p:spPr>
        </p:pic>
        <p:pic>
          <p:nvPicPr>
            <p:cNvPr id="36" name="Imagem 35">
              <a:extLst>
                <a:ext uri="{FF2B5EF4-FFF2-40B4-BE49-F238E27FC236}">
                  <a16:creationId xmlns:a16="http://schemas.microsoft.com/office/drawing/2014/main" id="{629B44C1-C851-9F46-F929-E2BCE9432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989067" y="5596626"/>
              <a:ext cx="234183" cy="285703"/>
            </a:xfrm>
            <a:prstGeom prst="rect">
              <a:avLst/>
            </a:prstGeom>
          </p:spPr>
        </p:pic>
        <p:pic>
          <p:nvPicPr>
            <p:cNvPr id="37" name="Imagem 36">
              <a:extLst>
                <a:ext uri="{FF2B5EF4-FFF2-40B4-BE49-F238E27FC236}">
                  <a16:creationId xmlns:a16="http://schemas.microsoft.com/office/drawing/2014/main" id="{7919E236-4A4E-D45B-1698-EF4F1BABA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464818" y="5546424"/>
              <a:ext cx="512762" cy="491689"/>
            </a:xfrm>
            <a:prstGeom prst="rect">
              <a:avLst/>
            </a:prstGeom>
          </p:spPr>
        </p:pic>
        <p:pic>
          <p:nvPicPr>
            <p:cNvPr id="38" name="Imagem 37">
              <a:extLst>
                <a:ext uri="{FF2B5EF4-FFF2-40B4-BE49-F238E27FC236}">
                  <a16:creationId xmlns:a16="http://schemas.microsoft.com/office/drawing/2014/main" id="{A393BF9B-5355-6254-4534-235136963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23536" r="58478"/>
            <a:stretch>
              <a:fillRect/>
            </a:stretch>
          </p:blipFill>
          <p:spPr>
            <a:xfrm>
              <a:off x="11255134" y="5443465"/>
              <a:ext cx="177800" cy="6029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4679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CC51A-2538-6A68-27BF-4E120679A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7B01548D-831B-970A-6FC0-12050416D2E8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8267FD-066A-4576-F6A6-CBC4413674E3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1517AC-BE03-1403-FE69-31110DC236A3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308FD759-8EE0-2F86-54A1-C2F4A1522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04B40ADF-13F8-7C49-2268-AA09EE3F680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2" name="Imagem 41">
            <a:extLst>
              <a:ext uri="{FF2B5EF4-FFF2-40B4-BE49-F238E27FC236}">
                <a16:creationId xmlns:a16="http://schemas.microsoft.com/office/drawing/2014/main" id="{FF2360AC-EC7B-1001-55CA-DD8F84B59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83" y="2050161"/>
            <a:ext cx="4557686" cy="710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Imagem 43">
            <a:extLst>
              <a:ext uri="{FF2B5EF4-FFF2-40B4-BE49-F238E27FC236}">
                <a16:creationId xmlns:a16="http://schemas.microsoft.com/office/drawing/2014/main" id="{C4531615-E0DB-9750-2096-30C1D4D48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629" y="3838651"/>
            <a:ext cx="2809840" cy="431024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4E212C8C-1A92-06CF-1536-3DE34C368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0010" y="4184482"/>
            <a:ext cx="3272118" cy="119725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4954C04-C1AC-1D08-3019-369CB7936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929" y="5057057"/>
            <a:ext cx="2669885" cy="46638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EDB7CD-0E83-380C-954C-810619F75E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2611" y="3766504"/>
            <a:ext cx="1928532" cy="40011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B8454DC-CCC4-6350-DD85-044A1ACCA6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425" y="2721343"/>
            <a:ext cx="2676899" cy="99073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88D0037-65B1-BA2F-F697-77549CB770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9572" y="2773795"/>
            <a:ext cx="2122493" cy="885833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FE7ADBCD-02C5-3216-07A7-2DB2B379A64E}"/>
              </a:ext>
            </a:extLst>
          </p:cNvPr>
          <p:cNvSpPr txBox="1"/>
          <p:nvPr/>
        </p:nvSpPr>
        <p:spPr>
          <a:xfrm>
            <a:off x="1126738" y="3385307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não-linear</a:t>
            </a:r>
            <a:endParaRPr lang="pt-BR" sz="1400" b="1" u="sng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C56A2B1-7C2A-B79F-A921-65D0255EF00C}"/>
              </a:ext>
            </a:extLst>
          </p:cNvPr>
          <p:cNvSpPr txBox="1"/>
          <p:nvPr/>
        </p:nvSpPr>
        <p:spPr>
          <a:xfrm>
            <a:off x="6494192" y="2164719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Jacobianas</a:t>
            </a:r>
            <a:endParaRPr lang="pt-BR" sz="1400" b="1" u="sng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EEAA42E-3F12-717C-5A9B-96E13B9F9E74}"/>
              </a:ext>
            </a:extLst>
          </p:cNvPr>
          <p:cNvSpPr txBox="1"/>
          <p:nvPr/>
        </p:nvSpPr>
        <p:spPr>
          <a:xfrm>
            <a:off x="6398218" y="4623320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Modelos de Estado</a:t>
            </a:r>
            <a:endParaRPr lang="pt-BR" sz="1400" b="1" u="sng" dirty="0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4C2D8D2B-9945-B70B-67DB-3E2951432A70}"/>
              </a:ext>
            </a:extLst>
          </p:cNvPr>
          <p:cNvGrpSpPr/>
          <p:nvPr/>
        </p:nvGrpSpPr>
        <p:grpSpPr>
          <a:xfrm>
            <a:off x="6960929" y="5677732"/>
            <a:ext cx="2074751" cy="466384"/>
            <a:chOff x="6862605" y="5634194"/>
            <a:chExt cx="2074751" cy="466384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6D97257A-4A98-7E6F-7CD1-6B4B93C58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32606"/>
            <a:stretch>
              <a:fillRect/>
            </a:stretch>
          </p:blipFill>
          <p:spPr>
            <a:xfrm>
              <a:off x="6862605" y="5634194"/>
              <a:ext cx="1799331" cy="466384"/>
            </a:xfrm>
            <a:prstGeom prst="rect">
              <a:avLst/>
            </a:prstGeom>
          </p:spPr>
        </p:pic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A772F489-E588-566B-ACC8-C34CA161F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9684" t="14210"/>
            <a:stretch>
              <a:fillRect/>
            </a:stretch>
          </p:blipFill>
          <p:spPr>
            <a:xfrm>
              <a:off x="8661936" y="5700468"/>
              <a:ext cx="275420" cy="400110"/>
            </a:xfrm>
            <a:prstGeom prst="rect">
              <a:avLst/>
            </a:prstGeom>
          </p:spPr>
        </p:pic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B6855B9-370B-D4A6-A7E0-652DB0C74185}"/>
              </a:ext>
            </a:extLst>
          </p:cNvPr>
          <p:cNvSpPr txBox="1"/>
          <p:nvPr/>
        </p:nvSpPr>
        <p:spPr>
          <a:xfrm>
            <a:off x="6398217" y="5116869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PVA:</a:t>
            </a:r>
            <a:endParaRPr lang="pt-BR" sz="1400" b="1" u="sng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37B87AB-0EB0-5FD4-0AE2-F1CDB1A26D8F}"/>
              </a:ext>
            </a:extLst>
          </p:cNvPr>
          <p:cNvSpPr txBox="1"/>
          <p:nvPr/>
        </p:nvSpPr>
        <p:spPr>
          <a:xfrm>
            <a:off x="6398216" y="5749048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PV:</a:t>
            </a:r>
            <a:endParaRPr lang="pt-BR" sz="1400" b="1" u="sng" dirty="0"/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4EED2A8D-6660-5772-881F-234B57864A61}"/>
              </a:ext>
            </a:extLst>
          </p:cNvPr>
          <p:cNvCxnSpPr/>
          <p:nvPr/>
        </p:nvCxnSpPr>
        <p:spPr>
          <a:xfrm>
            <a:off x="6125496" y="1796309"/>
            <a:ext cx="0" cy="418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137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02E95-6CFE-082B-9266-28A82DEB4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605F16D0-B740-AE9A-A959-A847E3E90F4C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E6EFF8-BAE3-FA9B-C8E8-6698E221CE18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9C3D47-1BC8-0C18-E01B-580592BC03C7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A6030008-1731-3688-CE60-7597E26A1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1B12F1D2-5DC0-E25F-6ED9-2EA77EE1CE90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2" name="Imagem 41">
            <a:extLst>
              <a:ext uri="{FF2B5EF4-FFF2-40B4-BE49-F238E27FC236}">
                <a16:creationId xmlns:a16="http://schemas.microsoft.com/office/drawing/2014/main" id="{B4B78692-5540-BC64-5758-EEE77992D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83" y="2050161"/>
            <a:ext cx="4557686" cy="710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0FBC4CE5-8C1E-1343-BAB9-810D91AF3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380" y="3589086"/>
            <a:ext cx="3272118" cy="119725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B57A623-AAA3-4AC7-DDE8-E0F745398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6395" y="5127140"/>
            <a:ext cx="2669885" cy="46638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901B445-582A-7042-E98A-605D14DE3A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729" y="3188976"/>
            <a:ext cx="1928532" cy="40011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BDDE596B-49FA-384D-34E6-5E2FB4088123}"/>
              </a:ext>
            </a:extLst>
          </p:cNvPr>
          <p:cNvSpPr txBox="1"/>
          <p:nvPr/>
        </p:nvSpPr>
        <p:spPr>
          <a:xfrm>
            <a:off x="1191109" y="2889357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não-linear</a:t>
            </a:r>
            <a:endParaRPr lang="pt-BR" sz="1400" b="1" u="sng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D8F91CD-AEE7-C798-2F1D-9B29EB0C6215}"/>
              </a:ext>
            </a:extLst>
          </p:cNvPr>
          <p:cNvSpPr txBox="1"/>
          <p:nvPr/>
        </p:nvSpPr>
        <p:spPr>
          <a:xfrm>
            <a:off x="1191108" y="4811507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Modelos de Estado</a:t>
            </a:r>
            <a:endParaRPr lang="pt-BR" sz="1400" b="1" u="sng" dirty="0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5978078-6823-293A-376C-440473B0AB9F}"/>
              </a:ext>
            </a:extLst>
          </p:cNvPr>
          <p:cNvGrpSpPr/>
          <p:nvPr/>
        </p:nvGrpSpPr>
        <p:grpSpPr>
          <a:xfrm>
            <a:off x="1786395" y="5713475"/>
            <a:ext cx="2074751" cy="466384"/>
            <a:chOff x="6862605" y="5634194"/>
            <a:chExt cx="2074751" cy="466384"/>
          </a:xfrm>
        </p:grpSpPr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336121F1-4E1E-97D9-3EC7-9247F4276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32606"/>
            <a:stretch>
              <a:fillRect/>
            </a:stretch>
          </p:blipFill>
          <p:spPr>
            <a:xfrm>
              <a:off x="6862605" y="5634194"/>
              <a:ext cx="1799331" cy="466384"/>
            </a:xfrm>
            <a:prstGeom prst="rect">
              <a:avLst/>
            </a:prstGeom>
          </p:spPr>
        </p:pic>
        <p:pic>
          <p:nvPicPr>
            <p:cNvPr id="20" name="Imagem 19">
              <a:extLst>
                <a:ext uri="{FF2B5EF4-FFF2-40B4-BE49-F238E27FC236}">
                  <a16:creationId xmlns:a16="http://schemas.microsoft.com/office/drawing/2014/main" id="{EB22731E-5067-E6ED-C70F-741BCCBED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9684" t="14210"/>
            <a:stretch>
              <a:fillRect/>
            </a:stretch>
          </p:blipFill>
          <p:spPr>
            <a:xfrm>
              <a:off x="8661936" y="5700468"/>
              <a:ext cx="275420" cy="400110"/>
            </a:xfrm>
            <a:prstGeom prst="rect">
              <a:avLst/>
            </a:prstGeom>
          </p:spPr>
        </p:pic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65F5910-930D-1C3F-90E3-E6DA03F8C893}"/>
              </a:ext>
            </a:extLst>
          </p:cNvPr>
          <p:cNvSpPr txBox="1"/>
          <p:nvPr/>
        </p:nvSpPr>
        <p:spPr>
          <a:xfrm>
            <a:off x="1223682" y="5247090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PVA:</a:t>
            </a:r>
            <a:endParaRPr lang="pt-BR" sz="1400" b="1" u="sng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6E7A5AF-9C80-664E-7F36-9B0287E32498}"/>
              </a:ext>
            </a:extLst>
          </p:cNvPr>
          <p:cNvSpPr txBox="1"/>
          <p:nvPr/>
        </p:nvSpPr>
        <p:spPr>
          <a:xfrm>
            <a:off x="1223682" y="5779749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PV:</a:t>
            </a:r>
            <a:endParaRPr lang="pt-BR" sz="1400" b="1" u="sng" dirty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F9459CA-D612-E7C4-43F0-84CF614ACA3E}"/>
              </a:ext>
            </a:extLst>
          </p:cNvPr>
          <p:cNvCxnSpPr/>
          <p:nvPr/>
        </p:nvCxnSpPr>
        <p:spPr>
          <a:xfrm>
            <a:off x="6125496" y="1796309"/>
            <a:ext cx="0" cy="418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5685FA19-68B0-5D41-0C79-C0461C2446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633" y="1960501"/>
            <a:ext cx="4457554" cy="377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33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3A266-9B52-9B21-8A3A-0A09F9062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5AF0DE71-99E4-7FEB-42AA-7F3C83BE2E24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85B90BB-8898-C17F-8955-04D7A1333D5F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F3674D-72DA-0F37-05B6-0EA05D64E099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B021B820-BA28-1985-079B-715A6C811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F677941D-00EF-B352-C620-346A600DA23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2" name="Imagem 41">
            <a:extLst>
              <a:ext uri="{FF2B5EF4-FFF2-40B4-BE49-F238E27FC236}">
                <a16:creationId xmlns:a16="http://schemas.microsoft.com/office/drawing/2014/main" id="{10405E65-8430-DC99-F270-92D9B5A89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83" y="2050161"/>
            <a:ext cx="4557686" cy="7109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792BDFA-99B4-9797-4318-57FF97A875ED}"/>
              </a:ext>
            </a:extLst>
          </p:cNvPr>
          <p:cNvCxnSpPr/>
          <p:nvPr/>
        </p:nvCxnSpPr>
        <p:spPr>
          <a:xfrm>
            <a:off x="6125496" y="1796309"/>
            <a:ext cx="0" cy="418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02618353-E53A-6C06-6E08-DCB7B5A33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472" y="1960502"/>
            <a:ext cx="4457554" cy="377474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F4D95C6-9F6C-174B-6460-40FF7B6BFE3B}"/>
              </a:ext>
            </a:extLst>
          </p:cNvPr>
          <p:cNvSpPr txBox="1"/>
          <p:nvPr/>
        </p:nvSpPr>
        <p:spPr>
          <a:xfrm>
            <a:off x="1361335" y="3483733"/>
            <a:ext cx="42823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COMO MENSURAR CORRETAMENTE AS PROPRIEDADES ESTATÍSTICAS DOS RUÍDOS (Q e R)?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626214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094A3-59DB-2CB2-7290-DD0C0A53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EB4029D3-A1F0-B286-0DC3-8D1B3A686E17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BA8A3C8-3764-FEC2-789E-649E333C41C9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E9DB8B-C93D-A47D-118D-39F5AB908563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4543FA47-BE50-6036-68FE-25EDB9A37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ABEBC40B-DC0F-E043-19C2-689D95C8FAA2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2B461FF0-A1BA-8842-6A2C-03DD12B9F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82" y="2007527"/>
            <a:ext cx="4017897" cy="1716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B19383A-225A-6964-2342-E90C07C55A1D}"/>
              </a:ext>
            </a:extLst>
          </p:cNvPr>
          <p:cNvSpPr txBox="1"/>
          <p:nvPr/>
        </p:nvSpPr>
        <p:spPr>
          <a:xfrm>
            <a:off x="6613137" y="2079015"/>
            <a:ext cx="46742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Condições Necessárias e Suficientes para a Identificabilidade de um Sistema;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Algoritmo de 6 passos para Identificação das Matrizes de Covariância desconhecidas;</a:t>
            </a:r>
            <a:endParaRPr lang="pt-BR" sz="1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0DD5D7B-87BF-DEB0-7B84-BCDD06B89E51}"/>
              </a:ext>
            </a:extLst>
          </p:cNvPr>
          <p:cNvSpPr txBox="1"/>
          <p:nvPr/>
        </p:nvSpPr>
        <p:spPr>
          <a:xfrm>
            <a:off x="6745871" y="4437473"/>
            <a:ext cx="44088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Apenas para 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Sistemas Lineares Invariantes no Tempo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com modelo dinâmico de Gauss-Markov;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4526CE8-3D54-BDF3-B3C5-522E3E30EB98}"/>
              </a:ext>
            </a:extLst>
          </p:cNvPr>
          <p:cNvSpPr txBox="1"/>
          <p:nvPr/>
        </p:nvSpPr>
        <p:spPr>
          <a:xfrm>
            <a:off x="6504025" y="1659235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1) INOVAÇÕES</a:t>
            </a:r>
            <a:endParaRPr lang="pt-BR" sz="1400" b="1" u="sng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5BCC860-318C-F719-51F7-F94F57292E60}"/>
              </a:ext>
            </a:extLst>
          </p:cNvPr>
          <p:cNvSpPr txBox="1"/>
          <p:nvPr/>
        </p:nvSpPr>
        <p:spPr>
          <a:xfrm>
            <a:off x="10028875" y="4047778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3) RESTRIÇÕES</a:t>
            </a:r>
            <a:endParaRPr lang="pt-BR" sz="1400" b="1" u="sng" dirty="0"/>
          </a:p>
        </p:txBody>
      </p:sp>
      <p:sp>
        <p:nvSpPr>
          <p:cNvPr id="14" name="Balão de Fala: Retângulo 13">
            <a:extLst>
              <a:ext uri="{FF2B5EF4-FFF2-40B4-BE49-F238E27FC236}">
                <a16:creationId xmlns:a16="http://schemas.microsoft.com/office/drawing/2014/main" id="{0C3A9AD5-B43F-3353-DF30-5B97B9DC1757}"/>
              </a:ext>
            </a:extLst>
          </p:cNvPr>
          <p:cNvSpPr/>
          <p:nvPr/>
        </p:nvSpPr>
        <p:spPr>
          <a:xfrm>
            <a:off x="6469626" y="2053105"/>
            <a:ext cx="4817806" cy="1236454"/>
          </a:xfrm>
          <a:prstGeom prst="wedgeRectCallout">
            <a:avLst>
              <a:gd name="adj1" fmla="val -71286"/>
              <a:gd name="adj2" fmla="val -947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Balão de Fala: Retângulo 14">
            <a:extLst>
              <a:ext uri="{FF2B5EF4-FFF2-40B4-BE49-F238E27FC236}">
                <a16:creationId xmlns:a16="http://schemas.microsoft.com/office/drawing/2014/main" id="{2898ABE2-91DC-4267-E791-59DE9CA2AE98}"/>
              </a:ext>
            </a:extLst>
          </p:cNvPr>
          <p:cNvSpPr/>
          <p:nvPr/>
        </p:nvSpPr>
        <p:spPr>
          <a:xfrm>
            <a:off x="6672130" y="4412059"/>
            <a:ext cx="4817806" cy="1333416"/>
          </a:xfrm>
          <a:prstGeom prst="wedgeRectCallout">
            <a:avLst>
              <a:gd name="adj1" fmla="val -72715"/>
              <a:gd name="adj2" fmla="val -10413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72D25491-CCFE-1B1B-F468-5BB347739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262" y="4972868"/>
            <a:ext cx="2265494" cy="686514"/>
          </a:xfrm>
          <a:prstGeom prst="rect">
            <a:avLst/>
          </a:prstGeom>
        </p:spPr>
      </p:pic>
      <p:sp>
        <p:nvSpPr>
          <p:cNvPr id="18" name="Balão de Fala: Retângulo 17">
            <a:extLst>
              <a:ext uri="{FF2B5EF4-FFF2-40B4-BE49-F238E27FC236}">
                <a16:creationId xmlns:a16="http://schemas.microsoft.com/office/drawing/2014/main" id="{D7B25053-E3EC-B517-4C75-E7FEFB494C28}"/>
              </a:ext>
            </a:extLst>
          </p:cNvPr>
          <p:cNvSpPr/>
          <p:nvPr/>
        </p:nvSpPr>
        <p:spPr>
          <a:xfrm>
            <a:off x="1037304" y="4764101"/>
            <a:ext cx="3701844" cy="1529953"/>
          </a:xfrm>
          <a:prstGeom prst="wedgeRectCallout">
            <a:avLst>
              <a:gd name="adj1" fmla="val 23253"/>
              <a:gd name="adj2" fmla="val -11025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95784C0-094B-17CB-1972-7CA18A2948F0}"/>
              </a:ext>
            </a:extLst>
          </p:cNvPr>
          <p:cNvSpPr txBox="1"/>
          <p:nvPr/>
        </p:nvSpPr>
        <p:spPr>
          <a:xfrm>
            <a:off x="1017640" y="4412059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2) ESTRATÉGIAS</a:t>
            </a:r>
            <a:endParaRPr lang="pt-BR" sz="1400" b="1" u="sng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CE93CD6-AD8E-E23E-671A-066640541086}"/>
              </a:ext>
            </a:extLst>
          </p:cNvPr>
          <p:cNvSpPr txBox="1"/>
          <p:nvPr/>
        </p:nvSpPr>
        <p:spPr>
          <a:xfrm>
            <a:off x="1217337" y="4930949"/>
            <a:ext cx="31992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Análise das covariâncias resíduos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imovações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e pós-processamento;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Função Objetiva Nova;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Estimação do Peso ótimo com gradiente descendente Adaptativo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989536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0C88-4D5C-F708-72CF-CCD440B1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C05F3629-F5AB-E1DF-77B9-D53C12A29B5E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DBBBE4-1546-2CF9-9E85-790F7F119937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638D5C-D036-8102-E7A2-9899FBF72AB4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CAD8E061-7F48-611C-334C-52A37F222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6320F7D3-FDF1-D48D-4D36-EB10B1FE75A9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458E07E6-E5D5-280E-26BB-684C07643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40" y="2878352"/>
            <a:ext cx="4017897" cy="1716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D66A700-4C20-FF53-CFE8-9DBBF8792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655" y="2196778"/>
            <a:ext cx="5556466" cy="308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35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A076E-D658-E241-0C3F-ACA1F878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334839C9-4F0C-56E4-2B6D-83CC0B5C335F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7943502-0414-92DC-539F-F353CF845EF8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B2DBDF-1918-845A-E2A3-8A529037EFB0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796954EA-02F7-5FAF-7E61-82C614D55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6DD5D3BD-2B04-295C-33CA-0D495F856391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EA12A704-D00D-C5E2-0179-C3FF8EB79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82" y="2007527"/>
            <a:ext cx="4017897" cy="1716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75E47D0-5A17-57B8-6837-2E3A87EE04A3}"/>
              </a:ext>
            </a:extLst>
          </p:cNvPr>
          <p:cNvSpPr txBox="1"/>
          <p:nvPr/>
        </p:nvSpPr>
        <p:spPr>
          <a:xfrm>
            <a:off x="1021687" y="4025918"/>
            <a:ext cx="4602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000000"/>
                </a:solidFill>
                <a:effectLst/>
                <a:latin typeface="NimbusRomNo9L-MediItal"/>
              </a:rPr>
              <a:t>Passo 1: Sequencia de ajuste e pôs-ajuste </a:t>
            </a:r>
            <a:r>
              <a:rPr lang="pt-BR" sz="1400" b="0" i="1" dirty="0">
                <a:solidFill>
                  <a:srgbClr val="000000"/>
                </a:solidFill>
                <a:effectLst/>
                <a:latin typeface="NimbusRomNo9L-ReguItal"/>
              </a:rPr>
              <a:t>:</a:t>
            </a:r>
            <a:r>
              <a:rPr lang="pt-BR" sz="1400" dirty="0"/>
              <a:t>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81E0A8A-A78D-A0B5-E94E-D8BA873E102A}"/>
              </a:ext>
            </a:extLst>
          </p:cNvPr>
          <p:cNvSpPr txBox="1"/>
          <p:nvPr/>
        </p:nvSpPr>
        <p:spPr>
          <a:xfrm>
            <a:off x="1021687" y="5370019"/>
            <a:ext cx="6154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000000"/>
                </a:solidFill>
                <a:effectLst/>
                <a:latin typeface="NimbusRomNo9L-MediItal"/>
              </a:rPr>
              <a:t>Passo 2: Cálculo das Covariâncias de Inovação e pós-ajuste</a:t>
            </a:r>
            <a:endParaRPr lang="pt-BR" sz="14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DE091A0-10B4-0E9A-92E9-D8B11E2F5FC9}"/>
              </a:ext>
            </a:extLst>
          </p:cNvPr>
          <p:cNvSpPr txBox="1"/>
          <p:nvPr/>
        </p:nvSpPr>
        <p:spPr>
          <a:xfrm>
            <a:off x="6124628" y="1904604"/>
            <a:ext cx="2645744" cy="319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000000"/>
                </a:solidFill>
                <a:effectLst/>
                <a:latin typeface="NimbusRomNo9L-MediItal"/>
              </a:rPr>
              <a:t>Passo 3: Estimação do Ganho W</a:t>
            </a:r>
            <a:endParaRPr lang="pt-BR" sz="140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7E918546-A87E-2304-A7F8-A82103AF8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4551" y="2499224"/>
            <a:ext cx="2301180" cy="597944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D948035C-3147-2D21-2A6D-AB610B5F2D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522" y="2533392"/>
            <a:ext cx="1799330" cy="560317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31B4C315-6355-46CB-1D39-8F28FF8502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038" y="4661788"/>
            <a:ext cx="2274007" cy="39940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55DDC20E-AE0E-57A8-4620-E52A5040E6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6586" y="5217904"/>
            <a:ext cx="2864543" cy="679834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0A523526-3547-A1C3-2CD9-A9AC2BFBDE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4087" y="4441065"/>
            <a:ext cx="2763185" cy="847275"/>
          </a:xfrm>
          <a:prstGeom prst="rect">
            <a:avLst/>
          </a:prstGeom>
        </p:spPr>
      </p:pic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38FF6B60-06FD-FB7D-068D-7D424F30BC84}"/>
              </a:ext>
            </a:extLst>
          </p:cNvPr>
          <p:cNvCxnSpPr/>
          <p:nvPr/>
        </p:nvCxnSpPr>
        <p:spPr>
          <a:xfrm>
            <a:off x="5928851" y="1831338"/>
            <a:ext cx="0" cy="418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Imagem 34">
            <a:extLst>
              <a:ext uri="{FF2B5EF4-FFF2-40B4-BE49-F238E27FC236}">
                <a16:creationId xmlns:a16="http://schemas.microsoft.com/office/drawing/2014/main" id="{B3976D81-92F9-6A59-CDE1-2346AFC691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5275" y="5701498"/>
            <a:ext cx="2219224" cy="572355"/>
          </a:xfrm>
          <a:prstGeom prst="rect">
            <a:avLst/>
          </a:prstGeom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71208591-6053-C93E-74B8-4E8F2DF7EF3C}"/>
              </a:ext>
            </a:extLst>
          </p:cNvPr>
          <p:cNvSpPr txBox="1"/>
          <p:nvPr/>
        </p:nvSpPr>
        <p:spPr>
          <a:xfrm>
            <a:off x="6124628" y="2200655"/>
            <a:ext cx="17993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Função Objetivo:</a:t>
            </a:r>
            <a:endParaRPr lang="pt-BR" sz="12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0CD9F80-D68B-06AE-941F-CA60691D7503}"/>
              </a:ext>
            </a:extLst>
          </p:cNvPr>
          <p:cNvSpPr txBox="1"/>
          <p:nvPr/>
        </p:nvSpPr>
        <p:spPr>
          <a:xfrm>
            <a:off x="6124627" y="4189779"/>
            <a:ext cx="40615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Gradiente Descendente de passo Adaptativo</a:t>
            </a:r>
            <a:endParaRPr lang="pt-BR" sz="1200" dirty="0"/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5D2C932F-8D1C-EA68-86D9-C2C70F1BA3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5522" y="3366507"/>
            <a:ext cx="4602362" cy="44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69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44AD-9D48-B6A7-6CEA-3EA0336AD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B2BB9C1C-18D2-FEF9-E723-55FCFD486633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6C77A69-BCE5-B1D4-DB74-7F10277F6044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6B0773-4443-298F-60E9-7E2D638E1A32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DDB9CE2F-1218-063D-02E7-7D7CF5F5B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67F42DC8-0215-4F26-0E22-9F60619F3E28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55A80891-0378-4387-85C5-54E2E874C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682" y="2007527"/>
            <a:ext cx="4017897" cy="1716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7DEF04B-BA95-957E-5E14-344BC49E1485}"/>
              </a:ext>
            </a:extLst>
          </p:cNvPr>
          <p:cNvSpPr txBox="1"/>
          <p:nvPr/>
        </p:nvSpPr>
        <p:spPr>
          <a:xfrm>
            <a:off x="1238864" y="4019692"/>
            <a:ext cx="4493336" cy="309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000000"/>
                </a:solidFill>
                <a:effectLst/>
                <a:latin typeface="NimbusRomNo9L-MediItal"/>
              </a:rPr>
              <a:t>Passo 4: Estimação de R</a:t>
            </a:r>
            <a:endParaRPr lang="pt-BR" sz="1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9224D7E-4099-AB6F-F5F6-273FCE02EE7D}"/>
              </a:ext>
            </a:extLst>
          </p:cNvPr>
          <p:cNvSpPr txBox="1"/>
          <p:nvPr/>
        </p:nvSpPr>
        <p:spPr>
          <a:xfrm>
            <a:off x="6243483" y="1831338"/>
            <a:ext cx="6154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000000"/>
                </a:solidFill>
                <a:effectLst/>
                <a:latin typeface="NimbusRomNo9L-MediItal"/>
              </a:rPr>
              <a:t>Passo 5: Estimação de Q e P:</a:t>
            </a:r>
            <a:endParaRPr lang="pt-BR" sz="14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B8547F7-34BC-C8A2-F8D4-E81433140334}"/>
              </a:ext>
            </a:extLst>
          </p:cNvPr>
          <p:cNvSpPr txBox="1"/>
          <p:nvPr/>
        </p:nvSpPr>
        <p:spPr>
          <a:xfrm>
            <a:off x="6209073" y="4190185"/>
            <a:ext cx="49652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000000"/>
                </a:solidFill>
                <a:effectLst/>
                <a:latin typeface="NimbusRomNo9L-MediItal"/>
              </a:rPr>
              <a:t>Passo 6: </a:t>
            </a:r>
            <a:r>
              <a:rPr lang="pt-BR" sz="1400" b="1" i="1" dirty="0">
                <a:solidFill>
                  <a:srgbClr val="000000"/>
                </a:solidFill>
                <a:latin typeface="NimbusRomNo9L-MediItal"/>
              </a:rPr>
              <a:t>Condições de Parada</a:t>
            </a:r>
            <a:endParaRPr lang="pt-BR" sz="1400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3B0BAAB-A9EE-C760-1BAA-DBDE726BD10F}"/>
              </a:ext>
            </a:extLst>
          </p:cNvPr>
          <p:cNvCxnSpPr/>
          <p:nvPr/>
        </p:nvCxnSpPr>
        <p:spPr>
          <a:xfrm>
            <a:off x="5928851" y="1831338"/>
            <a:ext cx="0" cy="418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FF3CC13B-ED47-6518-0B0B-77E37F223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999" y="4716468"/>
            <a:ext cx="1423486" cy="96797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127BA33-64A9-2059-B9AC-98FEBB026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8520" y="4547754"/>
            <a:ext cx="1989665" cy="1548139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DBC6EC90-D08F-F927-3F0B-E443C077C4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3599" y="4144078"/>
            <a:ext cx="1139509" cy="353884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07C7A6A3-25D7-F030-AA3B-937D55246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5933" y="2250680"/>
            <a:ext cx="1437798" cy="35046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406102A-122F-45E8-95EB-2BEC5C3CCC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1712" y="2638827"/>
            <a:ext cx="2764038" cy="292491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69D33BC4-B175-4C9E-13BD-008E643498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1712" y="3037850"/>
            <a:ext cx="2764038" cy="432095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6906EB97-09B9-1B93-9379-2A67D8CC71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5933" y="3595516"/>
            <a:ext cx="1258351" cy="273554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27139DBD-C408-D30A-6F93-B9FFB865DB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20330" y="4778376"/>
            <a:ext cx="1334715" cy="1191344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6D0D09D3-94EB-E5A4-4794-10424A5582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6124" y="5017869"/>
            <a:ext cx="1819952" cy="46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50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979BC-9FA3-F517-9D35-FFE07205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8CC78F7-7F7C-6681-EECF-CF0ECA3CF02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6C35E2-BEFB-35A6-EAC4-799648683099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65903CF-5014-17A1-CE59-E9ECF066612A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88918B-97E6-8DC5-7B9B-D4A1F1C5FAF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1855178D-8F41-BC4E-2154-427F0EE51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1BD216D-0ED1-4DA0-5726-AC777DE6E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+mj-lt"/>
              </a:rPr>
              <a:t>OBJETIVO DO ESTUDO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42A09C-08A3-A8BB-F404-34D7F2731468}"/>
              </a:ext>
            </a:extLst>
          </p:cNvPr>
          <p:cNvSpPr txBox="1"/>
          <p:nvPr/>
        </p:nvSpPr>
        <p:spPr>
          <a:xfrm>
            <a:off x="1223682" y="2368620"/>
            <a:ext cx="97097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Estudar dos Artigos de Zhang et al. (2020) e </a:t>
            </a:r>
            <a:r>
              <a:rPr lang="pt-BR" dirty="0" err="1"/>
              <a:t>Falek</a:t>
            </a:r>
            <a:r>
              <a:rPr lang="pt-BR" dirty="0"/>
              <a:t> (2020);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Desenvolver os Algoritmos em Python;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Pensar numa </a:t>
            </a:r>
            <a:r>
              <a:rPr lang="pt-BR" b="1" dirty="0"/>
              <a:t>Adaptação para o Algoritmo </a:t>
            </a:r>
            <a:r>
              <a:rPr lang="pt-BR" dirty="0"/>
              <a:t>de Identificação das covariâncias desconhecidas para um Caso EKF;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Aplicar esse algoritmo Adaptado na situação descrita por </a:t>
            </a:r>
            <a:r>
              <a:rPr lang="pt-BR" dirty="0" err="1"/>
              <a:t>Falek</a:t>
            </a:r>
            <a:r>
              <a:rPr lang="pt-BR" dirty="0"/>
              <a:t> e analisar os resultados;</a:t>
            </a:r>
          </a:p>
        </p:txBody>
      </p:sp>
    </p:spTree>
    <p:extLst>
      <p:ext uri="{BB962C8B-B14F-4D97-AF65-F5344CB8AC3E}">
        <p14:creationId xmlns:p14="http://schemas.microsoft.com/office/powerpoint/2010/main" val="2018847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8E7AB-D414-2281-20AE-318EA250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556347D-802B-366C-4C46-E048836E03ED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830AAA1-154E-453E-DAE4-28EBC534E219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E5F29D3-1A87-273F-45B4-B3A587CE7261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2AE2B7-5A0C-5380-112C-2A7C8510503F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4614D825-2BC6-797D-E9B0-FDAEEC360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246954F-3278-8769-6723-1057E85B0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+mj-lt"/>
              </a:rPr>
              <a:t>OBJETIVO DO ESTUDO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E5E5BEE-4A57-7D1A-69AA-322BE5767C9E}"/>
              </a:ext>
            </a:extLst>
          </p:cNvPr>
          <p:cNvSpPr txBox="1"/>
          <p:nvPr/>
        </p:nvSpPr>
        <p:spPr>
          <a:xfrm>
            <a:off x="1241104" y="2050161"/>
            <a:ext cx="970978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/>
              <a:t>Adaptação:</a:t>
            </a:r>
          </a:p>
          <a:p>
            <a:r>
              <a:rPr lang="pt-BR" sz="1400" b="1" dirty="0"/>
              <a:t>1) Aproximar o Gradiente por uma diferença Finita;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b="1" dirty="0"/>
          </a:p>
          <a:p>
            <a:r>
              <a:rPr lang="pt-BR" sz="1400" b="1" dirty="0"/>
              <a:t>2) Utilizar os valores Médios dos Jacobianos no Processo para simular um sistema Linear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3C6A41F-FC51-A148-20AA-78B2842B1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042" y="4966765"/>
            <a:ext cx="3784966" cy="77723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F88CBD8-0396-6FC0-506E-13DF723B6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136" y="2832222"/>
            <a:ext cx="4548347" cy="8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81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1691E-0DB6-977A-2812-20DE0C16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F4A77AE-98BF-6AB0-F12A-7C6E079269D6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A9710B-BF0B-3D4E-0E41-FD3374605F7E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45CE97E-8B3E-E644-5E83-3B543B6AAC28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5403EF-73DD-01FA-8741-3BC7A54BCE43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A7F4A596-59DD-FBD7-5691-0A6049AB1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8251D1FE-4E54-95BB-0133-C927E8DF6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664" y="1595770"/>
            <a:ext cx="6614320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Modelos Avaliados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altLang="pt-BR" sz="1400" dirty="0">
                <a:latin typeface="+mj-lt"/>
              </a:rPr>
              <a:t>Utilizou-se como Base o Modelo PVA (Position-</a:t>
            </a:r>
            <a:r>
              <a:rPr lang="pt-BR" altLang="pt-BR" sz="1400" dirty="0" err="1">
                <a:latin typeface="+mj-lt"/>
              </a:rPr>
              <a:t>Velocity</a:t>
            </a:r>
            <a:r>
              <a:rPr lang="pt-BR" altLang="pt-BR" sz="1400" dirty="0">
                <a:latin typeface="+mj-lt"/>
              </a:rPr>
              <a:t>-</a:t>
            </a:r>
            <a:r>
              <a:rPr lang="pt-BR" altLang="pt-BR" sz="1400" dirty="0" err="1">
                <a:latin typeface="+mj-lt"/>
              </a:rPr>
              <a:t>Aceleration</a:t>
            </a:r>
            <a:r>
              <a:rPr lang="pt-BR" altLang="pt-BR" sz="1400" dirty="0">
                <a:latin typeface="+mj-lt"/>
              </a:rPr>
              <a:t>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altLang="pt-BR" sz="1400" dirty="0">
                <a:latin typeface="+mj-lt"/>
              </a:rPr>
              <a:t>Avaliou um Filtro de Kalman Estendido em três trajetórias (Quadrada Circular e Curva)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pt-BR" altLang="pt-BR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i="1" u="sng" dirty="0">
                <a:latin typeface="+mj-lt"/>
              </a:rPr>
              <a:t>Avaliação do </a:t>
            </a:r>
            <a:r>
              <a:rPr lang="pt-BR" altLang="pt-BR" sz="1600" b="1" i="1" u="sng" dirty="0" err="1">
                <a:latin typeface="+mj-lt"/>
              </a:rPr>
              <a:t>Algorítmo</a:t>
            </a:r>
            <a:r>
              <a:rPr lang="pt-BR" altLang="pt-BR" sz="1600" b="1" i="1" u="sng" dirty="0">
                <a:latin typeface="+mj-lt"/>
              </a:rPr>
              <a:t> de Zhang</a:t>
            </a:r>
            <a:endParaRPr kumimoji="0" lang="pt-BR" altLang="pt-BR" sz="16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Avaliar 3 testes diferentes e considerar o NIS (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Normalized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Inovation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Squared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para cada caso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229A879-8A90-8C49-76F2-D05351DFC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373" y="4297254"/>
            <a:ext cx="6614320" cy="196825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52C00AF-F3C7-4197-D67E-285B66DD1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943" y="1789766"/>
            <a:ext cx="2673067" cy="140687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CC2CF28-6D70-5803-B2C2-CA6172332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943" y="3461580"/>
            <a:ext cx="2673067" cy="2611553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C612549-CA6C-B760-6CC4-9A4D87336EA3}"/>
              </a:ext>
            </a:extLst>
          </p:cNvPr>
          <p:cNvCxnSpPr/>
          <p:nvPr/>
        </p:nvCxnSpPr>
        <p:spPr>
          <a:xfrm>
            <a:off x="8141109" y="1830043"/>
            <a:ext cx="0" cy="418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1238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6721A-0D01-298F-BC6A-42647E528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F544BEF-D59A-FC55-2303-052332CD8B79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120CA1F-339F-B4ED-10C8-CDB669A523CF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9FD5569-6183-3123-CE95-6A585052C75E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018C21-59F7-416D-8B23-DEFE2669B8F8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EFB57AF9-D3E9-4D18-E967-57628E198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75F81C97-6CFD-5D75-BB3F-ED1C0F39B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664" y="1595770"/>
            <a:ext cx="6614320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Modelos Avaliados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altLang="pt-BR" sz="1400" dirty="0">
                <a:latin typeface="+mj-lt"/>
              </a:rPr>
              <a:t>Utilizou-se como Base o Modelo PVA (Position-</a:t>
            </a:r>
            <a:r>
              <a:rPr lang="pt-BR" altLang="pt-BR" sz="1400" dirty="0" err="1">
                <a:latin typeface="+mj-lt"/>
              </a:rPr>
              <a:t>Velocity</a:t>
            </a:r>
            <a:r>
              <a:rPr lang="pt-BR" altLang="pt-BR" sz="1400" dirty="0">
                <a:latin typeface="+mj-lt"/>
              </a:rPr>
              <a:t>-</a:t>
            </a:r>
            <a:r>
              <a:rPr lang="pt-BR" altLang="pt-BR" sz="1400" dirty="0" err="1">
                <a:latin typeface="+mj-lt"/>
              </a:rPr>
              <a:t>Aceleration</a:t>
            </a:r>
            <a:r>
              <a:rPr lang="pt-BR" altLang="pt-BR" sz="1400" dirty="0">
                <a:latin typeface="+mj-lt"/>
              </a:rPr>
              <a:t>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altLang="pt-BR" sz="1400" dirty="0">
                <a:latin typeface="+mj-lt"/>
              </a:rPr>
              <a:t>Avaliou um Filtro de Kalman Estendido em três trajetórias (Quadrada Circular e Curva)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pt-BR" altLang="pt-BR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i="1" u="sng" dirty="0">
                <a:latin typeface="+mj-lt"/>
              </a:rPr>
              <a:t>Avaliação do </a:t>
            </a:r>
            <a:r>
              <a:rPr lang="pt-BR" altLang="pt-BR" sz="1600" b="1" i="1" u="sng" dirty="0" err="1">
                <a:latin typeface="+mj-lt"/>
              </a:rPr>
              <a:t>Algorítmo</a:t>
            </a:r>
            <a:r>
              <a:rPr lang="pt-BR" altLang="pt-BR" sz="1600" b="1" i="1" u="sng" dirty="0">
                <a:latin typeface="+mj-lt"/>
              </a:rPr>
              <a:t> de Zhang</a:t>
            </a:r>
            <a:endParaRPr kumimoji="0" lang="pt-BR" altLang="pt-BR" sz="16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Avaliar 3 testes diferentes e considerar o NIS (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Normalized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Inovation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Squared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para cada caso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853B948-8859-3228-60B1-389562A26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947" y="4650325"/>
            <a:ext cx="1742839" cy="37752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C20E8A3-56C8-737E-FDC3-DB8AF721B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606" y="5282716"/>
            <a:ext cx="1475724" cy="46601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33349C2-AE66-F2D1-9071-D4945374F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747" y="4298012"/>
            <a:ext cx="3925770" cy="178083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ED05B58F-71FC-57DA-9E85-B16EC6CAB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984" y="4344409"/>
            <a:ext cx="3378835" cy="126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38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9B29-8EF8-0BAD-2EE3-9C28B556E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245FF213-52B0-6983-5CB6-9CDEA5F31A05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16EBB46-E3A6-00AE-AEBF-AC220D1939CF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9059033-ADD1-FF09-5DEF-B734AB39D5C7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5950D5-80BA-3D00-4776-7F84534F859B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2725310E-63D1-94E8-8A60-257CFEBE9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25C7FAF3-1D07-1C04-24EC-4603CB77C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796667"/>
            <a:ext cx="7074744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600" b="1" i="1" u="sng" dirty="0">
                <a:latin typeface="+mj-lt"/>
              </a:rPr>
              <a:t>Avaliação do </a:t>
            </a:r>
            <a:r>
              <a:rPr lang="pt-BR" altLang="pt-BR" sz="1600" b="1" i="1" u="sng" dirty="0" err="1">
                <a:latin typeface="+mj-lt"/>
              </a:rPr>
              <a:t>Algorítmo</a:t>
            </a:r>
            <a:r>
              <a:rPr lang="pt-BR" altLang="pt-BR" sz="1600" b="1" i="1" u="sng" dirty="0">
                <a:latin typeface="+mj-lt"/>
              </a:rPr>
              <a:t> Adaptado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altLang="pt-BR" sz="1400" dirty="0">
                <a:latin typeface="+mj-lt"/>
              </a:rPr>
              <a:t>Avaliar se há convergência com a estratégia citada;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altLang="pt-BR" sz="1400" dirty="0">
                <a:latin typeface="+mj-lt"/>
              </a:rPr>
              <a:t>Analisar Viabilidade Computacional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pt-BR" altLang="pt-BR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45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CDC20-DD48-99CE-055B-6220F177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5C6F192-E5CD-5CED-9A8A-EB249E75A60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5EF077-BEE5-ADF2-16CC-4C0AE3C478DD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RESULTADOS 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3425F1C-0EAC-87CC-B696-6CB98E8E2DFB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C3F561-1DA3-FC2A-9E67-F461EEF33E21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8D67990D-4EE2-2173-83BA-6DE6B8D62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F0E16EC0-1783-04F0-2E03-B8EAE7FE2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426913"/>
            <a:ext cx="7074744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Modelos Simulados de Trajetória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pt-BR" altLang="pt-BR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AE44054A-D557-CAE6-13CD-A9DA7D415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621" y="2284441"/>
            <a:ext cx="3086410" cy="314818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D6CD7AC-BD82-C19C-8BD0-2CC875DF4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098" y="2284441"/>
            <a:ext cx="3086410" cy="314818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6907EED5-22FA-E119-208F-133D9AB2BF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10" y="2273298"/>
            <a:ext cx="3097335" cy="315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70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8ADA-6E5D-4FA1-6666-3984E7C6F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EA98B14-73E6-E5F0-33B0-3810285B6B7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58A5E23-3ED0-E34E-6716-8440404882C3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RESULTADOS 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D4F2D74-6D8D-70FD-1DE9-7E4163E596F1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6E638B-4A4F-3380-0FFA-20E35BCD723E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90DB1B6B-3677-F831-22DC-3AFF1ADCD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F0C0ADA0-C57B-019B-2E64-4A50AB9E4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426913"/>
            <a:ext cx="7074744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Modelos Simulados de Trajetória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pt-BR" altLang="pt-BR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051837D-08D0-6E5E-9AD9-ECB719835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618" y="1818460"/>
            <a:ext cx="4074098" cy="432708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F4270B9-5C8D-AC70-2DC5-9EE0BCB606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8" y="2050160"/>
            <a:ext cx="4768913" cy="400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37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CBE49-4091-9E17-9DF3-8F10560F0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2710039-29E3-CAC1-EA0C-8771C38899D1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29002D4-20B9-9AB5-49EA-643A2DD6662C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RESULTADOS 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411E35-1C56-4E0E-BE03-707ED8CCDE2D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B89873-50B7-A719-3DF8-8E73289BACD2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A7506ABA-5851-26F1-7401-90B40F585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92151251-728C-23EF-EA77-8D0460AD6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426913"/>
            <a:ext cx="7074744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Modelos Simulados de Trajetória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pt-BR" altLang="pt-BR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8FB15AE9-02E9-D333-09FF-EFD432F62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8" y="2050160"/>
            <a:ext cx="4768913" cy="400124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4FE884A-9822-93B4-6474-00315CDD0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897" y="2156009"/>
            <a:ext cx="4050819" cy="266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819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685A9-3846-9F85-3C21-1D52C8D34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E7E386AF-C2D0-4462-2031-91C2C013C984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3B6BF9-0A42-EC6D-3B35-D4F40A9C44B7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RESULTADOS 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1AA0279-D8E8-CD7A-64D3-5EBE0D0DAB50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6E4BBB-2DE1-91C1-9CA9-5074DF596D60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70047CED-F7E9-CCF7-303E-154F067AA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F4B47630-242D-7D46-25BE-0303D257A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426913"/>
            <a:ext cx="7074744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Avaliação do </a:t>
            </a:r>
            <a:r>
              <a:rPr kumimoji="0" lang="pt-BR" altLang="pt-BR" sz="1600" b="1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Algorítmo</a:t>
            </a: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Adaptado – Caso </a:t>
            </a:r>
            <a:r>
              <a:rPr kumimoji="0" lang="pt-BR" altLang="pt-BR" sz="1600" b="1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Neethling</a:t>
            </a:r>
            <a:endParaRPr kumimoji="0" lang="pt-BR" altLang="pt-BR" sz="16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pt-BR" altLang="pt-BR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5835B80-1016-D540-A48D-40E116782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322" y="3381757"/>
            <a:ext cx="4344637" cy="25291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1BE181A-8398-9BDC-FAED-0E030C9C8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493" y="2214460"/>
            <a:ext cx="9478297" cy="77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2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A36B9-1285-AF6D-B0DC-9CE90260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4D5266B0-8047-13EF-D34F-5B579CED368E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849CA52-3602-35D1-FFF2-83572A3B3881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RESULTADOS 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0AAE936-BFA3-0DC9-9DA5-789302B62D0F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76C8B3-28B4-9F71-B335-77EEF73EDAC5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936B4492-F145-275C-7B24-72558F537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B82700DA-FDF3-F89A-33A6-72B2A21F6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426913"/>
            <a:ext cx="7074744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Avaliação do </a:t>
            </a:r>
            <a:r>
              <a:rPr kumimoji="0" lang="pt-BR" altLang="pt-BR" sz="1600" b="1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Algorítmo</a:t>
            </a: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Adaptado – Caso </a:t>
            </a:r>
            <a:r>
              <a:rPr kumimoji="0" lang="pt-BR" altLang="pt-BR" sz="1600" b="1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Neethling</a:t>
            </a:r>
            <a:endParaRPr kumimoji="0" lang="pt-BR" altLang="pt-BR" sz="16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pt-BR" altLang="pt-BR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A34A1DF-3C7A-D529-64F3-454BEFA52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466" y="2491805"/>
            <a:ext cx="4344010" cy="281655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5B6BEF8-9DD7-C977-2183-405DF6F8A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378" y="2655639"/>
            <a:ext cx="6170110" cy="254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494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AC672-5745-A29F-1647-EE61961AA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2995682D-3993-D43C-2EFC-E2983DA92894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E36E62E-2DC6-F769-FE9F-F61901F719E6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RESULTADOS 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9B0C75-5D5D-89EA-94C7-5CB7A081A22D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84E5BD-BB57-6053-3C07-F8A56CF3DDBA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B7464E6B-6264-5A6E-555D-B8C778488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ADFF150A-7328-C278-A5C5-E420F034E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426913"/>
            <a:ext cx="7074744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Avaliação do </a:t>
            </a:r>
            <a:r>
              <a:rPr kumimoji="0" lang="pt-BR" altLang="pt-BR" sz="1600" b="1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Algorítmo</a:t>
            </a: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Adaptado – Caso </a:t>
            </a:r>
            <a:r>
              <a:rPr kumimoji="0" lang="pt-BR" altLang="pt-BR" sz="1600" b="1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Mehra</a:t>
            </a:r>
            <a:endParaRPr kumimoji="0" lang="pt-BR" altLang="pt-BR" sz="16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pt-BR" altLang="pt-BR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BA5BFF7-E386-2679-7BD0-EEE4BD4BC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381" y="2151482"/>
            <a:ext cx="9311148" cy="104385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6268F9A-7768-305E-03B9-B532AF5C0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241" y="3397977"/>
            <a:ext cx="3479515" cy="291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044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2B481-9904-091C-34DD-B3531DC57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48EE8609-CE5C-3A04-95A4-3E24D2C463F7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6D1AB6-A9C1-15D6-78FE-11207A38FA68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RESULTADOS 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0C19026-6DDD-CD83-BB0B-AFB4D3DD8159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716B52-3F7B-09B4-858E-E67F31374C70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DFA3E70D-8E37-29D4-E7B4-BA0C37C8D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E5F171D2-FD2E-FB98-07B2-AC7366FFE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426913"/>
            <a:ext cx="7074744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Avaliação do </a:t>
            </a:r>
            <a:r>
              <a:rPr kumimoji="0" lang="pt-BR" altLang="pt-BR" sz="1600" b="1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Algorítmo</a:t>
            </a: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Adaptado – Caso  </a:t>
            </a:r>
            <a:r>
              <a:rPr kumimoji="0" lang="pt-BR" altLang="pt-BR" sz="1600" b="1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Mehra</a:t>
            </a:r>
            <a:endParaRPr kumimoji="0" lang="pt-BR" altLang="pt-BR" sz="16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pt-BR" altLang="pt-BR" sz="140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7231C32-384A-75DA-2EC5-B86C7FEAD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682" y="2481105"/>
            <a:ext cx="4275155" cy="277191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F31E109-DC84-8CE3-25FA-EDC2D08CE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462" y="2673408"/>
            <a:ext cx="5805744" cy="239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671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F9BC6-0E87-C92D-21E7-B1A8D2E2F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CC3E1FE-454F-4D56-F93D-9BCB3843A085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75F161D-6F9B-8C6F-61ED-C22D6E38F533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RESULTADOS 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50F6A2E-9702-7E20-D58C-4C77D7D52AF4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4DD05B-4658-2F3F-655B-ACDD300544B4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FCEF9FF9-CEBE-694E-771A-B6CE852E3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1856C24D-3582-8D19-D8DD-810D76FD0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670121"/>
            <a:ext cx="7074744" cy="38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Análise do </a:t>
            </a:r>
            <a:r>
              <a:rPr kumimoji="0" lang="pt-BR" altLang="pt-BR" sz="1600" b="1" i="1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Algorítmo</a:t>
            </a: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Adaptado para as situações das Trajetórias</a:t>
            </a: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88283E-49D9-F7AA-E2AB-046EDBDA1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8491" y="3354787"/>
            <a:ext cx="3835016" cy="672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0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[ Exibição por Código] </a:t>
            </a:r>
            <a:endParaRPr kumimoji="0" lang="pt-BR" altLang="pt-BR" sz="3000" b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11620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9993-DF40-0E9E-3507-4BB727D7F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D4CB9F0-AA9E-A2C3-31D4-166F4A6A8CA9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ED274F9-A4C6-384D-BD5D-600F563C7A75}"/>
              </a:ext>
            </a:extLst>
          </p:cNvPr>
          <p:cNvSpPr txBox="1"/>
          <p:nvPr/>
        </p:nvSpPr>
        <p:spPr>
          <a:xfrm>
            <a:off x="1223681" y="887884"/>
            <a:ext cx="8065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4. CONCLUSÕES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642E1C5-0C61-78B3-E4C3-88DC9F78E13B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8D216E-00AB-23E0-E42D-166C472BF72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369FDF3B-9284-EE4A-ADB7-1E9D40B0D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79893DD-DB3F-1937-8DF5-B90C5F0850DB}"/>
              </a:ext>
            </a:extLst>
          </p:cNvPr>
          <p:cNvSpPr txBox="1"/>
          <p:nvPr/>
        </p:nvSpPr>
        <p:spPr>
          <a:xfrm>
            <a:off x="1304217" y="1892920"/>
            <a:ext cx="9129685" cy="2642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600" dirty="0"/>
              <a:t>O algoritmo desenvolvido por Zhang et al. (2020) funciona corretamente, como ele já o demonstrou;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600" dirty="0"/>
              <a:t>A Adaptação que utilizei não funciona, pois há o acúmulo de erros ao tomar o valor médio em trajetórias complexas;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600" dirty="0"/>
              <a:t>A Adaptação com Gradiente por diferenças finitas teve resultados satisfatórios;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600" dirty="0"/>
              <a:t>É necessário mais estudo no assunto para garantir uma resposta definitiva para os casos não-lineares, contudo, já existem soluções utilizando otimizações Bayesianas;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D01D5EF-15BA-F0D0-E50B-F25B646FA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999" y="4870710"/>
            <a:ext cx="4308123" cy="12900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5680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B1D3F-7EA7-0C8F-03E5-6DB5A485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FB44E4F-9DC8-5ECE-3C69-5376241FB81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568142-3BC4-B698-C318-824E3078F81C}"/>
              </a:ext>
            </a:extLst>
          </p:cNvPr>
          <p:cNvSpPr txBox="1"/>
          <p:nvPr/>
        </p:nvSpPr>
        <p:spPr>
          <a:xfrm>
            <a:off x="1223681" y="887884"/>
            <a:ext cx="8065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C02250-31F5-7510-A3EB-017E92734BAC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12599A-9E1E-2F55-FE5C-F1006F37361B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91301232-7129-EACB-B307-6D0B0D417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38FBFD4-D38B-272A-9F3F-3096A6872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2094" y="1342275"/>
            <a:ext cx="9547809" cy="4840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sz="1000" dirty="0"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BAR-SHALOM, Y.; LI, X. R.; KIRUBARAJAN, T. </a:t>
            </a:r>
            <a:r>
              <a:rPr lang="pt-BR" sz="1000" dirty="0" err="1"/>
              <a:t>Estimation</a:t>
            </a:r>
            <a:r>
              <a:rPr lang="pt-BR" sz="1000" dirty="0"/>
              <a:t> </a:t>
            </a:r>
            <a:r>
              <a:rPr lang="pt-BR" sz="1000" dirty="0" err="1"/>
              <a:t>with</a:t>
            </a:r>
            <a:r>
              <a:rPr lang="pt-BR" sz="1000" dirty="0"/>
              <a:t> </a:t>
            </a:r>
            <a:r>
              <a:rPr lang="pt-BR" sz="1000" dirty="0" err="1"/>
              <a:t>applications</a:t>
            </a:r>
            <a:r>
              <a:rPr lang="pt-BR" sz="1000" dirty="0"/>
              <a:t> </a:t>
            </a:r>
            <a:r>
              <a:rPr lang="pt-BR" sz="1000" dirty="0" err="1"/>
              <a:t>to</a:t>
            </a:r>
            <a:r>
              <a:rPr lang="pt-BR" sz="1000" dirty="0"/>
              <a:t> tracking </a:t>
            </a:r>
            <a:r>
              <a:rPr lang="pt-BR" sz="1000" dirty="0" err="1"/>
              <a:t>and</a:t>
            </a:r>
            <a:r>
              <a:rPr lang="pt-BR" sz="1000" dirty="0"/>
              <a:t> </a:t>
            </a:r>
            <a:r>
              <a:rPr lang="pt-BR" sz="1000" dirty="0" err="1"/>
              <a:t>navigation</a:t>
            </a:r>
            <a:r>
              <a:rPr lang="pt-BR" sz="1000" dirty="0"/>
              <a:t>. New York: John Wiley &amp; Sons, 2001.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CAREW, B.; BÉLANGER, P. R. </a:t>
            </a:r>
            <a:r>
              <a:rPr lang="pt-BR" sz="1000" dirty="0" err="1"/>
              <a:t>Identification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</a:t>
            </a:r>
            <a:r>
              <a:rPr lang="pt-BR" sz="1000" dirty="0" err="1"/>
              <a:t>optimum</a:t>
            </a:r>
            <a:r>
              <a:rPr lang="pt-BR" sz="1000" dirty="0"/>
              <a:t> </a:t>
            </a:r>
            <a:r>
              <a:rPr lang="pt-BR" sz="1000" dirty="0" err="1"/>
              <a:t>filter</a:t>
            </a:r>
            <a:r>
              <a:rPr lang="pt-BR" sz="1000" dirty="0"/>
              <a:t> </a:t>
            </a:r>
            <a:r>
              <a:rPr lang="pt-BR" sz="1000" dirty="0" err="1"/>
              <a:t>steady-state</a:t>
            </a:r>
            <a:r>
              <a:rPr lang="pt-BR" sz="1000" dirty="0"/>
              <a:t> </a:t>
            </a:r>
            <a:r>
              <a:rPr lang="pt-BR" sz="1000" dirty="0" err="1"/>
              <a:t>gain</a:t>
            </a:r>
            <a:r>
              <a:rPr lang="pt-BR" sz="1000" dirty="0"/>
              <a:t> for systems </a:t>
            </a:r>
            <a:r>
              <a:rPr lang="pt-BR" sz="1000" dirty="0" err="1"/>
              <a:t>with</a:t>
            </a:r>
            <a:r>
              <a:rPr lang="pt-BR" sz="1000" dirty="0"/>
              <a:t> </a:t>
            </a:r>
            <a:r>
              <a:rPr lang="pt-BR" sz="1000" dirty="0" err="1"/>
              <a:t>unknown</a:t>
            </a:r>
            <a:r>
              <a:rPr lang="pt-BR" sz="1000" dirty="0"/>
              <a:t> </a:t>
            </a:r>
            <a:r>
              <a:rPr lang="pt-BR" sz="1000" dirty="0" err="1"/>
              <a:t>noise</a:t>
            </a:r>
            <a:r>
              <a:rPr lang="pt-BR" sz="1000" dirty="0"/>
              <a:t> </a:t>
            </a:r>
            <a:r>
              <a:rPr lang="pt-BR" sz="1000" dirty="0" err="1"/>
              <a:t>covariances</a:t>
            </a:r>
            <a:r>
              <a:rPr lang="pt-BR" sz="1000" dirty="0"/>
              <a:t>. IEEE </a:t>
            </a:r>
            <a:r>
              <a:rPr lang="pt-BR" sz="1000" dirty="0" err="1"/>
              <a:t>Transactions</a:t>
            </a:r>
            <a:r>
              <a:rPr lang="pt-BR" sz="1000" dirty="0"/>
              <a:t> </a:t>
            </a:r>
            <a:r>
              <a:rPr lang="pt-BR" sz="1000" dirty="0" err="1"/>
              <a:t>on</a:t>
            </a:r>
            <a:r>
              <a:rPr lang="pt-BR" sz="1000" dirty="0"/>
              <a:t> </a:t>
            </a:r>
            <a:r>
              <a:rPr lang="pt-BR" sz="1000" dirty="0" err="1"/>
              <a:t>Automatic</a:t>
            </a:r>
            <a:r>
              <a:rPr lang="pt-BR" sz="1000" dirty="0"/>
              <a:t> </a:t>
            </a:r>
            <a:r>
              <a:rPr lang="pt-BR" sz="1000" dirty="0" err="1"/>
              <a:t>Control</a:t>
            </a:r>
            <a:r>
              <a:rPr lang="pt-BR" sz="1000" dirty="0"/>
              <a:t>, v. 18, n. 6, p. 582-592, dez. 1973.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CHEN, Z.; HECKMAN, C.; JULIER, S. </a:t>
            </a:r>
            <a:r>
              <a:rPr lang="pt-BR" sz="1000" dirty="0" err="1"/>
              <a:t>Weak</a:t>
            </a:r>
            <a:r>
              <a:rPr lang="pt-BR" sz="1000" dirty="0"/>
              <a:t> in </a:t>
            </a:r>
            <a:r>
              <a:rPr lang="pt-BR" sz="1000" dirty="0" err="1"/>
              <a:t>the</a:t>
            </a:r>
            <a:r>
              <a:rPr lang="pt-BR" sz="1000" dirty="0"/>
              <a:t> NEES?: </a:t>
            </a:r>
            <a:r>
              <a:rPr lang="pt-BR" sz="1000" dirty="0" err="1"/>
              <a:t>Auto-tuning</a:t>
            </a:r>
            <a:r>
              <a:rPr lang="pt-BR" sz="1000" dirty="0"/>
              <a:t> Kalman </a:t>
            </a:r>
            <a:r>
              <a:rPr lang="pt-BR" sz="1000" dirty="0" err="1"/>
              <a:t>filters</a:t>
            </a:r>
            <a:r>
              <a:rPr lang="pt-BR" sz="1000" dirty="0"/>
              <a:t> </a:t>
            </a:r>
            <a:r>
              <a:rPr lang="pt-BR" sz="1000" dirty="0" err="1"/>
              <a:t>with</a:t>
            </a:r>
            <a:r>
              <a:rPr lang="pt-BR" sz="1000" dirty="0"/>
              <a:t> </a:t>
            </a:r>
            <a:r>
              <a:rPr lang="pt-BR" sz="1000" dirty="0" err="1"/>
              <a:t>Bayesian</a:t>
            </a:r>
            <a:r>
              <a:rPr lang="pt-BR" sz="1000" dirty="0"/>
              <a:t> </a:t>
            </a:r>
            <a:r>
              <a:rPr lang="pt-BR" sz="1000" dirty="0" err="1"/>
              <a:t>optimization</a:t>
            </a:r>
            <a:r>
              <a:rPr lang="pt-BR" sz="1000" dirty="0"/>
              <a:t>. In: INTERNATIONAL CONFERENCE ON INFORMATION FUSION (FUSION), 21., 2018. </a:t>
            </a:r>
            <a:r>
              <a:rPr lang="pt-BR" sz="1000" dirty="0" err="1"/>
              <a:t>Proceedings</a:t>
            </a:r>
            <a:r>
              <a:rPr lang="pt-BR" sz="1000" dirty="0"/>
              <a:t>... [S. l.]: IEEE, 2018.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CHEN, Z. et al. Kalman </a:t>
            </a:r>
            <a:r>
              <a:rPr lang="pt-BR" sz="1000" dirty="0" err="1"/>
              <a:t>filter</a:t>
            </a:r>
            <a:r>
              <a:rPr lang="pt-BR" sz="1000" dirty="0"/>
              <a:t> </a:t>
            </a:r>
            <a:r>
              <a:rPr lang="pt-BR" sz="1000" dirty="0" err="1"/>
              <a:t>auto-tuning</a:t>
            </a:r>
            <a:r>
              <a:rPr lang="pt-BR" sz="1000" dirty="0"/>
              <a:t> </a:t>
            </a:r>
            <a:r>
              <a:rPr lang="pt-BR" sz="1000" dirty="0" err="1"/>
              <a:t>through</a:t>
            </a:r>
            <a:r>
              <a:rPr lang="pt-BR" sz="1000" dirty="0"/>
              <a:t> </a:t>
            </a:r>
            <a:r>
              <a:rPr lang="pt-BR" sz="1000" dirty="0" err="1"/>
              <a:t>enforcing</a:t>
            </a:r>
            <a:r>
              <a:rPr lang="pt-BR" sz="1000" dirty="0"/>
              <a:t> chi-</a:t>
            </a:r>
            <a:r>
              <a:rPr lang="pt-BR" sz="1000" dirty="0" err="1"/>
              <a:t>squared</a:t>
            </a:r>
            <a:r>
              <a:rPr lang="pt-BR" sz="1000" dirty="0"/>
              <a:t> </a:t>
            </a:r>
            <a:r>
              <a:rPr lang="pt-BR" sz="1000" dirty="0" err="1"/>
              <a:t>normalized</a:t>
            </a:r>
            <a:r>
              <a:rPr lang="pt-BR" sz="1000" dirty="0"/>
              <a:t> </a:t>
            </a:r>
            <a:r>
              <a:rPr lang="pt-BR" sz="1000" dirty="0" err="1"/>
              <a:t>error</a:t>
            </a:r>
            <a:r>
              <a:rPr lang="pt-BR" sz="1000" dirty="0"/>
              <a:t> </a:t>
            </a:r>
            <a:r>
              <a:rPr lang="pt-BR" sz="1000" dirty="0" err="1"/>
              <a:t>distributions</a:t>
            </a:r>
            <a:r>
              <a:rPr lang="pt-BR" sz="1000" dirty="0"/>
              <a:t> </a:t>
            </a:r>
            <a:r>
              <a:rPr lang="pt-BR" sz="1000" dirty="0" err="1"/>
              <a:t>with</a:t>
            </a:r>
            <a:r>
              <a:rPr lang="pt-BR" sz="1000" dirty="0"/>
              <a:t> </a:t>
            </a:r>
            <a:r>
              <a:rPr lang="pt-BR" sz="1000" dirty="0" err="1"/>
              <a:t>Bayesian</a:t>
            </a:r>
            <a:r>
              <a:rPr lang="pt-BR" sz="1000" dirty="0"/>
              <a:t> </a:t>
            </a:r>
            <a:r>
              <a:rPr lang="pt-BR" sz="1000" dirty="0" err="1"/>
              <a:t>optimization</a:t>
            </a:r>
            <a:r>
              <a:rPr lang="pt-BR" sz="1000" dirty="0"/>
              <a:t>. </a:t>
            </a:r>
            <a:r>
              <a:rPr lang="pt-BR" sz="1000" dirty="0" err="1"/>
              <a:t>arXiv</a:t>
            </a:r>
            <a:r>
              <a:rPr lang="pt-BR" sz="1000" dirty="0"/>
              <a:t> </a:t>
            </a:r>
            <a:r>
              <a:rPr lang="pt-BR" sz="1000" dirty="0" err="1"/>
              <a:t>preprint</a:t>
            </a:r>
            <a:r>
              <a:rPr lang="pt-BR" sz="1000" dirty="0"/>
              <a:t> arXiv:2306.07225, 2023.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FAŁEK, P.; KANIEWSKI, P. Computer </a:t>
            </a:r>
            <a:r>
              <a:rPr lang="pt-BR" sz="1000" dirty="0" err="1"/>
              <a:t>application</a:t>
            </a:r>
            <a:r>
              <a:rPr lang="pt-BR" sz="1000" dirty="0"/>
              <a:t> for </a:t>
            </a:r>
            <a:r>
              <a:rPr lang="pt-BR" sz="1000" dirty="0" err="1"/>
              <a:t>testing</a:t>
            </a:r>
            <a:r>
              <a:rPr lang="pt-BR" sz="1000" dirty="0"/>
              <a:t> Kalman </a:t>
            </a:r>
            <a:r>
              <a:rPr lang="pt-BR" sz="1000" dirty="0" err="1"/>
              <a:t>filter</a:t>
            </a:r>
            <a:r>
              <a:rPr lang="pt-BR" sz="1000" dirty="0"/>
              <a:t>. </a:t>
            </a:r>
            <a:r>
              <a:rPr lang="pt-BR" sz="1000" dirty="0" err="1"/>
              <a:t>Journal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Automation, Mobile Robotics &amp; </a:t>
            </a:r>
            <a:r>
              <a:rPr lang="pt-BR" sz="1000" dirty="0" err="1"/>
              <a:t>Intelligent</a:t>
            </a:r>
            <a:r>
              <a:rPr lang="pt-BR" sz="1000" dirty="0"/>
              <a:t> Systems, v. 14, n. 2, p. 3-10, 2020.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KALMAN, R. E. A new approach </a:t>
            </a:r>
            <a:r>
              <a:rPr lang="pt-BR" sz="1000" dirty="0" err="1"/>
              <a:t>to</a:t>
            </a:r>
            <a:r>
              <a:rPr lang="pt-BR" sz="1000" dirty="0"/>
              <a:t> linear </a:t>
            </a:r>
            <a:r>
              <a:rPr lang="pt-BR" sz="1000" dirty="0" err="1"/>
              <a:t>filtering</a:t>
            </a:r>
            <a:r>
              <a:rPr lang="pt-BR" sz="1000" dirty="0"/>
              <a:t> </a:t>
            </a:r>
            <a:r>
              <a:rPr lang="pt-BR" sz="1000" dirty="0" err="1"/>
              <a:t>and</a:t>
            </a:r>
            <a:r>
              <a:rPr lang="pt-BR" sz="1000" dirty="0"/>
              <a:t> </a:t>
            </a:r>
            <a:r>
              <a:rPr lang="pt-BR" sz="1000" dirty="0" err="1"/>
              <a:t>prediction</a:t>
            </a:r>
            <a:r>
              <a:rPr lang="pt-BR" sz="1000" dirty="0"/>
              <a:t> </a:t>
            </a:r>
            <a:r>
              <a:rPr lang="pt-BR" sz="1000" dirty="0" err="1"/>
              <a:t>problems</a:t>
            </a:r>
            <a:r>
              <a:rPr lang="pt-BR" sz="1000" dirty="0"/>
              <a:t>. </a:t>
            </a:r>
            <a:r>
              <a:rPr lang="pt-BR" sz="1000" dirty="0" err="1"/>
              <a:t>Journal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Basic </a:t>
            </a:r>
            <a:r>
              <a:rPr lang="pt-BR" sz="1000" dirty="0" err="1"/>
              <a:t>Engineering</a:t>
            </a:r>
            <a:r>
              <a:rPr lang="pt-BR" sz="1000" dirty="0"/>
              <a:t>, v. 82, n. 1, p. 35-45, 1960.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MEHRA, R. K. </a:t>
            </a:r>
            <a:r>
              <a:rPr lang="pt-BR" sz="1000" dirty="0" err="1"/>
              <a:t>On</a:t>
            </a:r>
            <a:r>
              <a:rPr lang="pt-BR" sz="1000" dirty="0"/>
              <a:t> </a:t>
            </a:r>
            <a:r>
              <a:rPr lang="pt-BR" sz="1000" dirty="0" err="1"/>
              <a:t>the</a:t>
            </a:r>
            <a:r>
              <a:rPr lang="pt-BR" sz="1000" dirty="0"/>
              <a:t> </a:t>
            </a:r>
            <a:r>
              <a:rPr lang="pt-BR" sz="1000" dirty="0" err="1"/>
              <a:t>identification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</a:t>
            </a:r>
            <a:r>
              <a:rPr lang="pt-BR" sz="1000" dirty="0" err="1"/>
              <a:t>variance</a:t>
            </a:r>
            <a:r>
              <a:rPr lang="pt-BR" sz="1000" dirty="0"/>
              <a:t> </a:t>
            </a:r>
            <a:r>
              <a:rPr lang="pt-BR" sz="1000" dirty="0" err="1"/>
              <a:t>and</a:t>
            </a:r>
            <a:r>
              <a:rPr lang="pt-BR" sz="1000" dirty="0"/>
              <a:t> </a:t>
            </a:r>
            <a:r>
              <a:rPr lang="pt-BR" sz="1000" dirty="0" err="1"/>
              <a:t>adaptive</a:t>
            </a:r>
            <a:r>
              <a:rPr lang="pt-BR" sz="1000" dirty="0"/>
              <a:t> Kalman </a:t>
            </a:r>
            <a:r>
              <a:rPr lang="pt-BR" sz="1000" dirty="0" err="1"/>
              <a:t>filtering</a:t>
            </a:r>
            <a:r>
              <a:rPr lang="pt-BR" sz="1000" dirty="0"/>
              <a:t>. IEEE </a:t>
            </a:r>
            <a:r>
              <a:rPr lang="pt-BR" sz="1000" dirty="0" err="1"/>
              <a:t>Transactions</a:t>
            </a:r>
            <a:r>
              <a:rPr lang="pt-BR" sz="1000" dirty="0"/>
              <a:t> </a:t>
            </a:r>
            <a:r>
              <a:rPr lang="pt-BR" sz="1000" dirty="0" err="1"/>
              <a:t>on</a:t>
            </a:r>
            <a:r>
              <a:rPr lang="pt-BR" sz="1000" dirty="0"/>
              <a:t> </a:t>
            </a:r>
            <a:r>
              <a:rPr lang="pt-BR" sz="1000" dirty="0" err="1"/>
              <a:t>Automatic</a:t>
            </a:r>
            <a:r>
              <a:rPr lang="pt-BR" sz="1000" dirty="0"/>
              <a:t> </a:t>
            </a:r>
            <a:r>
              <a:rPr lang="pt-BR" sz="1000" dirty="0" err="1"/>
              <a:t>Control</a:t>
            </a:r>
            <a:r>
              <a:rPr lang="pt-BR" sz="1000" dirty="0"/>
              <a:t>, v. 15, n. 2, p. 175-184, abr. 1970.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NEETHLING, C.; WILLEMS, J. L. The use </a:t>
            </a:r>
            <a:r>
              <a:rPr lang="pt-BR" sz="1000" dirty="0" err="1"/>
              <a:t>of</a:t>
            </a:r>
            <a:r>
              <a:rPr lang="pt-BR" sz="1000" dirty="0"/>
              <a:t> </a:t>
            </a:r>
            <a:r>
              <a:rPr lang="pt-BR" sz="1000" dirty="0" err="1"/>
              <a:t>the</a:t>
            </a:r>
            <a:r>
              <a:rPr lang="pt-BR" sz="1000" dirty="0"/>
              <a:t> </a:t>
            </a:r>
            <a:r>
              <a:rPr lang="pt-BR" sz="1000" dirty="0" err="1"/>
              <a:t>innovations</a:t>
            </a:r>
            <a:r>
              <a:rPr lang="pt-BR" sz="1000" dirty="0"/>
              <a:t> </a:t>
            </a:r>
            <a:r>
              <a:rPr lang="pt-BR" sz="1000" dirty="0" err="1"/>
              <a:t>sequence</a:t>
            </a:r>
            <a:r>
              <a:rPr lang="pt-BR" sz="1000" dirty="0"/>
              <a:t> </a:t>
            </a:r>
            <a:r>
              <a:rPr lang="pt-BR" sz="1000" dirty="0" err="1"/>
              <a:t>to</a:t>
            </a:r>
            <a:r>
              <a:rPr lang="pt-BR" sz="1000" dirty="0"/>
              <a:t> determine </a:t>
            </a:r>
            <a:r>
              <a:rPr lang="pt-BR" sz="1000" dirty="0" err="1"/>
              <a:t>the</a:t>
            </a:r>
            <a:r>
              <a:rPr lang="pt-BR" sz="1000" dirty="0"/>
              <a:t> </a:t>
            </a:r>
            <a:r>
              <a:rPr lang="pt-BR" sz="1000" dirty="0" err="1"/>
              <a:t>state</a:t>
            </a:r>
            <a:r>
              <a:rPr lang="pt-BR" sz="1000" dirty="0"/>
              <a:t> </a:t>
            </a:r>
            <a:r>
              <a:rPr lang="pt-BR" sz="1000" dirty="0" err="1"/>
              <a:t>covariance</a:t>
            </a:r>
            <a:r>
              <a:rPr lang="pt-BR" sz="1000" dirty="0"/>
              <a:t> </a:t>
            </a:r>
            <a:r>
              <a:rPr lang="pt-BR" sz="1000" dirty="0" err="1"/>
              <a:t>matrix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a linear time-</a:t>
            </a:r>
            <a:r>
              <a:rPr lang="pt-BR" sz="1000" dirty="0" err="1"/>
              <a:t>invariant</a:t>
            </a:r>
            <a:r>
              <a:rPr lang="pt-BR" sz="1000" dirty="0"/>
              <a:t> system. </a:t>
            </a:r>
            <a:r>
              <a:rPr lang="pt-BR" sz="1000" dirty="0" err="1"/>
              <a:t>Automatica</a:t>
            </a:r>
            <a:r>
              <a:rPr lang="pt-BR" sz="1000" dirty="0"/>
              <a:t>, v. 10, n. 3, p. 337-341, 1974.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ODELSON, B. J.; RAJAMANI, M. R.; RAWLINGS, J. B. A new pose for </a:t>
            </a:r>
            <a:r>
              <a:rPr lang="pt-BR" sz="1000" dirty="0" err="1"/>
              <a:t>adaptive</a:t>
            </a:r>
            <a:r>
              <a:rPr lang="pt-BR" sz="1000" dirty="0"/>
              <a:t> Kalman </a:t>
            </a:r>
            <a:r>
              <a:rPr lang="pt-BR" sz="1000" dirty="0" err="1"/>
              <a:t>filtering</a:t>
            </a:r>
            <a:r>
              <a:rPr lang="pt-BR" sz="1000" dirty="0"/>
              <a:t>: </a:t>
            </a:r>
            <a:r>
              <a:rPr lang="pt-BR" sz="1000" dirty="0" err="1"/>
              <a:t>the</a:t>
            </a:r>
            <a:r>
              <a:rPr lang="pt-BR" sz="1000" dirty="0"/>
              <a:t> </a:t>
            </a:r>
            <a:r>
              <a:rPr lang="pt-BR" sz="1000" dirty="0" err="1"/>
              <a:t>monitoring</a:t>
            </a:r>
            <a:r>
              <a:rPr lang="pt-BR" sz="1000" dirty="0"/>
              <a:t> </a:t>
            </a:r>
            <a:r>
              <a:rPr lang="pt-BR" sz="1000" dirty="0" err="1"/>
              <a:t>and</a:t>
            </a:r>
            <a:r>
              <a:rPr lang="pt-BR" sz="1000" dirty="0"/>
              <a:t> </a:t>
            </a:r>
            <a:r>
              <a:rPr lang="pt-BR" sz="1000" dirty="0" err="1"/>
              <a:t>estimation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</a:t>
            </a:r>
            <a:r>
              <a:rPr lang="pt-BR" sz="1000" dirty="0" err="1"/>
              <a:t>control</a:t>
            </a:r>
            <a:r>
              <a:rPr lang="pt-BR" sz="1000" dirty="0"/>
              <a:t> performance. </a:t>
            </a:r>
            <a:r>
              <a:rPr lang="pt-BR" sz="1000" dirty="0" err="1"/>
              <a:t>Control</a:t>
            </a:r>
            <a:r>
              <a:rPr lang="pt-BR" sz="1000" dirty="0"/>
              <a:t> </a:t>
            </a:r>
            <a:r>
              <a:rPr lang="pt-BR" sz="1000" dirty="0" err="1"/>
              <a:t>Engineering</a:t>
            </a:r>
            <a:r>
              <a:rPr lang="pt-BR" sz="1000" dirty="0"/>
              <a:t> </a:t>
            </a:r>
            <a:r>
              <a:rPr lang="pt-BR" sz="1000" dirty="0" err="1"/>
              <a:t>Practice</a:t>
            </a:r>
            <a:r>
              <a:rPr lang="pt-BR" sz="1000" dirty="0"/>
              <a:t>, v. 14, n. 3, p. 303-314, 2006.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000" dirty="0"/>
              <a:t>SILVA, S. J. A. Atividades da Disciplina Sistemas Inteligentes - UFCG 2026. GitHub: 2026. Disponível em: </a:t>
            </a:r>
            <a:r>
              <a:rPr lang="pt-BR" altLang="pt-BR" sz="1000" dirty="0">
                <a:hlinkClick r:id="rId3"/>
              </a:rPr>
              <a:t>https://github.com/</a:t>
            </a:r>
            <a:r>
              <a:rPr lang="pt-BR" altLang="pt-BR" sz="1000" dirty="0" err="1">
                <a:hlinkClick r:id="rId3"/>
              </a:rPr>
              <a:t>SauloJose</a:t>
            </a:r>
            <a:r>
              <a:rPr lang="pt-BR" altLang="pt-BR" sz="1000" dirty="0">
                <a:hlinkClick r:id="rId3"/>
              </a:rPr>
              <a:t>/SistemasInteligentes2026</a:t>
            </a:r>
            <a:r>
              <a:rPr lang="pt-BR" altLang="pt-BR" sz="1000" dirty="0"/>
              <a:t>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THRUN, S.; BURGARD, W.; FOX, D. </a:t>
            </a:r>
            <a:r>
              <a:rPr lang="pt-BR" sz="1000" dirty="0" err="1"/>
              <a:t>Probabilistic</a:t>
            </a:r>
            <a:r>
              <a:rPr lang="pt-BR" sz="1000" dirty="0"/>
              <a:t> </a:t>
            </a:r>
            <a:r>
              <a:rPr lang="pt-BR" sz="1000" dirty="0" err="1"/>
              <a:t>robotics</a:t>
            </a:r>
            <a:r>
              <a:rPr lang="pt-BR" sz="1000" dirty="0"/>
              <a:t>. Cambridge, MA: MIT Press, 2005.</a:t>
            </a:r>
          </a:p>
          <a:p>
            <a:pPr marL="228600" indent="-228600">
              <a:buFont typeface="+mj-lt"/>
              <a:buAutoNum type="arabicPeriod"/>
            </a:pPr>
            <a:endParaRPr lang="pt-BR" sz="1000" dirty="0"/>
          </a:p>
          <a:p>
            <a:pPr marL="228600" indent="-228600">
              <a:buFont typeface="+mj-lt"/>
              <a:buAutoNum type="arabicPeriod"/>
            </a:pPr>
            <a:r>
              <a:rPr lang="pt-BR" sz="1000" dirty="0"/>
              <a:t>ZHANG, L. et al. </a:t>
            </a:r>
            <a:r>
              <a:rPr lang="pt-BR" sz="1000" dirty="0" err="1"/>
              <a:t>On</a:t>
            </a:r>
            <a:r>
              <a:rPr lang="pt-BR" sz="1000" dirty="0"/>
              <a:t> </a:t>
            </a:r>
            <a:r>
              <a:rPr lang="pt-BR" sz="1000" dirty="0" err="1"/>
              <a:t>the</a:t>
            </a:r>
            <a:r>
              <a:rPr lang="pt-BR" sz="1000" dirty="0"/>
              <a:t> </a:t>
            </a:r>
            <a:r>
              <a:rPr lang="pt-BR" sz="1000" dirty="0" err="1"/>
              <a:t>identification</a:t>
            </a:r>
            <a:r>
              <a:rPr lang="pt-BR" sz="1000" dirty="0"/>
              <a:t> </a:t>
            </a:r>
            <a:r>
              <a:rPr lang="pt-BR" sz="1000" dirty="0" err="1"/>
              <a:t>of</a:t>
            </a:r>
            <a:r>
              <a:rPr lang="pt-BR" sz="1000" dirty="0"/>
              <a:t> </a:t>
            </a:r>
            <a:r>
              <a:rPr lang="pt-BR" sz="1000" dirty="0" err="1"/>
              <a:t>noise</a:t>
            </a:r>
            <a:r>
              <a:rPr lang="pt-BR" sz="1000" dirty="0"/>
              <a:t> </a:t>
            </a:r>
            <a:r>
              <a:rPr lang="pt-BR" sz="1000" dirty="0" err="1"/>
              <a:t>covariances</a:t>
            </a:r>
            <a:r>
              <a:rPr lang="pt-BR" sz="1000" dirty="0"/>
              <a:t> </a:t>
            </a:r>
            <a:r>
              <a:rPr lang="pt-BR" sz="1000" dirty="0" err="1"/>
              <a:t>and</a:t>
            </a:r>
            <a:r>
              <a:rPr lang="pt-BR" sz="1000" dirty="0"/>
              <a:t> </a:t>
            </a:r>
            <a:r>
              <a:rPr lang="pt-BR" sz="1000" dirty="0" err="1"/>
              <a:t>adaptive</a:t>
            </a:r>
            <a:r>
              <a:rPr lang="pt-BR" sz="1000" dirty="0"/>
              <a:t> Kalman </a:t>
            </a:r>
            <a:r>
              <a:rPr lang="pt-BR" sz="1000" dirty="0" err="1"/>
              <a:t>filtering</a:t>
            </a:r>
            <a:r>
              <a:rPr lang="pt-BR" sz="1000" dirty="0"/>
              <a:t>: a new look </a:t>
            </a:r>
            <a:r>
              <a:rPr lang="pt-BR" sz="1000" dirty="0" err="1"/>
              <a:t>at</a:t>
            </a:r>
            <a:r>
              <a:rPr lang="pt-BR" sz="1000" dirty="0"/>
              <a:t> a 50-year-old problem. IEEE Access, v. 8, p. 59362-59388, 2020. DOI: 10.1109/ACCESS.2020.2982407.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pt-BR" altLang="pt-BR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7896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8551-3138-3592-B2D0-9308D6CD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68A7DB7-892C-1102-C509-196D4C020417}"/>
              </a:ext>
            </a:extLst>
          </p:cNvPr>
          <p:cNvSpPr txBox="1"/>
          <p:nvPr/>
        </p:nvSpPr>
        <p:spPr>
          <a:xfrm>
            <a:off x="4106775" y="5929511"/>
            <a:ext cx="3978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Saulo José Almeida Silva.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/>
              <a:t>saulo.jose.silva@ee.ufcg.edu.br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606FD2-AEAE-EDB8-5E06-354AB7BEC804}"/>
              </a:ext>
            </a:extLst>
          </p:cNvPr>
          <p:cNvSpPr txBox="1"/>
          <p:nvPr/>
        </p:nvSpPr>
        <p:spPr>
          <a:xfrm>
            <a:off x="721889" y="2705725"/>
            <a:ext cx="107482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8800" dirty="0"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pic>
        <p:nvPicPr>
          <p:cNvPr id="6" name="Picture 4" descr="Logomarcas">
            <a:extLst>
              <a:ext uri="{FF2B5EF4-FFF2-40B4-BE49-F238E27FC236}">
                <a16:creationId xmlns:a16="http://schemas.microsoft.com/office/drawing/2014/main" id="{89AE256B-4357-1E17-0765-F165476FB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54" y="333558"/>
            <a:ext cx="1484176" cy="151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7490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2495</TotalTime>
  <Words>1423</Words>
  <Application>Microsoft Office PowerPoint</Application>
  <PresentationFormat>Widescreen</PresentationFormat>
  <Paragraphs>208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7" baseType="lpstr">
      <vt:lpstr>Aptos</vt:lpstr>
      <vt:lpstr>Aptos Display</vt:lpstr>
      <vt:lpstr>Arial</vt:lpstr>
      <vt:lpstr>Arial Black</vt:lpstr>
      <vt:lpstr>NimbusRomNo9L-MediItal</vt:lpstr>
      <vt:lpstr>NimbusRomNo9L-ReguItal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Saulo José Almeida Silva</dc:creator>
  <cp:lastModifiedBy>Saulo José Almeida Silva</cp:lastModifiedBy>
  <cp:revision>302</cp:revision>
  <dcterms:created xsi:type="dcterms:W3CDTF">2025-08-24T00:23:34Z</dcterms:created>
  <dcterms:modified xsi:type="dcterms:W3CDTF">2026-04-16T19:54:09Z</dcterms:modified>
</cp:coreProperties>
</file>